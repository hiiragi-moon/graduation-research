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30"/>
  </p:notesMasterIdLst>
  <p:handoutMasterIdLst>
    <p:handoutMasterId r:id="rId31"/>
  </p:handoutMasterIdLst>
  <p:sldIdLst>
    <p:sldId id="260" r:id="rId2"/>
    <p:sldId id="310" r:id="rId3"/>
    <p:sldId id="314" r:id="rId4"/>
    <p:sldId id="298" r:id="rId5"/>
    <p:sldId id="308" r:id="rId6"/>
    <p:sldId id="285" r:id="rId7"/>
    <p:sldId id="326" r:id="rId8"/>
    <p:sldId id="284" r:id="rId9"/>
    <p:sldId id="282" r:id="rId10"/>
    <p:sldId id="315" r:id="rId11"/>
    <p:sldId id="289" r:id="rId12"/>
    <p:sldId id="291" r:id="rId13"/>
    <p:sldId id="292" r:id="rId14"/>
    <p:sldId id="311" r:id="rId15"/>
    <p:sldId id="294" r:id="rId16"/>
    <p:sldId id="295" r:id="rId17"/>
    <p:sldId id="317" r:id="rId18"/>
    <p:sldId id="300" r:id="rId19"/>
    <p:sldId id="301" r:id="rId20"/>
    <p:sldId id="324" r:id="rId21"/>
    <p:sldId id="303" r:id="rId22"/>
    <p:sldId id="304" r:id="rId23"/>
    <p:sldId id="307" r:id="rId24"/>
    <p:sldId id="321" r:id="rId25"/>
    <p:sldId id="325" r:id="rId26"/>
    <p:sldId id="299" r:id="rId27"/>
    <p:sldId id="316" r:id="rId28"/>
    <p:sldId id="31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82BE"/>
    <a:srgbClr val="FFFFFF"/>
    <a:srgbClr val="0070C0"/>
    <a:srgbClr val="E9B042"/>
    <a:srgbClr val="163E64"/>
    <a:srgbClr val="E7EAED"/>
    <a:srgbClr val="CCD2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6AF667-B8F8-41F1-94C6-BAF082599F52}" v="388" dt="2024-02-13T16:25:13.526"/>
    <p1510:client id="{C768F3F5-D562-9ACE-E844-FCEC8D3969DA}" v="2" dt="2024-02-14T04:00:19.84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30" autoAdjust="0"/>
    <p:restoredTop sz="80994" autoAdjust="0"/>
  </p:normalViewPr>
  <p:slideViewPr>
    <p:cSldViewPr snapToGrid="0">
      <p:cViewPr varScale="1">
        <p:scale>
          <a:sx n="70" d="100"/>
          <a:sy n="70" d="100"/>
        </p:scale>
        <p:origin x="192" y="1272"/>
      </p:cViewPr>
      <p:guideLst>
        <p:guide orient="horz" pos="2160"/>
        <p:guide pos="2880"/>
      </p:guideLst>
    </p:cSldViewPr>
  </p:slideViewPr>
  <p:notesTextViewPr>
    <p:cViewPr>
      <p:scale>
        <a:sx n="1" d="1"/>
        <a:sy n="1" d="1"/>
      </p:scale>
      <p:origin x="0" y="0"/>
    </p:cViewPr>
  </p:notesText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880B285-70E6-2298-2226-6B53EF4898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C1A60FB-64C1-FB98-EDFE-96618F17A70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E850A1-B797-4960-A33E-31976114571F}" type="datetimeFigureOut">
              <a:rPr kumimoji="1" lang="ja-JP" altLang="en-US" smtClean="0"/>
              <a:t>2025/1/24</a:t>
            </a:fld>
            <a:endParaRPr kumimoji="1" lang="ja-JP" altLang="en-US"/>
          </a:p>
        </p:txBody>
      </p:sp>
      <p:sp>
        <p:nvSpPr>
          <p:cNvPr id="4" name="フッター プレースホルダー 3">
            <a:extLst>
              <a:ext uri="{FF2B5EF4-FFF2-40B4-BE49-F238E27FC236}">
                <a16:creationId xmlns:a16="http://schemas.microsoft.com/office/drawing/2014/main" id="{69E4F53C-0D79-5979-DBEA-3171A10DF2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A154128-1102-7700-ECA3-C76BF20189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64FEF1-D651-494D-ADB3-828CEFDC8ECD}" type="slidenum">
              <a:rPr kumimoji="1" lang="ja-JP" altLang="en-US" smtClean="0"/>
              <a:t>‹#›</a:t>
            </a:fld>
            <a:endParaRPr kumimoji="1" lang="ja-JP" altLang="en-US"/>
          </a:p>
        </p:txBody>
      </p:sp>
    </p:spTree>
    <p:extLst>
      <p:ext uri="{BB962C8B-B14F-4D97-AF65-F5344CB8AC3E}">
        <p14:creationId xmlns:p14="http://schemas.microsoft.com/office/powerpoint/2010/main" val="3456863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856555-A4A5-49B0-A093-B6298954F46C}" type="datetimeFigureOut">
              <a:rPr kumimoji="1" lang="ja-JP" altLang="en-US" smtClean="0"/>
              <a:t>2025/1/24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6A314-5427-40D0-990B-D7B7394C1DDA}" type="slidenum">
              <a:rPr kumimoji="1" lang="ja-JP" altLang="en-US" smtClean="0"/>
              <a:t>‹#›</a:t>
            </a:fld>
            <a:endParaRPr kumimoji="1" lang="ja-JP" altLang="en-US"/>
          </a:p>
        </p:txBody>
      </p:sp>
    </p:spTree>
    <p:extLst>
      <p:ext uri="{BB962C8B-B14F-4D97-AF65-F5344CB8AC3E}">
        <p14:creationId xmlns:p14="http://schemas.microsoft.com/office/powerpoint/2010/main" val="41257423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a:t>
            </a:r>
            <a:r>
              <a:rPr kumimoji="1" lang="ja-JP" altLang="en-US" dirty="0">
                <a:solidFill>
                  <a:srgbClr val="3F82BE"/>
                </a:solidFill>
              </a:rPr>
              <a:t>期待表現に着目したレビュー文章からの評判情報抽出に関する研究</a:t>
            </a:r>
            <a:r>
              <a:rPr kumimoji="1" lang="ja-JP" altLang="en-US" dirty="0"/>
              <a:t>」と題しまして、発表を始めさせていただきます。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0</a:t>
            </a:fld>
            <a:endParaRPr kumimoji="1" lang="ja-JP" altLang="en-US"/>
          </a:p>
        </p:txBody>
      </p:sp>
    </p:spTree>
    <p:extLst>
      <p:ext uri="{BB962C8B-B14F-4D97-AF65-F5344CB8AC3E}">
        <p14:creationId xmlns:p14="http://schemas.microsoft.com/office/powerpoint/2010/main" val="1102421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まずは研究背景です。</a:t>
            </a:r>
            <a:endParaRPr kumimoji="1" lang="en-US" altLang="ja-JP" dirty="0"/>
          </a:p>
          <a:p>
            <a:r>
              <a:rPr kumimoji="1" lang="ja-JP" altLang="en-US" dirty="0"/>
              <a:t>近年、</a:t>
            </a:r>
            <a:r>
              <a:rPr kumimoji="1" lang="en-US" altLang="ja-JP" dirty="0"/>
              <a:t>Amazon</a:t>
            </a:r>
            <a:r>
              <a:rPr kumimoji="1" lang="ja-JP" altLang="en-US" dirty="0"/>
              <a:t>や楽天市場といった、通販サイトによるネットショッピングの利用が増えています。</a:t>
            </a:r>
            <a:endParaRPr kumimoji="1" lang="en-US" altLang="ja-JP" dirty="0"/>
          </a:p>
          <a:p>
            <a:r>
              <a:rPr kumimoji="1" lang="ja-JP" altLang="en-US" dirty="0"/>
              <a:t>通販サイトにおいて、商品レビューは、評価や感想、使用感などが記述されており、自身のニーズに合ったものを選ぶ上で役立ちます。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a:t>
            </a:fld>
            <a:endParaRPr kumimoji="1" lang="ja-JP" altLang="en-US"/>
          </a:p>
        </p:txBody>
      </p:sp>
    </p:spTree>
    <p:extLst>
      <p:ext uri="{BB962C8B-B14F-4D97-AF65-F5344CB8AC3E}">
        <p14:creationId xmlns:p14="http://schemas.microsoft.com/office/powerpoint/2010/main" val="2224718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しかし、レビューは商品ごとに数多くあるので、全てのレビューに目を通すのは、大きな手間がかかります。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そのため、</a:t>
            </a:r>
            <a:r>
              <a:rPr kumimoji="1" lang="ja-JP" altLang="en-US" sz="1200" u="none" dirty="0"/>
              <a:t>レビューから必要な情報を自動的に抽出できるようなシステム</a:t>
            </a:r>
            <a:r>
              <a:rPr kumimoji="1" lang="ja-JP" altLang="en-US" sz="1200" dirty="0"/>
              <a:t>が必要となります。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2</a:t>
            </a:fld>
            <a:endParaRPr kumimoji="1" lang="ja-JP" altLang="en-US"/>
          </a:p>
        </p:txBody>
      </p:sp>
    </p:spTree>
    <p:extLst>
      <p:ext uri="{BB962C8B-B14F-4D97-AF65-F5344CB8AC3E}">
        <p14:creationId xmlns:p14="http://schemas.microsoft.com/office/powerpoint/2010/main" val="2587539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これらを扱う研究として、評判情報抽出というものがあります。これは、</a:t>
            </a:r>
            <a:r>
              <a:rPr lang="ja-JP" altLang="en-US" sz="1200" dirty="0"/>
              <a:t>特定の商品やサービスに対する意見を、その根拠と共に、抽出する技術を指します。</a:t>
            </a:r>
            <a:endParaRPr lang="en-US" altLang="ja-JP"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評判情報抽出の関連研究として、宮崎らの研究があります。</a:t>
            </a:r>
            <a:r>
              <a:rPr kumimoji="1" lang="ja-JP" altLang="en-US" sz="1050" dirty="0"/>
              <a:t>レビュー中の評判情報を、項目、属性、属性値、評価の</a:t>
            </a:r>
            <a:r>
              <a:rPr kumimoji="1" lang="en-US" altLang="ja-JP" sz="1050" dirty="0"/>
              <a:t>4</a:t>
            </a:r>
            <a:r>
              <a:rPr kumimoji="1" lang="ja-JP" altLang="en-US" sz="1050" dirty="0"/>
              <a:t>つで定義し、コーパスの作成実験を行っています。例で示した文については、</a:t>
            </a:r>
            <a:r>
              <a:rPr kumimoji="1" lang="en-US" altLang="ja-JP" sz="1050" dirty="0"/>
              <a:t>4</a:t>
            </a:r>
            <a:r>
              <a:rPr kumimoji="1" lang="ja-JP" altLang="en-US" sz="1050" dirty="0"/>
              <a:t>項組を図のように注釈付けすることが出来ます。</a:t>
            </a:r>
            <a:endParaRPr lang="en-US" altLang="ja-JP" sz="1050"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3</a:t>
            </a:fld>
            <a:endParaRPr kumimoji="1" lang="ja-JP" altLang="en-US"/>
          </a:p>
        </p:txBody>
      </p:sp>
    </p:spTree>
    <p:extLst>
      <p:ext uri="{BB962C8B-B14F-4D97-AF65-F5344CB8AC3E}">
        <p14:creationId xmlns:p14="http://schemas.microsoft.com/office/powerpoint/2010/main" val="3061483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続いて伊藤らの研究です。こちらでは、商品に対する期待と現状の差が購入者の評価につながるとみなし、評判情報を、</a:t>
            </a:r>
            <a:r>
              <a:rPr kumimoji="1" lang="en-US" altLang="ja-JP" dirty="0"/>
              <a:t>{</a:t>
            </a:r>
            <a:r>
              <a:rPr kumimoji="1" lang="ja-JP" altLang="en-US" sz="1200" dirty="0"/>
              <a:t>観点</a:t>
            </a:r>
            <a:r>
              <a:rPr kumimoji="1" lang="en-US" altLang="ja-JP" sz="1200" dirty="0"/>
              <a:t>, </a:t>
            </a:r>
            <a:r>
              <a:rPr kumimoji="1" lang="ja-JP" altLang="en-US" sz="1200" b="0" dirty="0">
                <a:latin typeface="游ゴシック" panose="020B0400000000000000" pitchFamily="50" charset="-128"/>
                <a:ea typeface="游ゴシック" panose="020B0400000000000000" pitchFamily="50" charset="-128"/>
              </a:rPr>
              <a:t>期待</a:t>
            </a:r>
            <a:r>
              <a:rPr kumimoji="1" lang="en-US" altLang="ja-JP" sz="1200" dirty="0"/>
              <a:t>, </a:t>
            </a:r>
            <a:r>
              <a:rPr kumimoji="1" lang="ja-JP" altLang="en-US" sz="1200" dirty="0"/>
              <a:t>現状</a:t>
            </a:r>
            <a:r>
              <a:rPr kumimoji="1" lang="en-US" altLang="ja-JP" sz="1200" dirty="0"/>
              <a:t>, </a:t>
            </a:r>
            <a:r>
              <a:rPr kumimoji="1" lang="ja-JP" altLang="en-US" sz="1200" dirty="0"/>
              <a:t>評価｝の</a:t>
            </a:r>
            <a:r>
              <a:rPr kumimoji="1" lang="en-US" altLang="ja-JP" sz="1200" dirty="0"/>
              <a:t>4</a:t>
            </a:r>
            <a:r>
              <a:rPr kumimoji="1" lang="ja-JP" altLang="en-US" sz="1200" dirty="0"/>
              <a:t>項組</a:t>
            </a:r>
            <a:r>
              <a:rPr kumimoji="1" lang="ja-JP" altLang="en-US" dirty="0"/>
              <a:t>で定義しています。</a:t>
            </a:r>
            <a:endParaRPr kumimoji="1" lang="en-US" altLang="ja-JP" dirty="0"/>
          </a:p>
          <a:p>
            <a:r>
              <a:rPr kumimoji="1" lang="ja-JP" altLang="en-US" dirty="0"/>
              <a:t>図の例ですと、「</a:t>
            </a:r>
            <a:r>
              <a:rPr lang="ja-JP" altLang="en-US" sz="1200" dirty="0">
                <a:solidFill>
                  <a:srgbClr val="FF0000"/>
                </a:solidFill>
              </a:rPr>
              <a:t>もう少し明るめかと思った</a:t>
            </a:r>
            <a:r>
              <a:rPr kumimoji="1" lang="ja-JP" altLang="en-US" dirty="0"/>
              <a:t>」という期待に「濃い」という現状の情報が加わることによって、「少し後悔」という評価が下されたと考えることが出来ます。</a:t>
            </a:r>
            <a:endParaRPr kumimoji="1" lang="en-US" altLang="ja-JP"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4</a:t>
            </a:fld>
            <a:endParaRPr kumimoji="1" lang="ja-JP" altLang="en-US"/>
          </a:p>
        </p:txBody>
      </p:sp>
    </p:spTree>
    <p:extLst>
      <p:ext uri="{BB962C8B-B14F-4D97-AF65-F5344CB8AC3E}">
        <p14:creationId xmlns:p14="http://schemas.microsoft.com/office/powerpoint/2010/main" val="83139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こちらの研究では、</a:t>
            </a:r>
            <a:r>
              <a:rPr kumimoji="1" lang="en-US" altLang="ja-JP" dirty="0"/>
              <a:t>SVM</a:t>
            </a:r>
            <a:r>
              <a:rPr kumimoji="1" lang="ja-JP" altLang="en-US" dirty="0"/>
              <a:t>を用いて各項目の抽出を行っていますが、</a:t>
            </a:r>
            <a:r>
              <a:rPr kumimoji="1" lang="en-US" altLang="ja-JP" dirty="0"/>
              <a:t>4</a:t>
            </a:r>
            <a:r>
              <a:rPr kumimoji="1" lang="ja-JP" altLang="en-US" dirty="0"/>
              <a:t>項組の中で、特に期待の抽出精度が悪いという課題があります。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5</a:t>
            </a:fld>
            <a:endParaRPr kumimoji="1" lang="ja-JP" altLang="en-US"/>
          </a:p>
        </p:txBody>
      </p:sp>
    </p:spTree>
    <p:extLst>
      <p:ext uri="{BB962C8B-B14F-4D97-AF65-F5344CB8AC3E}">
        <p14:creationId xmlns:p14="http://schemas.microsoft.com/office/powerpoint/2010/main" val="2469982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10FF5-8FDE-A4C9-41C6-DCB04A1EBB0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F649B2C-CC4C-E3D0-3CBE-D97C9EEC5C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F6B8A4-EE08-E3D1-BE05-E3EB310B6D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伊藤らの研究では、明示的に現れない期待を扱えなかったという課題があります。このレビューでは、ハンガーがついていないことに対し、残念という評価を下しています。ここから考えられる購入者の期待は「</a:t>
            </a:r>
            <a:r>
              <a:rPr lang="ja-JP" altLang="en-US" sz="1200" dirty="0"/>
              <a:t>ハンガーがついていてほしかった</a:t>
            </a:r>
            <a:r>
              <a:rPr kumimoji="1" lang="ja-JP" altLang="en-US" dirty="0"/>
              <a:t>」ということになります。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このように、商品に対して</a:t>
            </a:r>
            <a:r>
              <a:rPr kumimoji="1" lang="en-US" altLang="ja-JP" sz="1200" dirty="0"/>
              <a:t>A</a:t>
            </a:r>
            <a:r>
              <a:rPr kumimoji="1" lang="ja-JP" altLang="en-US" sz="1200" dirty="0"/>
              <a:t>と</a:t>
            </a:r>
            <a:r>
              <a:rPr kumimoji="1" lang="en-US" altLang="ja-JP" sz="1200" dirty="0"/>
              <a:t>B</a:t>
            </a:r>
            <a:r>
              <a:rPr kumimoji="1" lang="ja-JP" altLang="en-US" sz="1200" dirty="0"/>
              <a:t>の二つの状況が考えられるとき、</a:t>
            </a:r>
            <a:r>
              <a:rPr lang="ja-JP" altLang="en-US" b="0" i="0" dirty="0">
                <a:solidFill>
                  <a:srgbClr val="1D1C1D"/>
                </a:solidFill>
                <a:effectLst/>
                <a:latin typeface="NotoSansJP"/>
              </a:rPr>
              <a:t>「</a:t>
            </a:r>
            <a:r>
              <a:rPr lang="en-US" altLang="ja-JP" b="0" i="0" dirty="0">
                <a:solidFill>
                  <a:srgbClr val="1D1C1D"/>
                </a:solidFill>
                <a:effectLst/>
                <a:latin typeface="NotoSansJP"/>
              </a:rPr>
              <a:t>A</a:t>
            </a:r>
            <a:r>
              <a:rPr lang="ja-JP" altLang="en-US" b="0" i="0" dirty="0">
                <a:solidFill>
                  <a:srgbClr val="1D1C1D"/>
                </a:solidFill>
                <a:effectLst/>
                <a:latin typeface="NotoSansJP"/>
              </a:rPr>
              <a:t>なのが残念」という表現を「</a:t>
            </a:r>
            <a:r>
              <a:rPr lang="en-US" altLang="ja-JP" b="0" i="0" dirty="0">
                <a:solidFill>
                  <a:srgbClr val="1D1C1D"/>
                </a:solidFill>
                <a:effectLst/>
                <a:latin typeface="NotoSansJP"/>
              </a:rPr>
              <a:t>B</a:t>
            </a:r>
            <a:r>
              <a:rPr lang="ja-JP" altLang="en-US" b="0" i="0" dirty="0">
                <a:solidFill>
                  <a:srgbClr val="1D1C1D"/>
                </a:solidFill>
                <a:effectLst/>
                <a:latin typeface="NotoSansJP"/>
              </a:rPr>
              <a:t>だったら良かった」に</a:t>
            </a:r>
            <a:r>
              <a:rPr kumimoji="1" lang="ja-JP" altLang="en-US" sz="1200" dirty="0"/>
              <a:t>言い換えることで、明示的に現れない期待の内容を推測することができます。</a:t>
            </a:r>
            <a:endParaRPr kumimoji="1" lang="ja-JP" altLang="en-US" dirty="0"/>
          </a:p>
        </p:txBody>
      </p:sp>
      <p:sp>
        <p:nvSpPr>
          <p:cNvPr id="4" name="スライド番号プレースホルダー 3">
            <a:extLst>
              <a:ext uri="{FF2B5EF4-FFF2-40B4-BE49-F238E27FC236}">
                <a16:creationId xmlns:a16="http://schemas.microsoft.com/office/drawing/2014/main" id="{BD62B972-BF67-7843-03AF-D7438D9E5ED4}"/>
              </a:ext>
            </a:extLst>
          </p:cNvPr>
          <p:cNvSpPr>
            <a:spLocks noGrp="1"/>
          </p:cNvSpPr>
          <p:nvPr>
            <p:ph type="sldNum" sz="quarter" idx="5"/>
          </p:nvPr>
        </p:nvSpPr>
        <p:spPr/>
        <p:txBody>
          <a:bodyPr/>
          <a:lstStyle/>
          <a:p>
            <a:fld id="{5FB6A314-5427-40D0-990B-D7B7394C1DDA}" type="slidenum">
              <a:rPr kumimoji="1" lang="ja-JP" altLang="en-US" smtClean="0"/>
              <a:t>6</a:t>
            </a:fld>
            <a:endParaRPr kumimoji="1" lang="ja-JP" altLang="en-US"/>
          </a:p>
        </p:txBody>
      </p:sp>
    </p:spTree>
    <p:extLst>
      <p:ext uri="{BB962C8B-B14F-4D97-AF65-F5344CB8AC3E}">
        <p14:creationId xmlns:p14="http://schemas.microsoft.com/office/powerpoint/2010/main" val="141227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本研究では、これらの課題に取り組みます。</a:t>
            </a:r>
            <a:endParaRPr kumimoji="1" lang="en-US" altLang="ja-JP" dirty="0"/>
          </a:p>
          <a:p>
            <a:r>
              <a:rPr kumimoji="1" lang="ja-JP" altLang="en-US" dirty="0"/>
              <a:t>一つ目は、</a:t>
            </a:r>
            <a:r>
              <a:rPr kumimoji="1" lang="ja-JP" altLang="en-US" sz="1200" dirty="0"/>
              <a:t>評判情報の</a:t>
            </a:r>
            <a:r>
              <a:rPr kumimoji="1" lang="en-US" altLang="ja-JP" sz="1200" dirty="0"/>
              <a:t>4</a:t>
            </a:r>
            <a:r>
              <a:rPr kumimoji="1" lang="ja-JP" altLang="en-US" sz="1200" dirty="0"/>
              <a:t>項組、特に期待を、高い精度で抽出することを目指します。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また、先程の例で示したような、明示的に現れない期待についても検討します。</a:t>
            </a:r>
            <a:endParaRPr kumimoji="1" lang="en-US" altLang="ja-JP" sz="1200"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7</a:t>
            </a:fld>
            <a:endParaRPr kumimoji="1" lang="ja-JP" altLang="en-US"/>
          </a:p>
        </p:txBody>
      </p:sp>
    </p:spTree>
    <p:extLst>
      <p:ext uri="{BB962C8B-B14F-4D97-AF65-F5344CB8AC3E}">
        <p14:creationId xmlns:p14="http://schemas.microsoft.com/office/powerpoint/2010/main" val="3020142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これらの目的を踏まえ、本研究では、</a:t>
            </a:r>
            <a:r>
              <a:rPr kumimoji="1" lang="en-US" altLang="ja-JP" dirty="0"/>
              <a:t>2</a:t>
            </a:r>
            <a:r>
              <a:rPr kumimoji="1" lang="ja-JP" altLang="en-US" dirty="0"/>
              <a:t>つの実験を行います。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1</a:t>
            </a:r>
            <a:r>
              <a:rPr kumimoji="1" lang="ja-JP" altLang="en-US" dirty="0"/>
              <a:t>つ目の実験は、「</a:t>
            </a:r>
            <a:r>
              <a:rPr kumimoji="1" lang="ja-JP" altLang="en-US" sz="1200" b="0" dirty="0">
                <a:latin typeface="+mj-ea"/>
                <a:ea typeface="+mj-ea"/>
              </a:rPr>
              <a:t>系列ラベリングによる期待を含めた</a:t>
            </a:r>
            <a:r>
              <a:rPr kumimoji="1" lang="en-US" altLang="ja-JP" sz="1200" b="0" dirty="0">
                <a:latin typeface="+mj-ea"/>
                <a:ea typeface="+mj-ea"/>
              </a:rPr>
              <a:t>4</a:t>
            </a:r>
            <a:r>
              <a:rPr kumimoji="1" lang="ja-JP" altLang="en-US" sz="1200" b="0" dirty="0">
                <a:latin typeface="+mj-ea"/>
                <a:ea typeface="+mj-ea"/>
              </a:rPr>
              <a:t>項組の抽出」です。トークン単位での分類により、レビューから、各項目に対応する文字列を抽出します。</a:t>
            </a:r>
            <a:endParaRPr kumimoji="1" lang="en-US" altLang="ja-JP" sz="1200" b="0" dirty="0">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mj-ea"/>
                <a:ea typeface="+mj-ea"/>
              </a:rPr>
              <a:t>2</a:t>
            </a:r>
            <a:r>
              <a:rPr kumimoji="1" lang="ja-JP" altLang="en-US" sz="1200" b="0" dirty="0">
                <a:latin typeface="+mj-ea"/>
                <a:ea typeface="+mj-ea"/>
              </a:rPr>
              <a:t>つ目は、「文分類による期待の抽出」です。こちらは文単位なので、明示的に現れない期待も扱えます。</a:t>
            </a:r>
            <a:endParaRPr kumimoji="1" lang="en-US" altLang="ja-JP" sz="1200" b="0" dirty="0">
              <a:latin typeface="+mj-ea"/>
              <a:ea typeface="+mj-ea"/>
            </a:endParaRP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8</a:t>
            </a:fld>
            <a:endParaRPr kumimoji="1" lang="ja-JP" altLang="en-US"/>
          </a:p>
        </p:txBody>
      </p:sp>
    </p:spTree>
    <p:extLst>
      <p:ext uri="{BB962C8B-B14F-4D97-AF65-F5344CB8AC3E}">
        <p14:creationId xmlns:p14="http://schemas.microsoft.com/office/powerpoint/2010/main" val="4248373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本研究での評判情報の構成要素を説明します。</a:t>
            </a:r>
            <a:endParaRPr kumimoji="1" lang="en-US" altLang="ja-JP" dirty="0"/>
          </a:p>
          <a:p>
            <a:r>
              <a:rPr kumimoji="1" lang="en-US" altLang="ja-JP" dirty="0"/>
              <a:t>1</a:t>
            </a:r>
            <a:r>
              <a:rPr kumimoji="1" lang="ja-JP" altLang="en-US" dirty="0"/>
              <a:t>つ目の項目は属性で、「音」や「吸引力」などの商品の観点を指しています。これに対して属性値は、属性の状態や程度を表しています。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9</a:t>
            </a:fld>
            <a:endParaRPr kumimoji="1" lang="ja-JP" altLang="en-US"/>
          </a:p>
        </p:txBody>
      </p:sp>
    </p:spTree>
    <p:extLst>
      <p:ext uri="{BB962C8B-B14F-4D97-AF65-F5344CB8AC3E}">
        <p14:creationId xmlns:p14="http://schemas.microsoft.com/office/powerpoint/2010/main" val="1229752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3</a:t>
            </a:r>
            <a:r>
              <a:rPr kumimoji="1" lang="ja-JP" altLang="en-US" dirty="0"/>
              <a:t>つ目は、本研究の核となる期待で、購入者の商品に対する期待値や改善点などが明示的に現れた部分を指します。期待の表現は様々なので、具体的な注釈付けの条件は特に定めていないです。</a:t>
            </a:r>
            <a:r>
              <a:rPr kumimoji="1" lang="en-US" altLang="ja-JP" dirty="0"/>
              <a:t>4</a:t>
            </a:r>
            <a:r>
              <a:rPr kumimoji="1" lang="ja-JP" altLang="en-US" dirty="0"/>
              <a:t>つ目の、評価という項目は、商品に対する評価や心的態度を表しています。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10</a:t>
            </a:fld>
            <a:endParaRPr kumimoji="1" lang="ja-JP" altLang="en-US"/>
          </a:p>
        </p:txBody>
      </p:sp>
    </p:spTree>
    <p:extLst>
      <p:ext uri="{BB962C8B-B14F-4D97-AF65-F5344CB8AC3E}">
        <p14:creationId xmlns:p14="http://schemas.microsoft.com/office/powerpoint/2010/main" val="3538057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続いて評判情報に基づいたデータセットの作成です。</a:t>
            </a:r>
            <a:r>
              <a:rPr kumimoji="1" lang="ja-JP" altLang="en-US" sz="1200" dirty="0"/>
              <a:t>楽天市場の掃除機レビュー</a:t>
            </a:r>
            <a:r>
              <a:rPr kumimoji="1" lang="en-US" altLang="ja-JP" sz="1200" dirty="0"/>
              <a:t>500</a:t>
            </a:r>
            <a:r>
              <a:rPr kumimoji="1" lang="ja-JP" altLang="en-US" sz="1200" dirty="0"/>
              <a:t>件に対して</a:t>
            </a:r>
            <a:r>
              <a:rPr kumimoji="1" lang="en-US" altLang="ja-JP" sz="1200" dirty="0"/>
              <a:t>4</a:t>
            </a:r>
            <a:r>
              <a:rPr kumimoji="1" lang="ja-JP" altLang="en-US" sz="1200" dirty="0"/>
              <a:t>項組の注釈付けを行っています。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出現回数に関しては、期待だけ少なかったので、他の商品レビューから、期待を含んでいる文を追加しています。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11</a:t>
            </a:fld>
            <a:endParaRPr kumimoji="1" lang="ja-JP" altLang="en-US"/>
          </a:p>
        </p:txBody>
      </p:sp>
    </p:spTree>
    <p:extLst>
      <p:ext uri="{BB962C8B-B14F-4D97-AF65-F5344CB8AC3E}">
        <p14:creationId xmlns:p14="http://schemas.microsoft.com/office/powerpoint/2010/main" val="2980844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次に評価実験です。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評価指標として、</a:t>
            </a:r>
            <a:r>
              <a:rPr lang="ja-JP" altLang="en-US" sz="1200" b="0" dirty="0">
                <a:solidFill>
                  <a:srgbClr val="FF0000"/>
                </a:solidFill>
                <a:latin typeface="+mj-ea"/>
                <a:ea typeface="+mj-ea"/>
              </a:rPr>
              <a:t>完全に一致したものを正解とする評価と、重なっている部分があれば正解とする評価の</a:t>
            </a:r>
            <a:r>
              <a:rPr lang="en-US" altLang="ja-JP" sz="1200" b="0" dirty="0">
                <a:solidFill>
                  <a:srgbClr val="FF0000"/>
                </a:solidFill>
                <a:latin typeface="+mj-ea"/>
                <a:ea typeface="+mj-ea"/>
              </a:rPr>
              <a:t>2</a:t>
            </a:r>
            <a:r>
              <a:rPr lang="ja-JP" altLang="en-US" sz="1200" b="0" dirty="0">
                <a:solidFill>
                  <a:srgbClr val="FF0000"/>
                </a:solidFill>
                <a:latin typeface="+mj-ea"/>
                <a:ea typeface="+mj-ea"/>
              </a:rPr>
              <a:t>つを行っています。本研究では、一語一句完璧に区切ることはあまり求めていないので、抽出した範囲と部分的に重なっている事例にも注目しています。</a:t>
            </a:r>
            <a:endParaRPr lang="en-US" altLang="ja-JP" sz="1200" b="0" dirty="0">
              <a:solidFill>
                <a:srgbClr val="FF0000"/>
              </a:solidFill>
              <a:latin typeface="+mj-ea"/>
              <a:ea typeface="+mj-ea"/>
            </a:endParaRP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12</a:t>
            </a:fld>
            <a:endParaRPr kumimoji="1" lang="ja-JP" altLang="en-US"/>
          </a:p>
        </p:txBody>
      </p:sp>
    </p:spTree>
    <p:extLst>
      <p:ext uri="{BB962C8B-B14F-4D97-AF65-F5344CB8AC3E}">
        <p14:creationId xmlns:p14="http://schemas.microsoft.com/office/powerpoint/2010/main" val="2151392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実験結果です。</a:t>
            </a:r>
            <a:endParaRPr kumimoji="1" lang="en-US" altLang="ja-JP" dirty="0"/>
          </a:p>
          <a:p>
            <a:r>
              <a:rPr kumimoji="1" lang="ja-JP" altLang="en-US" dirty="0"/>
              <a:t>期待の完全一致による評価は、</a:t>
            </a:r>
            <a:r>
              <a:rPr kumimoji="1" lang="en-US" altLang="ja-JP" dirty="0"/>
              <a:t>0.467</a:t>
            </a:r>
            <a:r>
              <a:rPr kumimoji="1" lang="ja-JP" altLang="en-US" dirty="0"/>
              <a:t>とあまり良くないですが、部分一致による評価だと</a:t>
            </a:r>
            <a:r>
              <a:rPr kumimoji="1" lang="en-US" altLang="ja-JP" dirty="0"/>
              <a:t>0.705</a:t>
            </a:r>
            <a:r>
              <a:rPr kumimoji="1" lang="ja-JP" altLang="en-US" dirty="0"/>
              <a:t>となっていたので、大まかな位置は特定できている、という事例が多いことが分かります。</a:t>
            </a:r>
            <a:endParaRPr kumimoji="1" lang="en-US" altLang="ja-JP" dirty="0"/>
          </a:p>
          <a:p>
            <a:r>
              <a:rPr kumimoji="1" lang="ja-JP" altLang="en-US" dirty="0"/>
              <a:t>また、期待以外の項目は、概ね高い精度で抽出できています。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13</a:t>
            </a:fld>
            <a:endParaRPr kumimoji="1" lang="ja-JP" altLang="en-US"/>
          </a:p>
        </p:txBody>
      </p:sp>
    </p:spTree>
    <p:extLst>
      <p:ext uri="{BB962C8B-B14F-4D97-AF65-F5344CB8AC3E}">
        <p14:creationId xmlns:p14="http://schemas.microsoft.com/office/powerpoint/2010/main" val="1117609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次のこの実験の課題です。</a:t>
            </a:r>
            <a:endParaRPr kumimoji="1" lang="en-US" altLang="ja-JP" dirty="0"/>
          </a:p>
          <a:p>
            <a:r>
              <a:rPr kumimoji="1" lang="en-US" altLang="ja-JP" dirty="0"/>
              <a:t>1</a:t>
            </a:r>
            <a:r>
              <a:rPr kumimoji="1" lang="ja-JP" altLang="en-US" dirty="0"/>
              <a:t>つ目は、期待はトークン単位での抽出が難しいという点です。注釈付けの段階でも揺れが起きやすかったので、抽出の単位を見直す必要があります。</a:t>
            </a:r>
            <a:endParaRPr kumimoji="1" lang="en-US" altLang="ja-JP" dirty="0"/>
          </a:p>
          <a:p>
            <a:r>
              <a:rPr lang="en-US" altLang="ja-JP" sz="1200" dirty="0"/>
              <a:t>2</a:t>
            </a:r>
            <a:r>
              <a:rPr lang="ja-JP" altLang="en-US" sz="1200" dirty="0"/>
              <a:t>つ目は、期待だけ注釈付けの条件を設けなかったため、内容の統一性がなかったという点です。内容を統一させるためには、期待を種類ごとに分類する必要があると考えています。</a:t>
            </a:r>
            <a:endParaRPr lang="en-US" altLang="ja-JP" sz="1200" b="0" dirty="0">
              <a:solidFill>
                <a:srgbClr val="FF0000"/>
              </a:solidFill>
              <a:latin typeface="+mj-ea"/>
              <a:ea typeface="+mj-ea"/>
            </a:endParaRP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14</a:t>
            </a:fld>
            <a:endParaRPr kumimoji="1" lang="ja-JP" altLang="en-US"/>
          </a:p>
        </p:txBody>
      </p:sp>
    </p:spTree>
    <p:extLst>
      <p:ext uri="{BB962C8B-B14F-4D97-AF65-F5344CB8AC3E}">
        <p14:creationId xmlns:p14="http://schemas.microsoft.com/office/powerpoint/2010/main" val="4020001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これらの課題を踏まえて、追加実験として、文分類による期待の抽出を行いました。</a:t>
            </a:r>
            <a:endParaRPr kumimoji="1" lang="en-US" altLang="ja-JP" dirty="0"/>
          </a:p>
          <a:p>
            <a:r>
              <a:rPr kumimoji="1" lang="ja-JP" altLang="en-US" dirty="0"/>
              <a:t>期待以外の項目は、</a:t>
            </a:r>
            <a:r>
              <a:rPr kumimoji="1" lang="en-US" altLang="ja-JP" dirty="0"/>
              <a:t>1</a:t>
            </a:r>
            <a:r>
              <a:rPr kumimoji="1" lang="ja-JP" altLang="en-US" dirty="0"/>
              <a:t>つ目の実験で、ある程度抽出できていたので、こちらの実験では扱わないです。</a:t>
            </a:r>
            <a:endParaRPr kumimoji="1" lang="en-US" altLang="ja-JP" dirty="0"/>
          </a:p>
          <a:p>
            <a:r>
              <a:rPr lang="ja-JP" altLang="en-US" sz="1200" dirty="0"/>
              <a:t>また、ラベルごとの内容を統一させるために、期待の表現を</a:t>
            </a:r>
            <a:r>
              <a:rPr lang="en-US" altLang="ja-JP" sz="1200" dirty="0"/>
              <a:t>2</a:t>
            </a:r>
            <a:r>
              <a:rPr lang="ja-JP" altLang="en-US" sz="1200" dirty="0"/>
              <a:t>種類に分けています。</a:t>
            </a:r>
            <a:endParaRPr lang="en-US" altLang="ja-JP" sz="1200" dirty="0"/>
          </a:p>
          <a:p>
            <a:r>
              <a:rPr lang="ja-JP" altLang="en-US" sz="1200" dirty="0"/>
              <a:t>こちらの実験は文単位なので、先行研究の課題となっていた、明示的に現れない期待も抽出の対象となります。</a:t>
            </a:r>
            <a:endParaRPr lang="en-US" altLang="ja-JP" sz="1200"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15</a:t>
            </a:fld>
            <a:endParaRPr kumimoji="1" lang="ja-JP" altLang="en-US"/>
          </a:p>
        </p:txBody>
      </p:sp>
    </p:spTree>
    <p:extLst>
      <p:ext uri="{BB962C8B-B14F-4D97-AF65-F5344CB8AC3E}">
        <p14:creationId xmlns:p14="http://schemas.microsoft.com/office/powerpoint/2010/main" val="2574014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次にこの実験で扱う期待の分類です。期待は以下の</a:t>
            </a:r>
            <a:r>
              <a:rPr kumimoji="1" lang="en-US" altLang="ja-JP" dirty="0"/>
              <a:t>2</a:t>
            </a:r>
            <a:r>
              <a:rPr kumimoji="1" lang="ja-JP" altLang="en-US" dirty="0"/>
              <a:t>つに分類できると定義しています。</a:t>
            </a:r>
            <a:endParaRPr kumimoji="1" lang="en-US" altLang="ja-JP" dirty="0"/>
          </a:p>
          <a:p>
            <a:r>
              <a:rPr kumimoji="1" lang="en-US" altLang="ja-JP" dirty="0"/>
              <a:t>1</a:t>
            </a:r>
            <a:r>
              <a:rPr kumimoji="1" lang="ja-JP" altLang="en-US" dirty="0"/>
              <a:t>つ目の期待は、購入前の願望や期待として表現されているものです。スライドの例だと「女性が片手で持てる重さ」が期待に該当します。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2</a:t>
            </a:r>
            <a:r>
              <a:rPr kumimoji="1" lang="ja-JP" altLang="en-US" dirty="0"/>
              <a:t>つ目の期待は、実際に使った後の、現状に対する不満や改善点として記述されているものです。スライドの例だと「スイッチが手元にあって欲しかった」という期待が存在しています。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また、負例として、期待を含まない文も用意しています。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16</a:t>
            </a:fld>
            <a:endParaRPr kumimoji="1" lang="ja-JP" altLang="en-US"/>
          </a:p>
        </p:txBody>
      </p:sp>
    </p:spTree>
    <p:extLst>
      <p:ext uri="{BB962C8B-B14F-4D97-AF65-F5344CB8AC3E}">
        <p14:creationId xmlns:p14="http://schemas.microsoft.com/office/powerpoint/2010/main" val="1083391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続いて評価実験です。</a:t>
            </a:r>
            <a:endParaRPr kumimoji="1" lang="en-US" altLang="ja-JP" dirty="0"/>
          </a:p>
          <a:p>
            <a:r>
              <a:rPr kumimoji="1" lang="ja-JP" altLang="en-US" dirty="0"/>
              <a:t>データセットとして期待</a:t>
            </a:r>
            <a:r>
              <a:rPr kumimoji="1" lang="en-US" altLang="ja-JP" dirty="0"/>
              <a:t>a</a:t>
            </a:r>
            <a:r>
              <a:rPr kumimoji="1" lang="ja-JP" altLang="en-US" dirty="0"/>
              <a:t>と期待</a:t>
            </a:r>
            <a:r>
              <a:rPr kumimoji="1" lang="en-US" altLang="ja-JP" dirty="0"/>
              <a:t>b</a:t>
            </a:r>
            <a:r>
              <a:rPr kumimoji="1" lang="ja-JP" altLang="en-US" dirty="0"/>
              <a:t>を</a:t>
            </a:r>
            <a:r>
              <a:rPr kumimoji="1" lang="en-US" altLang="ja-JP" dirty="0"/>
              <a:t>350</a:t>
            </a:r>
            <a:r>
              <a:rPr kumimoji="1" lang="ja-JP" altLang="en-US" dirty="0"/>
              <a:t>文ずつ用意し、期待なしの文を</a:t>
            </a:r>
            <a:r>
              <a:rPr kumimoji="1" lang="en-US" altLang="ja-JP" dirty="0"/>
              <a:t>700</a:t>
            </a:r>
            <a:r>
              <a:rPr kumimoji="1" lang="ja-JP" altLang="en-US" dirty="0"/>
              <a:t>文用意しています。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また、こちらでも</a:t>
            </a:r>
            <a:r>
              <a:rPr kumimoji="1" lang="en-US" altLang="ja-JP" dirty="0"/>
              <a:t>BERT</a:t>
            </a:r>
            <a:r>
              <a:rPr kumimoji="1" lang="ja-JP" altLang="en-US" dirty="0"/>
              <a:t>を用いており、文章分類を行うためのクラスを用いて三値分類を実装しています。</a:t>
            </a:r>
            <a:endParaRPr lang="en-US" altLang="ja-JP" sz="1200"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17</a:t>
            </a:fld>
            <a:endParaRPr kumimoji="1" lang="ja-JP" altLang="en-US"/>
          </a:p>
        </p:txBody>
      </p:sp>
    </p:spTree>
    <p:extLst>
      <p:ext uri="{BB962C8B-B14F-4D97-AF65-F5344CB8AC3E}">
        <p14:creationId xmlns:p14="http://schemas.microsoft.com/office/powerpoint/2010/main" val="1814253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実験結果です。</a:t>
            </a:r>
            <a:endParaRPr kumimoji="1" lang="en-US" altLang="ja-JP" dirty="0"/>
          </a:p>
          <a:p>
            <a:r>
              <a:rPr kumimoji="1" lang="ja-JP" altLang="en-US" dirty="0"/>
              <a:t>全体の正解率は</a:t>
            </a:r>
            <a:r>
              <a:rPr kumimoji="1" lang="en-US" altLang="ja-JP" dirty="0"/>
              <a:t>89.3%</a:t>
            </a:r>
            <a:r>
              <a:rPr kumimoji="1" lang="ja-JP" altLang="en-US" dirty="0"/>
              <a:t>と、ある程度高い精度で分類できています。</a:t>
            </a:r>
            <a:endParaRPr kumimoji="1" lang="en-US" altLang="ja-JP" dirty="0"/>
          </a:p>
          <a:p>
            <a:r>
              <a:rPr kumimoji="1" lang="ja-JP" altLang="en-US" dirty="0"/>
              <a:t>また、</a:t>
            </a:r>
            <a:r>
              <a:rPr kumimoji="1" lang="en-US" altLang="ja-JP" dirty="0"/>
              <a:t>F</a:t>
            </a:r>
            <a:r>
              <a:rPr kumimoji="1" lang="ja-JP" altLang="en-US" dirty="0"/>
              <a:t>値を比べると、若干期待</a:t>
            </a:r>
            <a:r>
              <a:rPr kumimoji="1" lang="en-US" altLang="ja-JP" dirty="0"/>
              <a:t>a</a:t>
            </a:r>
            <a:r>
              <a:rPr kumimoji="1" lang="ja-JP" altLang="en-US" dirty="0"/>
              <a:t>の方が高い結果が得られています。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18</a:t>
            </a:fld>
            <a:endParaRPr kumimoji="1" lang="ja-JP" altLang="en-US"/>
          </a:p>
        </p:txBody>
      </p:sp>
    </p:spTree>
    <p:extLst>
      <p:ext uri="{BB962C8B-B14F-4D97-AF65-F5344CB8AC3E}">
        <p14:creationId xmlns:p14="http://schemas.microsoft.com/office/powerpoint/2010/main" val="1471991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sz="1200" dirty="0">
                <a:latin typeface="+mj-ea"/>
                <a:ea typeface="+mj-ea"/>
              </a:rPr>
              <a:t>次に、分類が上手くいかなかった例です。スライドの例では、「期待なし」が注釈付けされていますが、モデル側は</a:t>
            </a:r>
            <a:r>
              <a:rPr kumimoji="1" lang="ja-JP" altLang="en-US" dirty="0"/>
              <a:t>期待</a:t>
            </a:r>
            <a:r>
              <a:rPr kumimoji="1" lang="en-US" altLang="ja-JP" dirty="0"/>
              <a:t>b</a:t>
            </a:r>
            <a:r>
              <a:rPr kumimoji="1" lang="ja-JP" altLang="en-US" dirty="0"/>
              <a:t>に分類しています。人手で注釈付けした時は、「慣れてくれば大丈夫そう」という文からそこまで強い期待は抱いていないと考えましたが</a:t>
            </a:r>
            <a:r>
              <a:rPr lang="ja-JP" altLang="en-US" sz="1200" dirty="0">
                <a:latin typeface="+mj-ea"/>
                <a:ea typeface="+mj-ea"/>
              </a:rPr>
              <a:t>、モデル側は、</a:t>
            </a:r>
            <a:r>
              <a:rPr kumimoji="1" lang="ja-JP" altLang="en-US" dirty="0"/>
              <a:t>「ヘッドが柔らかくなってほしい」という期待があるとみなしています。このような、人によってが判別が変わりそうな難しいものは、</a:t>
            </a:r>
            <a:r>
              <a:rPr kumimoji="1" lang="ja-JP" altLang="en-US" sz="1200" b="0" dirty="0">
                <a:latin typeface="+mj-ea"/>
                <a:ea typeface="+mj-ea"/>
              </a:rPr>
              <a:t>上手く分類できませんでした。</a:t>
            </a:r>
            <a:endParaRPr kumimoji="1" lang="ja-JP" altLang="en-US"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19</a:t>
            </a:fld>
            <a:endParaRPr kumimoji="1" lang="ja-JP" altLang="en-US"/>
          </a:p>
        </p:txBody>
      </p:sp>
    </p:spTree>
    <p:extLst>
      <p:ext uri="{BB962C8B-B14F-4D97-AF65-F5344CB8AC3E}">
        <p14:creationId xmlns:p14="http://schemas.microsoft.com/office/powerpoint/2010/main" val="3953256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研究のまとめです。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本研究では、評判情報抽出を目的とした、期待の抽出手法の検討を行いました。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1</a:t>
            </a:r>
            <a:r>
              <a:rPr lang="ja-JP" altLang="en-US" sz="1200" dirty="0"/>
              <a:t>つ目の系列ラベリングでは、期待は他の項目よりも精度が低く、厳密な完全一致での抽出が難しいことが分かりました。</a:t>
            </a:r>
            <a:br>
              <a:rPr lang="en-US" altLang="ja-JP" sz="1200" dirty="0"/>
            </a:br>
            <a:r>
              <a:rPr lang="ja-JP" altLang="en-US" sz="1200" dirty="0"/>
              <a:t>また、</a:t>
            </a:r>
            <a:r>
              <a:rPr lang="en-US" altLang="ja-JP" sz="1200" dirty="0"/>
              <a:t>2</a:t>
            </a:r>
            <a:r>
              <a:rPr lang="ja-JP" altLang="en-US" sz="1200" dirty="0"/>
              <a:t>つ目の文分類では、明示的に現れない期待を含め、ある程度高い精度で、期待の抽出が行えました。</a:t>
            </a:r>
            <a:endParaRPr lang="en-US" altLang="ja-JP" sz="1200" dirty="0"/>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20</a:t>
            </a:fld>
            <a:endParaRPr kumimoji="1" lang="ja-JP" altLang="en-US"/>
          </a:p>
        </p:txBody>
      </p:sp>
    </p:spTree>
    <p:extLst>
      <p:ext uri="{BB962C8B-B14F-4D97-AF65-F5344CB8AC3E}">
        <p14:creationId xmlns:p14="http://schemas.microsoft.com/office/powerpoint/2010/main" val="1249780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最後に今後の課題です。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まず、</a:t>
            </a:r>
            <a:r>
              <a:rPr lang="ja-JP" altLang="en-US" sz="1200" b="0" dirty="0">
                <a:latin typeface="+mj-ea"/>
                <a:ea typeface="+mj-ea"/>
              </a:rPr>
              <a:t>系列ラベリングによる評判情報抽出では、抽出した項同士の対応関係が認識できない、という課題があります。特に、期待と他の項目が、どのように関わっているのか分析する必要があります。</a:t>
            </a:r>
            <a:endParaRPr lang="en-US" altLang="ja-JP" sz="1200" b="0" dirty="0">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latin typeface="+mj-ea"/>
                <a:ea typeface="+mj-ea"/>
              </a:rPr>
              <a:t>2</a:t>
            </a:r>
            <a:r>
              <a:rPr lang="ja-JP" altLang="en-US" sz="1200" b="0" dirty="0">
                <a:latin typeface="+mj-ea"/>
                <a:ea typeface="+mj-ea"/>
              </a:rPr>
              <a:t>つ目は、文単位の抽出では、期待が記述されている箇所を結局人手で判別する必要がある、というものです。抽出単位を大きくすると、精度は向上しますが、その文データの粒度が落ちてしまう、という欠点があるので、どのような形で期待を提示するのかをしっかり検討する必要があります。</a:t>
            </a:r>
            <a:endParaRPr lang="en-US" altLang="ja-JP" sz="1200" b="0" dirty="0">
              <a:latin typeface="+mj-ea"/>
              <a:ea typeface="+mj-ea"/>
            </a:endParaRP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21</a:t>
            </a:fld>
            <a:endParaRPr kumimoji="1" lang="ja-JP" altLang="en-US"/>
          </a:p>
        </p:txBody>
      </p:sp>
    </p:spTree>
    <p:extLst>
      <p:ext uri="{BB962C8B-B14F-4D97-AF65-F5344CB8AC3E}">
        <p14:creationId xmlns:p14="http://schemas.microsoft.com/office/powerpoint/2010/main" val="1168506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参考文献はこちらの通りです。</a:t>
            </a:r>
            <a:endParaRPr kumimoji="1" lang="en-US" altLang="ja-JP" dirty="0"/>
          </a:p>
          <a:p>
            <a:r>
              <a:rPr kumimoji="1" lang="ja-JP" altLang="en-US" dirty="0"/>
              <a:t>発表は以上です。</a:t>
            </a:r>
          </a:p>
        </p:txBody>
      </p:sp>
      <p:sp>
        <p:nvSpPr>
          <p:cNvPr id="4" name="スライド番号プレースホルダー 3"/>
          <p:cNvSpPr>
            <a:spLocks noGrp="1"/>
          </p:cNvSpPr>
          <p:nvPr>
            <p:ph type="sldNum" sz="quarter" idx="5"/>
          </p:nvPr>
        </p:nvSpPr>
        <p:spPr/>
        <p:txBody>
          <a:bodyPr/>
          <a:lstStyle/>
          <a:p>
            <a:fld id="{5FB6A314-5427-40D0-990B-D7B7394C1DDA}" type="slidenum">
              <a:rPr kumimoji="1" lang="ja-JP" altLang="en-US" smtClean="0"/>
              <a:t>22</a:t>
            </a:fld>
            <a:endParaRPr kumimoji="1" lang="ja-JP" altLang="en-US"/>
          </a:p>
        </p:txBody>
      </p:sp>
    </p:spTree>
    <p:extLst>
      <p:ext uri="{BB962C8B-B14F-4D97-AF65-F5344CB8AC3E}">
        <p14:creationId xmlns:p14="http://schemas.microsoft.com/office/powerpoint/2010/main" val="3401396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11A1-7D2F-F454-00F9-07FA782C6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9F2C5C-D020-8973-22AA-F9DC0D0259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32A338-2A87-B285-076C-5874EBFEBD71}"/>
              </a:ext>
            </a:extLst>
          </p:cNvPr>
          <p:cNvSpPr>
            <a:spLocks noGrp="1"/>
          </p:cNvSpPr>
          <p:nvPr>
            <p:ph type="body" idx="1"/>
          </p:nvPr>
        </p:nvSpPr>
        <p:spPr/>
        <p:txBody>
          <a:bodyPr/>
          <a:lstStyle/>
          <a:p>
            <a:r>
              <a:rPr kumimoji="1" lang="ja-JP" altLang="en-US" dirty="0"/>
              <a:t>期待がレビューでどのように現れるのかを説明します。</a:t>
            </a:r>
            <a:endParaRPr kumimoji="1" lang="en-US" altLang="ja-JP" dirty="0"/>
          </a:p>
          <a:p>
            <a:r>
              <a:rPr kumimoji="1" lang="ja-JP" altLang="en-US" sz="1200" dirty="0"/>
              <a:t>まず、レビューには、上のような明示的に現れる期待が存在します。この例だと、「コードがもう少し長ければ」の部分に該当します。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一方、明示的に現れないものも存在するため、言い換えによって期待を推測する必要があります。このレビューだと、</a:t>
            </a:r>
            <a:r>
              <a:rPr kumimoji="1" lang="ja-JP" altLang="en-US" dirty="0"/>
              <a:t>吸引力があるかないか、の二つの状況が考えられるので、「吸引力がもっと欲しい」という期待が得られます。</a:t>
            </a:r>
            <a:endParaRPr kumimoji="1" lang="en-US" altLang="ja-JP" sz="1200" dirty="0"/>
          </a:p>
        </p:txBody>
      </p:sp>
      <p:sp>
        <p:nvSpPr>
          <p:cNvPr id="4" name="スライド番号プレースホルダー 3">
            <a:extLst>
              <a:ext uri="{FF2B5EF4-FFF2-40B4-BE49-F238E27FC236}">
                <a16:creationId xmlns:a16="http://schemas.microsoft.com/office/drawing/2014/main" id="{2F74C05A-E03B-B280-B5A3-2AED99B61684}"/>
              </a:ext>
            </a:extLst>
          </p:cNvPr>
          <p:cNvSpPr>
            <a:spLocks noGrp="1"/>
          </p:cNvSpPr>
          <p:nvPr>
            <p:ph type="sldNum" sz="quarter" idx="5"/>
          </p:nvPr>
        </p:nvSpPr>
        <p:spPr/>
        <p:txBody>
          <a:bodyPr/>
          <a:lstStyle/>
          <a:p>
            <a:fld id="{5FB6A314-5427-40D0-990B-D7B7394C1DDA}" type="slidenum">
              <a:rPr kumimoji="1" lang="ja-JP" altLang="en-US" smtClean="0"/>
              <a:t>23</a:t>
            </a:fld>
            <a:endParaRPr kumimoji="1" lang="ja-JP" altLang="en-US"/>
          </a:p>
        </p:txBody>
      </p:sp>
    </p:spTree>
    <p:extLst>
      <p:ext uri="{BB962C8B-B14F-4D97-AF65-F5344CB8AC3E}">
        <p14:creationId xmlns:p14="http://schemas.microsoft.com/office/powerpoint/2010/main" val="327198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000" b="1">
                <a:latin typeface="+mj-ea"/>
                <a:ea typeface="+mj-ea"/>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游ゴシック Medium" panose="020B0500000000000000" pitchFamily="50" charset="-128"/>
                <a:ea typeface="游ゴシック Medium" panose="020B05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4" name="Date Placeholder 3"/>
          <p:cNvSpPr>
            <a:spLocks noGrp="1"/>
          </p:cNvSpPr>
          <p:nvPr>
            <p:ph type="dt" sz="half" idx="10"/>
          </p:nvPr>
        </p:nvSpPr>
        <p:spPr/>
        <p:txBody>
          <a:bodyPr/>
          <a:lstStyle/>
          <a:p>
            <a:fld id="{9CFBBA7D-9712-464F-AEF6-7347B1E444CA}" type="datetime1">
              <a:rPr kumimoji="1" lang="ja-JP" altLang="en-US" smtClean="0"/>
              <a:t>2025/1/24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6972300" y="6488183"/>
            <a:ext cx="2057400" cy="365125"/>
          </a:xfrm>
        </p:spPr>
        <p:txBody>
          <a:bodyPr/>
          <a:lstStyle/>
          <a:p>
            <a:fld id="{CF4A8B29-95AB-4EB3-9726-7CF76E557B81}" type="slidenum">
              <a:rPr kumimoji="1" lang="ja-JP" altLang="en-US" smtClean="0"/>
              <a:t>‹#›</a:t>
            </a:fld>
            <a:endParaRPr kumimoji="1" lang="ja-JP" altLang="en-US" dirty="0"/>
          </a:p>
        </p:txBody>
      </p:sp>
    </p:spTree>
    <p:extLst>
      <p:ext uri="{BB962C8B-B14F-4D97-AF65-F5344CB8AC3E}">
        <p14:creationId xmlns:p14="http://schemas.microsoft.com/office/powerpoint/2010/main" val="123289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9"/>
            <a:ext cx="7886700" cy="877265"/>
          </a:xfrm>
        </p:spPr>
        <p:txBody>
          <a:bodyPr>
            <a:normAutofit/>
          </a:bodyPr>
          <a:lstStyle>
            <a:lvl1pPr>
              <a:defRPr sz="3200" b="1">
                <a:solidFill>
                  <a:srgbClr val="3F82BE"/>
                </a:solidFill>
                <a:latin typeface="+mj-ea"/>
                <a:ea typeface="+mj-ea"/>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628650" y="1633886"/>
            <a:ext cx="7886700" cy="4351338"/>
          </a:xfrm>
        </p:spPr>
        <p:txBody>
          <a:bodyPr/>
          <a:lstStyle>
            <a:lvl1pPr marL="457200" indent="-457200">
              <a:buSzPct val="100000"/>
              <a:buFont typeface="Arial" panose="020B0604020202020204" pitchFamily="34" charset="0"/>
              <a:buChar char="•"/>
              <a:defRPr>
                <a:latin typeface="Segoe UI" panose="020B0502040204020203" pitchFamily="34" charset="0"/>
                <a:ea typeface="游ゴシック Medium" panose="020B0500000000000000" pitchFamily="50" charset="-128"/>
                <a:cs typeface="Segoe UI" panose="020B0502040204020203" pitchFamily="34" charset="0"/>
              </a:defRPr>
            </a:lvl1pPr>
            <a:lvl2pPr marL="800100" indent="-342900">
              <a:buSzPct val="100000"/>
              <a:buFont typeface="Arial" panose="020B0604020202020204" pitchFamily="34" charset="0"/>
              <a:buChar char="•"/>
              <a:defRPr>
                <a:latin typeface="Segoe UI" panose="020B0502040204020203" pitchFamily="34" charset="0"/>
                <a:ea typeface="游ゴシック Medium" panose="020B0500000000000000" pitchFamily="50" charset="-128"/>
                <a:cs typeface="Segoe UI" panose="020B0502040204020203" pitchFamily="34" charset="0"/>
              </a:defRPr>
            </a:lvl2pPr>
            <a:lvl3pPr marL="1257300" indent="-342900">
              <a:buSzPct val="100000"/>
              <a:buFont typeface="Arial" panose="020B0604020202020204" pitchFamily="34" charset="0"/>
              <a:buChar char="•"/>
              <a:defRPr>
                <a:latin typeface="Segoe UI" panose="020B0502040204020203" pitchFamily="34" charset="0"/>
                <a:ea typeface="游ゴシック Medium" panose="020B0500000000000000" pitchFamily="50" charset="-128"/>
                <a:cs typeface="Segoe UI" panose="020B0502040204020203" pitchFamily="34" charset="0"/>
              </a:defRPr>
            </a:lvl3pPr>
            <a:lvl4pPr marL="1657350" indent="-285750">
              <a:buSzPct val="100000"/>
              <a:buFont typeface="Arial" panose="020B0604020202020204" pitchFamily="34" charset="0"/>
              <a:buChar char="•"/>
              <a:defRPr>
                <a:latin typeface="Segoe UI" panose="020B0502040204020203" pitchFamily="34" charset="0"/>
                <a:ea typeface="游ゴシック Medium" panose="020B0500000000000000" pitchFamily="50" charset="-128"/>
                <a:cs typeface="Segoe UI" panose="020B0502040204020203" pitchFamily="34" charset="0"/>
              </a:defRPr>
            </a:lvl4pPr>
            <a:lvl5pPr marL="2114550" indent="-285750">
              <a:buSzPct val="100000"/>
              <a:buFont typeface="Arial" panose="020B0604020202020204" pitchFamily="34" charset="0"/>
              <a:buChar char="•"/>
              <a:defRPr>
                <a:latin typeface="Segoe UI" panose="020B0502040204020203" pitchFamily="34" charset="0"/>
                <a:ea typeface="游ゴシック Medium" panose="020B0500000000000000" pitchFamily="50" charset="-128"/>
                <a:cs typeface="Segoe UI" panose="020B0502040204020203" pitchFamily="34" charset="0"/>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A2D4EB27-1FBE-42F2-A874-76E7D52E3216}" type="datetime1">
              <a:rPr kumimoji="1" lang="ja-JP" altLang="en-US" smtClean="0"/>
              <a:t>2025/1/24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CE35274D-63FC-F89B-C1B0-4CFE7ADECE4E}"/>
              </a:ext>
            </a:extLst>
          </p:cNvPr>
          <p:cNvCxnSpPr>
            <a:cxnSpLocks/>
          </p:cNvCxnSpPr>
          <p:nvPr userDrawn="1"/>
        </p:nvCxnSpPr>
        <p:spPr>
          <a:xfrm>
            <a:off x="457200" y="974278"/>
            <a:ext cx="8189843" cy="0"/>
          </a:xfrm>
          <a:prstGeom prst="line">
            <a:avLst/>
          </a:prstGeom>
          <a:ln w="28575">
            <a:solidFill>
              <a:srgbClr val="3F82BE"/>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153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1CAC915-7F29-4581-B057-0DE17C471D92}" type="datetime1">
              <a:rPr kumimoji="1" lang="ja-JP" altLang="en-US" smtClean="0"/>
              <a:t>2025/1/24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1039036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1D8AF796-D377-449F-9633-C261B86C75D5}" type="datetime1">
              <a:rPr kumimoji="1" lang="ja-JP" altLang="en-US" smtClean="0"/>
              <a:t>2025/1/24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381281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C22EB55-9921-42D9-891F-B23799D9593A}" type="datetime1">
              <a:rPr kumimoji="1" lang="ja-JP" altLang="en-US" smtClean="0"/>
              <a:t>2025/1/24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2085561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EBC4642-A3DC-4885-92AB-1A4ED9624CD0}" type="datetime1">
              <a:rPr kumimoji="1" lang="ja-JP" altLang="en-US" smtClean="0"/>
              <a:t>2025/1/24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3926946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6FEA60-47B7-4C0F-9AA8-FD60139D0EB7}" type="datetime1">
              <a:rPr kumimoji="1" lang="ja-JP" altLang="en-US" smtClean="0"/>
              <a:t>2025/1/24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2121354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87E5C47-8930-43D6-A43A-88A91BDD1C4B}" type="datetime1">
              <a:rPr kumimoji="1" lang="ja-JP" altLang="en-US" smtClean="0"/>
              <a:t>2025/1/24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2098852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6CFC766-B9A9-4020-9908-A772B613FD42}" type="datetime1">
              <a:rPr kumimoji="1" lang="ja-JP" altLang="en-US" smtClean="0"/>
              <a:t>2025/1/24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786731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FFB0472-3A4B-45C5-AB55-91A56957A324}" type="datetime1">
              <a:rPr kumimoji="1" lang="ja-JP" altLang="en-US" smtClean="0"/>
              <a:t>2025/1/24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1139217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831D21D-4E64-4DB1-93E8-96524E775D30}" type="datetime1">
              <a:rPr kumimoji="1" lang="ja-JP" altLang="en-US" smtClean="0"/>
              <a:t>2025/1/24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F4A8B29-95AB-4EB3-9726-7CF76E557B81}" type="slidenum">
              <a:rPr kumimoji="1" lang="ja-JP" altLang="en-US" smtClean="0"/>
              <a:t>‹#›</a:t>
            </a:fld>
            <a:endParaRPr kumimoji="1" lang="ja-JP" altLang="en-US"/>
          </a:p>
        </p:txBody>
      </p:sp>
    </p:spTree>
    <p:extLst>
      <p:ext uri="{BB962C8B-B14F-4D97-AF65-F5344CB8AC3E}">
        <p14:creationId xmlns:p14="http://schemas.microsoft.com/office/powerpoint/2010/main" val="4032642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latin typeface="游ゴシック Medium" panose="020B0500000000000000" pitchFamily="50" charset="-128"/>
              </a:defRPr>
            </a:lvl1pPr>
          </a:lstStyle>
          <a:p>
            <a:fld id="{F6E297ED-31F9-4D64-97C7-85FA473EEB0A}" type="datetime1">
              <a:rPr kumimoji="1" lang="ja-JP" altLang="en-US" smtClean="0"/>
              <a:pPr/>
              <a:t>2025/1/24</a:t>
            </a:fld>
            <a:endParaRPr kumimoji="1" lang="ja-JP" alt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latin typeface="游ゴシック Medium" panose="020B0500000000000000" pitchFamily="50" charset="-128"/>
              </a:defRPr>
            </a:lvl1pPr>
          </a:lstStyle>
          <a:p>
            <a:endParaRPr kumimoji="1" lang="ja-JP" altLang="en-US" dirty="0"/>
          </a:p>
        </p:txBody>
      </p:sp>
      <p:sp>
        <p:nvSpPr>
          <p:cNvPr id="6" name="Slide Number Placeholder 5"/>
          <p:cNvSpPr>
            <a:spLocks noGrp="1"/>
          </p:cNvSpPr>
          <p:nvPr>
            <p:ph type="sldNum" sz="quarter" idx="4"/>
          </p:nvPr>
        </p:nvSpPr>
        <p:spPr>
          <a:xfrm>
            <a:off x="6915150" y="6356351"/>
            <a:ext cx="2057400" cy="365125"/>
          </a:xfrm>
          <a:prstGeom prst="rect">
            <a:avLst/>
          </a:prstGeom>
        </p:spPr>
        <p:txBody>
          <a:bodyPr vert="horz" lIns="91440" tIns="45720" rIns="91440" bIns="45720" rtlCol="0" anchor="ctr"/>
          <a:lstStyle>
            <a:lvl1pPr algn="r">
              <a:defRPr sz="2000">
                <a:solidFill>
                  <a:schemeClr val="tx1">
                    <a:tint val="82000"/>
                  </a:schemeClr>
                </a:solidFill>
                <a:latin typeface="游ゴシック Medium" panose="020B0500000000000000" pitchFamily="50" charset="-128"/>
              </a:defRPr>
            </a:lvl1pPr>
          </a:lstStyle>
          <a:p>
            <a:fld id="{CF4A8B29-95AB-4EB3-9726-7CF76E557B81}" type="slidenum">
              <a:rPr kumimoji="1" lang="ja-JP" altLang="en-US" smtClean="0"/>
              <a:pPr/>
              <a:t>‹#›</a:t>
            </a:fld>
            <a:endParaRPr kumimoji="1" lang="ja-JP" altLang="en-US" dirty="0"/>
          </a:p>
        </p:txBody>
      </p:sp>
    </p:spTree>
    <p:extLst>
      <p:ext uri="{BB962C8B-B14F-4D97-AF65-F5344CB8AC3E}">
        <p14:creationId xmlns:p14="http://schemas.microsoft.com/office/powerpoint/2010/main" val="11336122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4400" b="1" kern="1200">
          <a:solidFill>
            <a:schemeClr val="tx1"/>
          </a:solidFill>
          <a:latin typeface="+mj-e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B160FE-F483-B19A-574B-C19769FF5E1B}"/>
              </a:ext>
            </a:extLst>
          </p:cNvPr>
          <p:cNvSpPr>
            <a:spLocks noGrp="1"/>
          </p:cNvSpPr>
          <p:nvPr>
            <p:ph type="ctrTitle"/>
          </p:nvPr>
        </p:nvSpPr>
        <p:spPr>
          <a:xfrm>
            <a:off x="349885" y="1537574"/>
            <a:ext cx="8444230" cy="2208052"/>
          </a:xfrm>
        </p:spPr>
        <p:txBody>
          <a:bodyPr>
            <a:normAutofit/>
          </a:bodyPr>
          <a:lstStyle/>
          <a:p>
            <a:pPr>
              <a:lnSpc>
                <a:spcPct val="100000"/>
              </a:lnSpc>
            </a:pPr>
            <a:r>
              <a:rPr kumimoji="1" lang="ja-JP" altLang="en-US" dirty="0">
                <a:solidFill>
                  <a:srgbClr val="3F82BE"/>
                </a:solidFill>
              </a:rPr>
              <a:t>期待表現に着目した</a:t>
            </a:r>
            <a:br>
              <a:rPr kumimoji="1" lang="en-US" altLang="ja-JP" dirty="0">
                <a:solidFill>
                  <a:srgbClr val="3F82BE"/>
                </a:solidFill>
              </a:rPr>
            </a:br>
            <a:r>
              <a:rPr kumimoji="1" lang="ja-JP" altLang="en-US" dirty="0">
                <a:solidFill>
                  <a:srgbClr val="3F82BE"/>
                </a:solidFill>
              </a:rPr>
              <a:t>レビュー文章からの評判情報抽出に</a:t>
            </a:r>
            <a:br>
              <a:rPr kumimoji="1" lang="en-US" altLang="ja-JP" dirty="0">
                <a:solidFill>
                  <a:srgbClr val="3F82BE"/>
                </a:solidFill>
              </a:rPr>
            </a:br>
            <a:r>
              <a:rPr kumimoji="1" lang="ja-JP" altLang="en-US" dirty="0">
                <a:solidFill>
                  <a:srgbClr val="3F82BE"/>
                </a:solidFill>
              </a:rPr>
              <a:t>関する研究</a:t>
            </a:r>
          </a:p>
        </p:txBody>
      </p:sp>
      <p:sp>
        <p:nvSpPr>
          <p:cNvPr id="3" name="字幕 2">
            <a:extLst>
              <a:ext uri="{FF2B5EF4-FFF2-40B4-BE49-F238E27FC236}">
                <a16:creationId xmlns:a16="http://schemas.microsoft.com/office/drawing/2014/main" id="{DC4A0DDE-1299-699D-45F9-8B7B42B70581}"/>
              </a:ext>
            </a:extLst>
          </p:cNvPr>
          <p:cNvSpPr>
            <a:spLocks noGrp="1"/>
          </p:cNvSpPr>
          <p:nvPr>
            <p:ph type="subTitle" idx="1"/>
          </p:nvPr>
        </p:nvSpPr>
        <p:spPr>
          <a:xfrm>
            <a:off x="764540" y="4489154"/>
            <a:ext cx="7614920" cy="1662544"/>
          </a:xfrm>
        </p:spPr>
        <p:txBody>
          <a:bodyPr>
            <a:normAutofit/>
          </a:bodyPr>
          <a:lstStyle/>
          <a:p>
            <a:r>
              <a:rPr kumimoji="1" lang="en-US" altLang="ja-JP" sz="2000" dirty="0"/>
              <a:t>2024</a:t>
            </a:r>
            <a:r>
              <a:rPr kumimoji="1" lang="ja-JP" altLang="en-US" sz="2000" dirty="0"/>
              <a:t>年</a:t>
            </a:r>
            <a:r>
              <a:rPr kumimoji="1" lang="en-US" altLang="ja-JP" sz="2000" dirty="0"/>
              <a:t>2</a:t>
            </a:r>
            <a:r>
              <a:rPr kumimoji="1" lang="ja-JP" altLang="en-US" sz="2000" dirty="0"/>
              <a:t>月</a:t>
            </a:r>
            <a:r>
              <a:rPr lang="en-US" altLang="ja-JP" sz="2000" dirty="0"/>
              <a:t>14</a:t>
            </a:r>
            <a:r>
              <a:rPr kumimoji="1" lang="ja-JP" altLang="en-US" sz="2000" dirty="0"/>
              <a:t>日</a:t>
            </a:r>
            <a:endParaRPr kumimoji="1" lang="en-US" altLang="ja-JP" sz="2000" dirty="0"/>
          </a:p>
          <a:p>
            <a:r>
              <a:rPr kumimoji="1" lang="ja-JP" altLang="en-US" sz="2000" dirty="0"/>
              <a:t>横浜国立大学 理工学部 数物・電子情報系学科 情報工学</a:t>
            </a:r>
            <a:r>
              <a:rPr kumimoji="1" lang="en-US" altLang="ja-JP" sz="2000" dirty="0"/>
              <a:t>EP</a:t>
            </a:r>
          </a:p>
          <a:p>
            <a:pPr>
              <a:lnSpc>
                <a:spcPct val="100000"/>
              </a:lnSpc>
            </a:pPr>
            <a:r>
              <a:rPr kumimoji="1" lang="ja-JP" altLang="en-US" sz="2000" dirty="0"/>
              <a:t>森研究室 </a:t>
            </a:r>
            <a:r>
              <a:rPr kumimoji="1" lang="en-US" altLang="ja-JP" sz="2000" dirty="0"/>
              <a:t>4</a:t>
            </a:r>
            <a:r>
              <a:rPr kumimoji="1" lang="ja-JP" altLang="en-US" sz="2000" dirty="0"/>
              <a:t>年</a:t>
            </a:r>
            <a:endParaRPr kumimoji="1" lang="en-US" altLang="ja-JP" sz="2000" dirty="0"/>
          </a:p>
          <a:p>
            <a:r>
              <a:rPr kumimoji="1" lang="en-US" altLang="ja-JP" sz="2000" dirty="0"/>
              <a:t>2064163 </a:t>
            </a:r>
            <a:r>
              <a:rPr kumimoji="1" lang="ja-JP" altLang="en-US" sz="2000" dirty="0"/>
              <a:t>塚田周平</a:t>
            </a:r>
          </a:p>
        </p:txBody>
      </p:sp>
    </p:spTree>
    <p:extLst>
      <p:ext uri="{BB962C8B-B14F-4D97-AF65-F5344CB8AC3E}">
        <p14:creationId xmlns:p14="http://schemas.microsoft.com/office/powerpoint/2010/main" val="228246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D2307D-7FF2-ACB7-405C-5D17AB99F720}"/>
              </a:ext>
            </a:extLst>
          </p:cNvPr>
          <p:cNvSpPr>
            <a:spLocks noGrp="1"/>
          </p:cNvSpPr>
          <p:nvPr>
            <p:ph type="title"/>
          </p:nvPr>
        </p:nvSpPr>
        <p:spPr/>
        <p:txBody>
          <a:bodyPr/>
          <a:lstStyle/>
          <a:p>
            <a:r>
              <a:rPr kumimoji="1" lang="ja-JP" altLang="en-US" dirty="0">
                <a:solidFill>
                  <a:srgbClr val="3F82BE"/>
                </a:solidFill>
              </a:rPr>
              <a:t>研究背景</a:t>
            </a:r>
          </a:p>
        </p:txBody>
      </p:sp>
      <p:sp>
        <p:nvSpPr>
          <p:cNvPr id="3" name="コンテンツ プレースホルダー 2">
            <a:extLst>
              <a:ext uri="{FF2B5EF4-FFF2-40B4-BE49-F238E27FC236}">
                <a16:creationId xmlns:a16="http://schemas.microsoft.com/office/drawing/2014/main" id="{7A99D2F9-7FEE-F99E-0611-8FB02D7F23A3}"/>
              </a:ext>
            </a:extLst>
          </p:cNvPr>
          <p:cNvSpPr>
            <a:spLocks noGrp="1"/>
          </p:cNvSpPr>
          <p:nvPr>
            <p:ph idx="1"/>
          </p:nvPr>
        </p:nvSpPr>
        <p:spPr>
          <a:xfrm>
            <a:off x="467066" y="1427840"/>
            <a:ext cx="8382294" cy="2626000"/>
          </a:xfrm>
        </p:spPr>
        <p:txBody>
          <a:bodyPr>
            <a:normAutofit/>
          </a:bodyPr>
          <a:lstStyle/>
          <a:p>
            <a:pPr>
              <a:lnSpc>
                <a:spcPct val="130000"/>
              </a:lnSpc>
            </a:pPr>
            <a:r>
              <a:rPr kumimoji="1" lang="en-US" altLang="ja-JP" sz="2400" dirty="0"/>
              <a:t>Amazon</a:t>
            </a:r>
            <a:r>
              <a:rPr kumimoji="1" lang="ja-JP" altLang="en-US" sz="2400" dirty="0"/>
              <a:t>や楽天市場などネットショッピングの利用者は年々増えている</a:t>
            </a:r>
            <a:endParaRPr kumimoji="1" lang="en-US" altLang="ja-JP" sz="2400" dirty="0"/>
          </a:p>
          <a:p>
            <a:pPr>
              <a:lnSpc>
                <a:spcPct val="130000"/>
              </a:lnSpc>
            </a:pPr>
            <a:endParaRPr lang="en-US" altLang="ja-JP" sz="500" dirty="0"/>
          </a:p>
          <a:p>
            <a:pPr>
              <a:lnSpc>
                <a:spcPct val="130000"/>
              </a:lnSpc>
            </a:pPr>
            <a:r>
              <a:rPr kumimoji="1" lang="ja-JP" altLang="en-US" sz="2400" dirty="0"/>
              <a:t>レビューは商品の評価や感想、使用感が記述されており、</a:t>
            </a:r>
            <a:r>
              <a:rPr kumimoji="1" lang="ja-JP" altLang="en-US" sz="2400" b="1" dirty="0">
                <a:latin typeface="+mj-ea"/>
                <a:ea typeface="+mj-ea"/>
              </a:rPr>
              <a:t>自身のニーズに合う商品を選ぶ上で役立つ</a:t>
            </a:r>
            <a:endParaRPr kumimoji="1" lang="en-US" altLang="ja-JP" sz="2400" b="1" dirty="0">
              <a:latin typeface="+mj-ea"/>
              <a:ea typeface="+mj-ea"/>
            </a:endParaRPr>
          </a:p>
        </p:txBody>
      </p:sp>
      <p:sp>
        <p:nvSpPr>
          <p:cNvPr id="4" name="スライド番号プレースホルダー 3">
            <a:extLst>
              <a:ext uri="{FF2B5EF4-FFF2-40B4-BE49-F238E27FC236}">
                <a16:creationId xmlns:a16="http://schemas.microsoft.com/office/drawing/2014/main" id="{2F1C5128-68B8-FE2D-37C7-90D3E936D2A5}"/>
              </a:ext>
            </a:extLst>
          </p:cNvPr>
          <p:cNvSpPr>
            <a:spLocks noGrp="1"/>
          </p:cNvSpPr>
          <p:nvPr>
            <p:ph type="sldNum" sz="quarter" idx="12"/>
          </p:nvPr>
        </p:nvSpPr>
        <p:spPr/>
        <p:txBody>
          <a:bodyPr/>
          <a:lstStyle/>
          <a:p>
            <a:fld id="{CF4A8B29-95AB-4EB3-9726-7CF76E557B81}" type="slidenum">
              <a:rPr kumimoji="1" lang="ja-JP" altLang="en-US" smtClean="0"/>
              <a:t>1</a:t>
            </a:fld>
            <a:endParaRPr kumimoji="1" lang="ja-JP" altLang="en-US"/>
          </a:p>
        </p:txBody>
      </p:sp>
      <p:grpSp>
        <p:nvGrpSpPr>
          <p:cNvPr id="20" name="グループ化 19">
            <a:extLst>
              <a:ext uri="{FF2B5EF4-FFF2-40B4-BE49-F238E27FC236}">
                <a16:creationId xmlns:a16="http://schemas.microsoft.com/office/drawing/2014/main" id="{61B1DF08-0918-0FFA-8F12-8A22E40D4A15}"/>
              </a:ext>
            </a:extLst>
          </p:cNvPr>
          <p:cNvGrpSpPr/>
          <p:nvPr/>
        </p:nvGrpSpPr>
        <p:grpSpPr>
          <a:xfrm>
            <a:off x="1835377" y="4536991"/>
            <a:ext cx="4961112" cy="1819360"/>
            <a:chOff x="1835377" y="4780669"/>
            <a:chExt cx="4961112" cy="1819360"/>
          </a:xfrm>
        </p:grpSpPr>
        <p:grpSp>
          <p:nvGrpSpPr>
            <p:cNvPr id="10" name="グループ化 9">
              <a:extLst>
                <a:ext uri="{FF2B5EF4-FFF2-40B4-BE49-F238E27FC236}">
                  <a16:creationId xmlns:a16="http://schemas.microsoft.com/office/drawing/2014/main" id="{B4C56118-D201-CC9F-6392-EC3E68541599}"/>
                </a:ext>
              </a:extLst>
            </p:cNvPr>
            <p:cNvGrpSpPr/>
            <p:nvPr/>
          </p:nvGrpSpPr>
          <p:grpSpPr>
            <a:xfrm>
              <a:off x="5166097" y="5186431"/>
              <a:ext cx="1630392" cy="1211188"/>
              <a:chOff x="6252354" y="3231876"/>
              <a:chExt cx="1630392" cy="1211188"/>
            </a:xfrm>
          </p:grpSpPr>
          <p:pic>
            <p:nvPicPr>
              <p:cNvPr id="12" name="図 11">
                <a:extLst>
                  <a:ext uri="{FF2B5EF4-FFF2-40B4-BE49-F238E27FC236}">
                    <a16:creationId xmlns:a16="http://schemas.microsoft.com/office/drawing/2014/main" id="{64DB7EC8-F701-02C3-55AE-EE583AD5C6FA}"/>
                  </a:ext>
                </a:extLst>
              </p:cNvPr>
              <p:cNvPicPr>
                <a:picLocks noChangeAspect="1"/>
              </p:cNvPicPr>
              <p:nvPr/>
            </p:nvPicPr>
            <p:blipFill>
              <a:blip/>
              <a:stretch>
                <a:fillRect/>
              </a:stretch>
            </p:blipFill>
            <p:spPr>
              <a:xfrm>
                <a:off x="6252354" y="3231876"/>
                <a:ext cx="1325592" cy="906388"/>
              </a:xfrm>
              <a:prstGeom prst="rect">
                <a:avLst/>
              </a:prstGeom>
              <a:ln w="19050">
                <a:solidFill>
                  <a:schemeClr val="tx1"/>
                </a:solidFill>
              </a:ln>
            </p:spPr>
          </p:pic>
          <p:pic>
            <p:nvPicPr>
              <p:cNvPr id="13" name="図 12">
                <a:extLst>
                  <a:ext uri="{FF2B5EF4-FFF2-40B4-BE49-F238E27FC236}">
                    <a16:creationId xmlns:a16="http://schemas.microsoft.com/office/drawing/2014/main" id="{C7EC5B01-D38B-0ED7-F4B2-2649B60D2E48}"/>
                  </a:ext>
                </a:extLst>
              </p:cNvPr>
              <p:cNvPicPr>
                <a:picLocks noChangeAspect="1"/>
              </p:cNvPicPr>
              <p:nvPr/>
            </p:nvPicPr>
            <p:blipFill>
              <a:blip/>
              <a:stretch>
                <a:fillRect/>
              </a:stretch>
            </p:blipFill>
            <p:spPr>
              <a:xfrm>
                <a:off x="6404754" y="3384276"/>
                <a:ext cx="1325592" cy="906388"/>
              </a:xfrm>
              <a:prstGeom prst="rect">
                <a:avLst/>
              </a:prstGeom>
              <a:ln w="19050">
                <a:solidFill>
                  <a:schemeClr val="tx1"/>
                </a:solidFill>
              </a:ln>
            </p:spPr>
          </p:pic>
          <p:pic>
            <p:nvPicPr>
              <p:cNvPr id="14" name="図 13">
                <a:extLst>
                  <a:ext uri="{FF2B5EF4-FFF2-40B4-BE49-F238E27FC236}">
                    <a16:creationId xmlns:a16="http://schemas.microsoft.com/office/drawing/2014/main" id="{543D2C41-9B55-0DC5-2E47-35485B6EE56A}"/>
                  </a:ext>
                </a:extLst>
              </p:cNvPr>
              <p:cNvPicPr>
                <a:picLocks noChangeAspect="1"/>
              </p:cNvPicPr>
              <p:nvPr/>
            </p:nvPicPr>
            <p:blipFill>
              <a:blip/>
              <a:stretch>
                <a:fillRect/>
              </a:stretch>
            </p:blipFill>
            <p:spPr>
              <a:xfrm>
                <a:off x="6557154" y="3536676"/>
                <a:ext cx="1325592" cy="906388"/>
              </a:xfrm>
              <a:prstGeom prst="rect">
                <a:avLst/>
              </a:prstGeom>
              <a:ln w="19050">
                <a:solidFill>
                  <a:schemeClr val="tx1"/>
                </a:solidFill>
              </a:ln>
            </p:spPr>
          </p:pic>
        </p:grpSp>
        <p:sp>
          <p:nvSpPr>
            <p:cNvPr id="17" name="ストライプ矢印 16">
              <a:extLst>
                <a:ext uri="{FF2B5EF4-FFF2-40B4-BE49-F238E27FC236}">
                  <a16:creationId xmlns:a16="http://schemas.microsoft.com/office/drawing/2014/main" id="{406C17A8-F1D9-BE6E-A2E1-C0F36D2A236E}"/>
                </a:ext>
              </a:extLst>
            </p:cNvPr>
            <p:cNvSpPr/>
            <p:nvPr/>
          </p:nvSpPr>
          <p:spPr>
            <a:xfrm>
              <a:off x="4071871" y="5370606"/>
              <a:ext cx="678684" cy="538037"/>
            </a:xfrm>
            <a:prstGeom prst="strip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98" name="Picture 2" descr="ネットショッピングイラスト｜無料イラスト・フリー素材なら「イラストAC」">
              <a:extLst>
                <a:ext uri="{FF2B5EF4-FFF2-40B4-BE49-F238E27FC236}">
                  <a16:creationId xmlns:a16="http://schemas.microsoft.com/office/drawing/2014/main" id="{467433B4-6530-1BAE-2341-BA11FB2D450C}"/>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835377" y="4780669"/>
              <a:ext cx="1819360" cy="181936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77841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B64EC-20F2-99F5-19B8-E827704F7A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B0C8C6-6577-E7AC-8D76-FAEB6B2D466D}"/>
              </a:ext>
            </a:extLst>
          </p:cNvPr>
          <p:cNvSpPr>
            <a:spLocks noGrp="1"/>
          </p:cNvSpPr>
          <p:nvPr>
            <p:ph type="title"/>
          </p:nvPr>
        </p:nvSpPr>
        <p:spPr/>
        <p:txBody>
          <a:bodyPr/>
          <a:lstStyle/>
          <a:p>
            <a:r>
              <a:rPr kumimoji="1" lang="ja-JP" altLang="en-US" dirty="0"/>
              <a:t>研究背景</a:t>
            </a:r>
          </a:p>
        </p:txBody>
      </p:sp>
      <p:sp>
        <p:nvSpPr>
          <p:cNvPr id="4" name="スライド番号プレースホルダー 3">
            <a:extLst>
              <a:ext uri="{FF2B5EF4-FFF2-40B4-BE49-F238E27FC236}">
                <a16:creationId xmlns:a16="http://schemas.microsoft.com/office/drawing/2014/main" id="{18E01584-5B19-EDD4-953E-78FE05409718}"/>
              </a:ext>
            </a:extLst>
          </p:cNvPr>
          <p:cNvSpPr>
            <a:spLocks noGrp="1"/>
          </p:cNvSpPr>
          <p:nvPr>
            <p:ph type="sldNum" sz="quarter" idx="12"/>
          </p:nvPr>
        </p:nvSpPr>
        <p:spPr/>
        <p:txBody>
          <a:bodyPr/>
          <a:lstStyle/>
          <a:p>
            <a:fld id="{CF4A8B29-95AB-4EB3-9726-7CF76E557B81}" type="slidenum">
              <a:rPr kumimoji="1" lang="ja-JP" altLang="en-US" smtClean="0"/>
              <a:t>2</a:t>
            </a:fld>
            <a:endParaRPr kumimoji="1" lang="ja-JP" altLang="en-US"/>
          </a:p>
        </p:txBody>
      </p:sp>
      <p:sp>
        <p:nvSpPr>
          <p:cNvPr id="5" name="テキスト ボックス 4">
            <a:extLst>
              <a:ext uri="{FF2B5EF4-FFF2-40B4-BE49-F238E27FC236}">
                <a16:creationId xmlns:a16="http://schemas.microsoft.com/office/drawing/2014/main" id="{5AE2657C-DA32-C65D-5BE6-13265F01C75B}"/>
              </a:ext>
            </a:extLst>
          </p:cNvPr>
          <p:cNvSpPr txBox="1"/>
          <p:nvPr/>
        </p:nvSpPr>
        <p:spPr>
          <a:xfrm>
            <a:off x="1298574" y="2327258"/>
            <a:ext cx="6645276" cy="830997"/>
          </a:xfrm>
          <a:prstGeom prst="rect">
            <a:avLst/>
          </a:prstGeom>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indent="0">
              <a:buNone/>
            </a:pPr>
            <a:r>
              <a:rPr lang="ja-JP" altLang="en-US" sz="2400" dirty="0">
                <a:solidFill>
                  <a:schemeClr val="tx1"/>
                </a:solidFill>
              </a:rPr>
              <a:t>〇 </a:t>
            </a:r>
            <a:r>
              <a:rPr kumimoji="1" lang="ja-JP" altLang="en-US" sz="2400" dirty="0"/>
              <a:t>レビューは商品ごとに数多く存在する</a:t>
            </a:r>
            <a:endParaRPr kumimoji="1" lang="en-US" altLang="ja-JP" sz="2400" dirty="0"/>
          </a:p>
          <a:p>
            <a:pPr marL="0" indent="0">
              <a:buNone/>
            </a:pPr>
            <a:r>
              <a:rPr lang="ja-JP" altLang="en-US" sz="2400" dirty="0">
                <a:solidFill>
                  <a:schemeClr val="tx1"/>
                </a:solidFill>
              </a:rPr>
              <a:t>〇 </a:t>
            </a:r>
            <a:r>
              <a:rPr kumimoji="1" lang="ja-JP" altLang="en-US" sz="2400" dirty="0"/>
              <a:t>全てに目を通すのは難しい</a:t>
            </a:r>
            <a:endParaRPr kumimoji="1" lang="en-US" altLang="ja-JP" sz="2400" dirty="0"/>
          </a:p>
        </p:txBody>
      </p:sp>
      <p:sp>
        <p:nvSpPr>
          <p:cNvPr id="6" name="矢印: 下 5">
            <a:extLst>
              <a:ext uri="{FF2B5EF4-FFF2-40B4-BE49-F238E27FC236}">
                <a16:creationId xmlns:a16="http://schemas.microsoft.com/office/drawing/2014/main" id="{35A41471-A163-9E41-051B-D87C3E61E08B}"/>
              </a:ext>
            </a:extLst>
          </p:cNvPr>
          <p:cNvSpPr/>
          <p:nvPr/>
        </p:nvSpPr>
        <p:spPr>
          <a:xfrm>
            <a:off x="4187190" y="3429000"/>
            <a:ext cx="769620" cy="438458"/>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26E0FB6-959C-8537-D383-2F728DFF740D}"/>
              </a:ext>
            </a:extLst>
          </p:cNvPr>
          <p:cNvSpPr txBox="1"/>
          <p:nvPr/>
        </p:nvSpPr>
        <p:spPr>
          <a:xfrm>
            <a:off x="775507" y="4465525"/>
            <a:ext cx="8037830" cy="830997"/>
          </a:xfrm>
          <a:prstGeom prst="rect">
            <a:avLst/>
          </a:prstGeom>
          <a:noFill/>
        </p:spPr>
        <p:txBody>
          <a:bodyPr wrap="square" rtlCol="0">
            <a:spAutoFit/>
          </a:bodyPr>
          <a:lstStyle/>
          <a:p>
            <a:r>
              <a:rPr kumimoji="1" lang="ja-JP" altLang="en-US" sz="2400" u="sng" dirty="0"/>
              <a:t>レビューから必要な情報を自動的に抽出するシステム</a:t>
            </a:r>
            <a:r>
              <a:rPr kumimoji="1" lang="ja-JP" altLang="en-US" sz="2400" dirty="0"/>
              <a:t>の必要性がある</a:t>
            </a:r>
          </a:p>
        </p:txBody>
      </p:sp>
      <p:sp>
        <p:nvSpPr>
          <p:cNvPr id="11" name="テキスト ボックス 10">
            <a:extLst>
              <a:ext uri="{FF2B5EF4-FFF2-40B4-BE49-F238E27FC236}">
                <a16:creationId xmlns:a16="http://schemas.microsoft.com/office/drawing/2014/main" id="{0D58ED60-9FC3-2571-2CD2-06A6E12193C2}"/>
              </a:ext>
            </a:extLst>
          </p:cNvPr>
          <p:cNvSpPr txBox="1"/>
          <p:nvPr/>
        </p:nvSpPr>
        <p:spPr>
          <a:xfrm>
            <a:off x="553085" y="1636761"/>
            <a:ext cx="2571750" cy="461665"/>
          </a:xfrm>
          <a:prstGeom prst="rect">
            <a:avLst/>
          </a:prstGeom>
          <a:noFill/>
        </p:spPr>
        <p:txBody>
          <a:bodyPr wrap="square" rtlCol="0">
            <a:spAutoFit/>
          </a:bodyPr>
          <a:lstStyle/>
          <a:p>
            <a:r>
              <a:rPr kumimoji="1" lang="ja-JP" altLang="en-US" sz="2400" dirty="0"/>
              <a:t>しかし</a:t>
            </a:r>
            <a:r>
              <a:rPr kumimoji="1" lang="en-US" altLang="ja-JP" sz="2400" dirty="0"/>
              <a:t>…</a:t>
            </a:r>
            <a:endParaRPr kumimoji="1" lang="ja-JP" altLang="en-US" sz="2400" dirty="0"/>
          </a:p>
        </p:txBody>
      </p:sp>
    </p:spTree>
    <p:extLst>
      <p:ext uri="{BB962C8B-B14F-4D97-AF65-F5344CB8AC3E}">
        <p14:creationId xmlns:p14="http://schemas.microsoft.com/office/powerpoint/2010/main" val="3238296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A9CDB8-8DE5-246D-355C-B96DD01DE40C}"/>
              </a:ext>
            </a:extLst>
          </p:cNvPr>
          <p:cNvSpPr>
            <a:spLocks noGrp="1"/>
          </p:cNvSpPr>
          <p:nvPr>
            <p:ph type="title"/>
          </p:nvPr>
        </p:nvSpPr>
        <p:spPr/>
        <p:txBody>
          <a:bodyPr/>
          <a:lstStyle/>
          <a:p>
            <a:r>
              <a:rPr kumimoji="1" lang="ja-JP" altLang="en-US" dirty="0">
                <a:latin typeface="+mj-ea"/>
                <a:ea typeface="+mj-ea"/>
              </a:rPr>
              <a:t>関連研究</a:t>
            </a:r>
          </a:p>
        </p:txBody>
      </p:sp>
      <p:sp>
        <p:nvSpPr>
          <p:cNvPr id="3" name="コンテンツ プレースホルダー 2">
            <a:extLst>
              <a:ext uri="{FF2B5EF4-FFF2-40B4-BE49-F238E27FC236}">
                <a16:creationId xmlns:a16="http://schemas.microsoft.com/office/drawing/2014/main" id="{8C4788A6-0198-65CC-7255-C3ABCDB0D809}"/>
              </a:ext>
            </a:extLst>
          </p:cNvPr>
          <p:cNvSpPr>
            <a:spLocks noGrp="1"/>
          </p:cNvSpPr>
          <p:nvPr>
            <p:ph idx="1"/>
          </p:nvPr>
        </p:nvSpPr>
        <p:spPr>
          <a:xfrm>
            <a:off x="562610" y="1529305"/>
            <a:ext cx="8002270" cy="1476000"/>
          </a:xfrm>
          <a:ln w="19050">
            <a:noFill/>
          </a:ln>
        </p:spPr>
        <p:txBody>
          <a:bodyPr>
            <a:normAutofit/>
          </a:bodyPr>
          <a:lstStyle/>
          <a:p>
            <a:pPr marL="0" indent="0">
              <a:buNone/>
            </a:pPr>
            <a:endParaRPr lang="en-US" altLang="ja-JP" sz="100" b="1" dirty="0">
              <a:solidFill>
                <a:srgbClr val="FF0000"/>
              </a:solidFill>
              <a:latin typeface="+mj-ea"/>
              <a:ea typeface="+mj-ea"/>
            </a:endParaRPr>
          </a:p>
          <a:p>
            <a:pPr marL="0" indent="0">
              <a:buNone/>
            </a:pPr>
            <a:r>
              <a:rPr lang="ja-JP" altLang="en-US" b="1" dirty="0">
                <a:solidFill>
                  <a:srgbClr val="FF0000"/>
                </a:solidFill>
                <a:latin typeface="+mj-ea"/>
                <a:ea typeface="+mj-ea"/>
              </a:rPr>
              <a:t>評判情報抽出</a:t>
            </a:r>
            <a:endParaRPr lang="en-US" altLang="ja-JP" b="1" dirty="0">
              <a:solidFill>
                <a:srgbClr val="FF0000"/>
              </a:solidFill>
              <a:latin typeface="+mj-ea"/>
              <a:ea typeface="+mj-ea"/>
            </a:endParaRPr>
          </a:p>
          <a:p>
            <a:pPr marL="180975" indent="0">
              <a:buNone/>
            </a:pPr>
            <a:r>
              <a:rPr lang="ja-JP" altLang="en-US" sz="2400" dirty="0"/>
              <a:t>特定の商品やサービスに対する意見をその根拠とともに抽出する技術</a:t>
            </a:r>
            <a:endParaRPr lang="en-US" altLang="ja-JP" sz="2000" dirty="0"/>
          </a:p>
        </p:txBody>
      </p:sp>
      <p:sp>
        <p:nvSpPr>
          <p:cNvPr id="4" name="スライド番号プレースホルダー 3">
            <a:extLst>
              <a:ext uri="{FF2B5EF4-FFF2-40B4-BE49-F238E27FC236}">
                <a16:creationId xmlns:a16="http://schemas.microsoft.com/office/drawing/2014/main" id="{C5051E5D-0240-0F99-4B7A-64D0AA3C9BCC}"/>
              </a:ext>
            </a:extLst>
          </p:cNvPr>
          <p:cNvSpPr>
            <a:spLocks noGrp="1"/>
          </p:cNvSpPr>
          <p:nvPr>
            <p:ph type="sldNum" sz="quarter" idx="12"/>
          </p:nvPr>
        </p:nvSpPr>
        <p:spPr/>
        <p:txBody>
          <a:bodyPr/>
          <a:lstStyle/>
          <a:p>
            <a:fld id="{CF4A8B29-95AB-4EB3-9726-7CF76E557B81}" type="slidenum">
              <a:rPr kumimoji="1" lang="ja-JP" altLang="en-US" smtClean="0"/>
              <a:t>3</a:t>
            </a:fld>
            <a:endParaRPr kumimoji="1" lang="ja-JP" altLang="en-US"/>
          </a:p>
        </p:txBody>
      </p:sp>
      <p:sp>
        <p:nvSpPr>
          <p:cNvPr id="21" name="テキスト ボックス 20">
            <a:extLst>
              <a:ext uri="{FF2B5EF4-FFF2-40B4-BE49-F238E27FC236}">
                <a16:creationId xmlns:a16="http://schemas.microsoft.com/office/drawing/2014/main" id="{85C744A6-2308-136D-335E-0BFCD43183D8}"/>
              </a:ext>
            </a:extLst>
          </p:cNvPr>
          <p:cNvSpPr txBox="1"/>
          <p:nvPr/>
        </p:nvSpPr>
        <p:spPr>
          <a:xfrm>
            <a:off x="771095" y="4170645"/>
            <a:ext cx="7799070" cy="707886"/>
          </a:xfrm>
          <a:prstGeom prst="rect">
            <a:avLst/>
          </a:prstGeom>
          <a:noFill/>
        </p:spPr>
        <p:txBody>
          <a:bodyPr wrap="square" rtlCol="0">
            <a:spAutoFit/>
          </a:bodyPr>
          <a:lstStyle/>
          <a:p>
            <a:pPr marL="342900" indent="-342900">
              <a:buFont typeface="Arial" panose="020B0604020202020204" pitchFamily="34" charset="0"/>
              <a:buChar char="•"/>
            </a:pPr>
            <a:r>
              <a:rPr lang="ja-JP" altLang="en-US" sz="2000" dirty="0"/>
              <a:t>評判情報を｛項目</a:t>
            </a:r>
            <a:r>
              <a:rPr lang="en-US" altLang="ja-JP" sz="2000" dirty="0"/>
              <a:t>, </a:t>
            </a:r>
            <a:r>
              <a:rPr lang="ja-JP" altLang="en-US" sz="2000" dirty="0"/>
              <a:t>属性</a:t>
            </a:r>
            <a:r>
              <a:rPr lang="en-US" altLang="ja-JP" sz="2000" dirty="0"/>
              <a:t>,</a:t>
            </a:r>
            <a:r>
              <a:rPr lang="ja-JP" altLang="en-US" sz="2000" dirty="0"/>
              <a:t> 属性値</a:t>
            </a:r>
            <a:r>
              <a:rPr lang="en-US" altLang="ja-JP" sz="2000" dirty="0"/>
              <a:t>,</a:t>
            </a:r>
            <a:r>
              <a:rPr lang="ja-JP" altLang="en-US" sz="2000" dirty="0"/>
              <a:t> 評価｝の</a:t>
            </a:r>
            <a:r>
              <a:rPr lang="en-US" altLang="ja-JP" sz="2000" dirty="0"/>
              <a:t>4</a:t>
            </a:r>
            <a:r>
              <a:rPr lang="ja-JP" altLang="en-US" sz="2000" dirty="0"/>
              <a:t>項組で定義し、</a:t>
            </a:r>
            <a:br>
              <a:rPr lang="en-US" altLang="ja-JP" sz="2000" dirty="0"/>
            </a:br>
            <a:r>
              <a:rPr lang="ja-JP" altLang="en-US" sz="2000" dirty="0"/>
              <a:t>コーパスの作成実験を行った。</a:t>
            </a:r>
            <a:endParaRPr lang="en-US" altLang="ja-JP" sz="2000" dirty="0"/>
          </a:p>
        </p:txBody>
      </p:sp>
      <p:grpSp>
        <p:nvGrpSpPr>
          <p:cNvPr id="37" name="グループ化 36">
            <a:extLst>
              <a:ext uri="{FF2B5EF4-FFF2-40B4-BE49-F238E27FC236}">
                <a16:creationId xmlns:a16="http://schemas.microsoft.com/office/drawing/2014/main" id="{AC7254CB-6929-8D45-C98F-465F6F00868D}"/>
              </a:ext>
            </a:extLst>
          </p:cNvPr>
          <p:cNvGrpSpPr/>
          <p:nvPr/>
        </p:nvGrpSpPr>
        <p:grpSpPr>
          <a:xfrm>
            <a:off x="771095" y="5118091"/>
            <a:ext cx="7377430" cy="813101"/>
            <a:chOff x="566420" y="4406222"/>
            <a:chExt cx="7377430" cy="813101"/>
          </a:xfrm>
        </p:grpSpPr>
        <p:grpSp>
          <p:nvGrpSpPr>
            <p:cNvPr id="36" name="グループ化 35">
              <a:extLst>
                <a:ext uri="{FF2B5EF4-FFF2-40B4-BE49-F238E27FC236}">
                  <a16:creationId xmlns:a16="http://schemas.microsoft.com/office/drawing/2014/main" id="{AF4C95C7-BDDA-81FC-3EA0-7165DD8066BB}"/>
                </a:ext>
              </a:extLst>
            </p:cNvPr>
            <p:cNvGrpSpPr/>
            <p:nvPr/>
          </p:nvGrpSpPr>
          <p:grpSpPr>
            <a:xfrm>
              <a:off x="566420" y="4406222"/>
              <a:ext cx="7377430" cy="813101"/>
              <a:chOff x="566420" y="4406222"/>
              <a:chExt cx="7377430" cy="813101"/>
            </a:xfrm>
          </p:grpSpPr>
          <p:sp>
            <p:nvSpPr>
              <p:cNvPr id="20" name="テキスト ボックス 19">
                <a:extLst>
                  <a:ext uri="{FF2B5EF4-FFF2-40B4-BE49-F238E27FC236}">
                    <a16:creationId xmlns:a16="http://schemas.microsoft.com/office/drawing/2014/main" id="{E82A9B5D-8639-24FB-0355-E0BC5FE24247}"/>
                  </a:ext>
                </a:extLst>
              </p:cNvPr>
              <p:cNvSpPr txBox="1"/>
              <p:nvPr/>
            </p:nvSpPr>
            <p:spPr>
              <a:xfrm>
                <a:off x="566420" y="4406222"/>
                <a:ext cx="7377430" cy="400110"/>
              </a:xfrm>
              <a:prstGeom prst="rect">
                <a:avLst/>
              </a:prstGeom>
              <a:noFill/>
            </p:spPr>
            <p:txBody>
              <a:bodyPr wrap="square" rtlCol="0">
                <a:spAutoFit/>
              </a:bodyPr>
              <a:lstStyle/>
              <a:p>
                <a:pPr marL="0" indent="0">
                  <a:buNone/>
                </a:pPr>
                <a:r>
                  <a:rPr lang="ja-JP" altLang="en-US" sz="2000" dirty="0"/>
                  <a:t>例：「この製品はお値段が安くて感激です。」</a:t>
                </a:r>
                <a:endParaRPr lang="en-US" altLang="ja-JP" sz="2000" dirty="0"/>
              </a:p>
            </p:txBody>
          </p:sp>
          <p:cxnSp>
            <p:nvCxnSpPr>
              <p:cNvPr id="7" name="直線コネクタ 6">
                <a:extLst>
                  <a:ext uri="{FF2B5EF4-FFF2-40B4-BE49-F238E27FC236}">
                    <a16:creationId xmlns:a16="http://schemas.microsoft.com/office/drawing/2014/main" id="{BE3AFD1D-0E44-7F00-EF94-039620E750F7}"/>
                  </a:ext>
                </a:extLst>
              </p:cNvPr>
              <p:cNvCxnSpPr>
                <a:cxnSpLocks/>
              </p:cNvCxnSpPr>
              <p:nvPr/>
            </p:nvCxnSpPr>
            <p:spPr>
              <a:xfrm>
                <a:off x="1393927" y="4800243"/>
                <a:ext cx="1072751"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22CF572D-A535-6E54-C1B0-0E0F1F35CEFD}"/>
                  </a:ext>
                </a:extLst>
              </p:cNvPr>
              <p:cNvSpPr txBox="1"/>
              <p:nvPr/>
            </p:nvSpPr>
            <p:spPr>
              <a:xfrm>
                <a:off x="1594021" y="4826481"/>
                <a:ext cx="737136" cy="369332"/>
              </a:xfrm>
              <a:prstGeom prst="rect">
                <a:avLst/>
              </a:prstGeom>
              <a:noFill/>
            </p:spPr>
            <p:txBody>
              <a:bodyPr wrap="square" rtlCol="0">
                <a:spAutoFit/>
              </a:bodyPr>
              <a:lstStyle/>
              <a:p>
                <a:pPr algn="ctr"/>
                <a:r>
                  <a:rPr kumimoji="1" lang="ja-JP" altLang="en-US" dirty="0">
                    <a:solidFill>
                      <a:srgbClr val="0070C0"/>
                    </a:solidFill>
                  </a:rPr>
                  <a:t>項目</a:t>
                </a:r>
              </a:p>
            </p:txBody>
          </p:sp>
          <p:cxnSp>
            <p:nvCxnSpPr>
              <p:cNvPr id="27" name="直線コネクタ 26">
                <a:extLst>
                  <a:ext uri="{FF2B5EF4-FFF2-40B4-BE49-F238E27FC236}">
                    <a16:creationId xmlns:a16="http://schemas.microsoft.com/office/drawing/2014/main" id="{3F35D3C5-C207-D5F9-E356-1C4054F21ABA}"/>
                  </a:ext>
                </a:extLst>
              </p:cNvPr>
              <p:cNvCxnSpPr>
                <a:cxnSpLocks/>
                <a:endCxn id="20" idx="2"/>
              </p:cNvCxnSpPr>
              <p:nvPr/>
            </p:nvCxnSpPr>
            <p:spPr>
              <a:xfrm>
                <a:off x="3717750" y="4800243"/>
                <a:ext cx="537385" cy="608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B8E50953-29F2-A04B-90AA-1DDF48FDEDBA}"/>
                  </a:ext>
                </a:extLst>
              </p:cNvPr>
              <p:cNvSpPr txBox="1"/>
              <p:nvPr/>
            </p:nvSpPr>
            <p:spPr>
              <a:xfrm>
                <a:off x="2632061" y="4849991"/>
                <a:ext cx="920017" cy="369332"/>
              </a:xfrm>
              <a:prstGeom prst="rect">
                <a:avLst/>
              </a:prstGeom>
              <a:noFill/>
            </p:spPr>
            <p:txBody>
              <a:bodyPr wrap="square" rtlCol="0">
                <a:spAutoFit/>
              </a:bodyPr>
              <a:lstStyle/>
              <a:p>
                <a:pPr algn="ctr"/>
                <a:r>
                  <a:rPr kumimoji="1" lang="ja-JP" altLang="en-US" dirty="0">
                    <a:solidFill>
                      <a:srgbClr val="0070C0"/>
                    </a:solidFill>
                  </a:rPr>
                  <a:t>属性</a:t>
                </a:r>
              </a:p>
            </p:txBody>
          </p:sp>
          <p:sp>
            <p:nvSpPr>
              <p:cNvPr id="34" name="テキスト ボックス 33">
                <a:extLst>
                  <a:ext uri="{FF2B5EF4-FFF2-40B4-BE49-F238E27FC236}">
                    <a16:creationId xmlns:a16="http://schemas.microsoft.com/office/drawing/2014/main" id="{64C10A71-9234-919E-E7FC-9D8346D1B556}"/>
                  </a:ext>
                </a:extLst>
              </p:cNvPr>
              <p:cNvSpPr txBox="1"/>
              <p:nvPr/>
            </p:nvSpPr>
            <p:spPr>
              <a:xfrm>
                <a:off x="4363598" y="4849991"/>
                <a:ext cx="847412" cy="369332"/>
              </a:xfrm>
              <a:prstGeom prst="rect">
                <a:avLst/>
              </a:prstGeom>
              <a:noFill/>
            </p:spPr>
            <p:txBody>
              <a:bodyPr wrap="square" rtlCol="0">
                <a:spAutoFit/>
              </a:bodyPr>
              <a:lstStyle/>
              <a:p>
                <a:pPr algn="ctr"/>
                <a:r>
                  <a:rPr kumimoji="1" lang="ja-JP" altLang="en-US" dirty="0">
                    <a:solidFill>
                      <a:srgbClr val="0070C0"/>
                    </a:solidFill>
                  </a:rPr>
                  <a:t>評価</a:t>
                </a:r>
              </a:p>
            </p:txBody>
          </p:sp>
          <p:sp>
            <p:nvSpPr>
              <p:cNvPr id="35" name="テキスト ボックス 34">
                <a:extLst>
                  <a:ext uri="{FF2B5EF4-FFF2-40B4-BE49-F238E27FC236}">
                    <a16:creationId xmlns:a16="http://schemas.microsoft.com/office/drawing/2014/main" id="{20F98C41-3A87-32AB-32CA-0A724B5A1660}"/>
                  </a:ext>
                </a:extLst>
              </p:cNvPr>
              <p:cNvSpPr txBox="1"/>
              <p:nvPr/>
            </p:nvSpPr>
            <p:spPr>
              <a:xfrm>
                <a:off x="3498564" y="4849991"/>
                <a:ext cx="1007839" cy="369332"/>
              </a:xfrm>
              <a:prstGeom prst="rect">
                <a:avLst/>
              </a:prstGeom>
              <a:noFill/>
            </p:spPr>
            <p:txBody>
              <a:bodyPr wrap="square" rtlCol="0">
                <a:spAutoFit/>
              </a:bodyPr>
              <a:lstStyle/>
              <a:p>
                <a:pPr algn="ctr"/>
                <a:r>
                  <a:rPr kumimoji="1" lang="ja-JP" altLang="en-US" dirty="0">
                    <a:solidFill>
                      <a:srgbClr val="0070C0"/>
                    </a:solidFill>
                  </a:rPr>
                  <a:t>属性値</a:t>
                </a:r>
              </a:p>
            </p:txBody>
          </p:sp>
        </p:grpSp>
        <p:cxnSp>
          <p:nvCxnSpPr>
            <p:cNvPr id="24" name="直線コネクタ 23">
              <a:extLst>
                <a:ext uri="{FF2B5EF4-FFF2-40B4-BE49-F238E27FC236}">
                  <a16:creationId xmlns:a16="http://schemas.microsoft.com/office/drawing/2014/main" id="{7B0C3074-6A77-5CEC-0616-3A9A4B88D4B9}"/>
                </a:ext>
              </a:extLst>
            </p:cNvPr>
            <p:cNvCxnSpPr>
              <a:cxnSpLocks/>
            </p:cNvCxnSpPr>
            <p:nvPr/>
          </p:nvCxnSpPr>
          <p:spPr>
            <a:xfrm>
              <a:off x="2721783" y="4788010"/>
              <a:ext cx="740575"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7D71292D-3A24-622D-1453-1178A3B48C93}"/>
                </a:ext>
              </a:extLst>
            </p:cNvPr>
            <p:cNvCxnSpPr>
              <a:cxnSpLocks/>
            </p:cNvCxnSpPr>
            <p:nvPr/>
          </p:nvCxnSpPr>
          <p:spPr>
            <a:xfrm>
              <a:off x="4481969" y="4788010"/>
              <a:ext cx="61067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6" name="コンテンツ プレースホルダー 2">
            <a:extLst>
              <a:ext uri="{FF2B5EF4-FFF2-40B4-BE49-F238E27FC236}">
                <a16:creationId xmlns:a16="http://schemas.microsoft.com/office/drawing/2014/main" id="{0C0984E5-4D7E-7AE1-400F-3C41BE6E5529}"/>
              </a:ext>
            </a:extLst>
          </p:cNvPr>
          <p:cNvSpPr txBox="1">
            <a:spLocks/>
          </p:cNvSpPr>
          <p:nvPr/>
        </p:nvSpPr>
        <p:spPr>
          <a:xfrm>
            <a:off x="457200" y="3681108"/>
            <a:ext cx="3253493" cy="465603"/>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SzPct val="100000"/>
              <a:buFont typeface="Arial" panose="020B0604020202020204" pitchFamily="34" charset="0"/>
              <a:buChar char="•"/>
              <a:defRPr kumimoji="1" sz="2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1pPr>
            <a:lvl2pPr marL="800100" indent="-342900" algn="l" defTabSz="914400" rtl="0" eaLnBrk="1" latinLnBrk="0" hangingPunct="1">
              <a:lnSpc>
                <a:spcPct val="90000"/>
              </a:lnSpc>
              <a:spcBef>
                <a:spcPts val="500"/>
              </a:spcBef>
              <a:buSzPct val="100000"/>
              <a:buFont typeface="Arial" panose="020B0604020202020204" pitchFamily="34" charset="0"/>
              <a:buChar char="•"/>
              <a:defRPr kumimoji="1" sz="24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2pPr>
            <a:lvl3pPr marL="1257300" indent="-342900" algn="l" defTabSz="914400" rtl="0" eaLnBrk="1" latinLnBrk="0" hangingPunct="1">
              <a:lnSpc>
                <a:spcPct val="90000"/>
              </a:lnSpc>
              <a:spcBef>
                <a:spcPts val="500"/>
              </a:spcBef>
              <a:buSzPct val="100000"/>
              <a:buFont typeface="Arial" panose="020B0604020202020204" pitchFamily="34" charset="0"/>
              <a:buChar char="•"/>
              <a:defRPr kumimoji="1" sz="20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3pPr>
            <a:lvl4pPr marL="1657350" indent="-285750" algn="l" defTabSz="914400" rtl="0" eaLnBrk="1" latinLnBrk="0" hangingPunct="1">
              <a:lnSpc>
                <a:spcPct val="90000"/>
              </a:lnSpc>
              <a:spcBef>
                <a:spcPts val="500"/>
              </a:spcBef>
              <a:buSzPct val="100000"/>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4pPr>
            <a:lvl5pPr marL="2114550" indent="-285750" algn="l" defTabSz="914400" rtl="0" eaLnBrk="1" latinLnBrk="0" hangingPunct="1">
              <a:lnSpc>
                <a:spcPct val="90000"/>
              </a:lnSpc>
              <a:spcBef>
                <a:spcPts val="500"/>
              </a:spcBef>
              <a:buSzPct val="100000"/>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2400" dirty="0">
                <a:solidFill>
                  <a:schemeClr val="tx1"/>
                </a:solidFill>
              </a:rPr>
              <a:t>〇</a:t>
            </a:r>
            <a:r>
              <a:rPr lang="ja-JP" altLang="en-US" sz="2400" b="1" dirty="0">
                <a:solidFill>
                  <a:schemeClr val="tx1"/>
                </a:solidFill>
              </a:rPr>
              <a:t> </a:t>
            </a:r>
            <a:r>
              <a:rPr lang="ja-JP" altLang="en-US" sz="2400" b="1" dirty="0">
                <a:latin typeface="游ゴシック" panose="020B0400000000000000" pitchFamily="50" charset="-128"/>
                <a:ea typeface="游ゴシック" panose="020B0400000000000000" pitchFamily="50" charset="-128"/>
              </a:rPr>
              <a:t>宮崎ら</a:t>
            </a:r>
            <a:r>
              <a:rPr lang="en-US" altLang="ja-JP" sz="2400" b="1" dirty="0"/>
              <a:t>[1]</a:t>
            </a:r>
            <a:r>
              <a:rPr lang="ja-JP" altLang="en-US" sz="2400" b="1" dirty="0">
                <a:latin typeface="游ゴシック" panose="020B0400000000000000" pitchFamily="50" charset="-128"/>
                <a:ea typeface="游ゴシック" panose="020B0400000000000000" pitchFamily="50" charset="-128"/>
              </a:rPr>
              <a:t>の研究</a:t>
            </a:r>
            <a:endParaRPr lang="en-US" altLang="ja-JP" sz="24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4037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E6162-2F71-03DC-68DE-6CE7CF5735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607B4D-54C1-5900-40F4-A5C4C2889B8F}"/>
              </a:ext>
            </a:extLst>
          </p:cNvPr>
          <p:cNvSpPr>
            <a:spLocks noGrp="1"/>
          </p:cNvSpPr>
          <p:nvPr>
            <p:ph type="title"/>
          </p:nvPr>
        </p:nvSpPr>
        <p:spPr/>
        <p:txBody>
          <a:bodyPr/>
          <a:lstStyle/>
          <a:p>
            <a:r>
              <a:rPr kumimoji="1" lang="ja-JP" altLang="en-US" dirty="0"/>
              <a:t>関連研究</a:t>
            </a:r>
          </a:p>
        </p:txBody>
      </p:sp>
      <p:sp>
        <p:nvSpPr>
          <p:cNvPr id="3" name="コンテンツ プレースホルダー 2">
            <a:extLst>
              <a:ext uri="{FF2B5EF4-FFF2-40B4-BE49-F238E27FC236}">
                <a16:creationId xmlns:a16="http://schemas.microsoft.com/office/drawing/2014/main" id="{E892D0D7-72BA-76BA-6691-35DD4462189C}"/>
              </a:ext>
            </a:extLst>
          </p:cNvPr>
          <p:cNvSpPr>
            <a:spLocks noGrp="1"/>
          </p:cNvSpPr>
          <p:nvPr>
            <p:ph idx="1"/>
          </p:nvPr>
        </p:nvSpPr>
        <p:spPr>
          <a:xfrm>
            <a:off x="753228" y="2045746"/>
            <a:ext cx="8515350" cy="2379975"/>
          </a:xfrm>
        </p:spPr>
        <p:txBody>
          <a:bodyPr>
            <a:normAutofit/>
          </a:bodyPr>
          <a:lstStyle/>
          <a:p>
            <a:pPr>
              <a:lnSpc>
                <a:spcPct val="120000"/>
              </a:lnSpc>
            </a:pPr>
            <a:r>
              <a:rPr kumimoji="1" lang="ja-JP" altLang="en-US" sz="2000" dirty="0"/>
              <a:t>期待と現状の差分が評価につながるとみなし、</a:t>
            </a:r>
            <a:br>
              <a:rPr kumimoji="1" lang="en-US" altLang="ja-JP" sz="2000" dirty="0"/>
            </a:br>
            <a:r>
              <a:rPr kumimoji="1" lang="ja-JP" altLang="en-US" sz="2000" dirty="0"/>
              <a:t>評判情報は｛観点</a:t>
            </a:r>
            <a:r>
              <a:rPr kumimoji="1" lang="en-US" altLang="ja-JP" sz="2000" dirty="0"/>
              <a:t>, </a:t>
            </a:r>
            <a:r>
              <a:rPr kumimoji="1" lang="ja-JP" altLang="en-US" sz="2000" b="1" dirty="0">
                <a:latin typeface="游ゴシック" panose="020B0400000000000000" pitchFamily="50" charset="-128"/>
                <a:ea typeface="游ゴシック" panose="020B0400000000000000" pitchFamily="50" charset="-128"/>
              </a:rPr>
              <a:t>期待</a:t>
            </a:r>
            <a:r>
              <a:rPr kumimoji="1" lang="en-US" altLang="ja-JP" sz="2000" dirty="0"/>
              <a:t>, </a:t>
            </a:r>
            <a:r>
              <a:rPr kumimoji="1" lang="ja-JP" altLang="en-US" sz="2000" dirty="0"/>
              <a:t>現状</a:t>
            </a:r>
            <a:r>
              <a:rPr kumimoji="1" lang="en-US" altLang="ja-JP" sz="2000" dirty="0"/>
              <a:t>, </a:t>
            </a:r>
            <a:r>
              <a:rPr kumimoji="1" lang="ja-JP" altLang="en-US" sz="2000" dirty="0"/>
              <a:t>評価｝から構成されると定義した。</a:t>
            </a:r>
            <a:endParaRPr kumimoji="1" lang="en-US" altLang="ja-JP" sz="2000" dirty="0"/>
          </a:p>
          <a:p>
            <a:endParaRPr lang="en-US" altLang="ja-JP" sz="2000" dirty="0"/>
          </a:p>
          <a:p>
            <a:pPr>
              <a:lnSpc>
                <a:spcPct val="120000"/>
              </a:lnSpc>
            </a:pPr>
            <a:r>
              <a:rPr lang="ja-JP" altLang="en-US" sz="2000" dirty="0"/>
              <a:t>キャリーバッグのレビューに対して注釈付けを行った。</a:t>
            </a:r>
            <a:endParaRPr lang="en-US" altLang="ja-JP" sz="2000" dirty="0"/>
          </a:p>
        </p:txBody>
      </p:sp>
      <p:sp>
        <p:nvSpPr>
          <p:cNvPr id="4" name="スライド番号プレースホルダー 3">
            <a:extLst>
              <a:ext uri="{FF2B5EF4-FFF2-40B4-BE49-F238E27FC236}">
                <a16:creationId xmlns:a16="http://schemas.microsoft.com/office/drawing/2014/main" id="{727A0D51-9C6C-4776-44DE-ACE861361D1F}"/>
              </a:ext>
            </a:extLst>
          </p:cNvPr>
          <p:cNvSpPr>
            <a:spLocks noGrp="1"/>
          </p:cNvSpPr>
          <p:nvPr>
            <p:ph type="sldNum" sz="quarter" idx="12"/>
          </p:nvPr>
        </p:nvSpPr>
        <p:spPr/>
        <p:txBody>
          <a:bodyPr/>
          <a:lstStyle/>
          <a:p>
            <a:fld id="{CF4A8B29-95AB-4EB3-9726-7CF76E557B81}" type="slidenum">
              <a:rPr kumimoji="1" lang="ja-JP" altLang="en-US" smtClean="0"/>
              <a:t>4</a:t>
            </a:fld>
            <a:endParaRPr kumimoji="1" lang="ja-JP" altLang="en-US"/>
          </a:p>
        </p:txBody>
      </p:sp>
      <p:sp>
        <p:nvSpPr>
          <p:cNvPr id="27" name="テキスト ボックス 26">
            <a:extLst>
              <a:ext uri="{FF2B5EF4-FFF2-40B4-BE49-F238E27FC236}">
                <a16:creationId xmlns:a16="http://schemas.microsoft.com/office/drawing/2014/main" id="{47EDAD4F-AC10-C4CC-4E30-97F3A2E7D00B}"/>
              </a:ext>
            </a:extLst>
          </p:cNvPr>
          <p:cNvSpPr txBox="1"/>
          <p:nvPr/>
        </p:nvSpPr>
        <p:spPr>
          <a:xfrm>
            <a:off x="457200" y="1379605"/>
            <a:ext cx="3627120" cy="461665"/>
          </a:xfrm>
          <a:prstGeom prst="rect">
            <a:avLst/>
          </a:prstGeom>
          <a:noFill/>
        </p:spPr>
        <p:txBody>
          <a:bodyPr wrap="square" rtlCol="0">
            <a:spAutoFit/>
          </a:bodyPr>
          <a:lstStyle/>
          <a:p>
            <a:r>
              <a:rPr lang="ja-JP" altLang="en-US" sz="2400" dirty="0">
                <a:solidFill>
                  <a:schemeClr val="tx1"/>
                </a:solidFill>
              </a:rPr>
              <a:t>〇</a:t>
            </a:r>
            <a:r>
              <a:rPr lang="ja-JP" altLang="en-US" sz="2400" b="1" dirty="0">
                <a:solidFill>
                  <a:schemeClr val="tx1"/>
                </a:solidFill>
              </a:rPr>
              <a:t> </a:t>
            </a:r>
            <a:r>
              <a:rPr kumimoji="1" lang="ja-JP" altLang="en-US" sz="2400" b="1" dirty="0">
                <a:latin typeface="+mj-ea"/>
                <a:ea typeface="+mj-ea"/>
              </a:rPr>
              <a:t>伊藤ら</a:t>
            </a:r>
            <a:r>
              <a:rPr kumimoji="1" lang="en-US" altLang="ja-JP" sz="2400" b="1" dirty="0"/>
              <a:t>[2]</a:t>
            </a:r>
            <a:r>
              <a:rPr kumimoji="1" lang="ja-JP" altLang="en-US" sz="2400" b="1" dirty="0">
                <a:latin typeface="+mj-ea"/>
                <a:ea typeface="+mj-ea"/>
              </a:rPr>
              <a:t>の研究</a:t>
            </a:r>
          </a:p>
        </p:txBody>
      </p:sp>
      <p:grpSp>
        <p:nvGrpSpPr>
          <p:cNvPr id="43" name="グループ化 42">
            <a:extLst>
              <a:ext uri="{FF2B5EF4-FFF2-40B4-BE49-F238E27FC236}">
                <a16:creationId xmlns:a16="http://schemas.microsoft.com/office/drawing/2014/main" id="{2452F8C3-9BBE-7D58-8AED-D8F1EC40CFAA}"/>
              </a:ext>
            </a:extLst>
          </p:cNvPr>
          <p:cNvGrpSpPr/>
          <p:nvPr/>
        </p:nvGrpSpPr>
        <p:grpSpPr>
          <a:xfrm>
            <a:off x="610572" y="4425721"/>
            <a:ext cx="7579956" cy="1985420"/>
            <a:chOff x="782022" y="3662188"/>
            <a:chExt cx="7579956" cy="1985420"/>
          </a:xfrm>
        </p:grpSpPr>
        <p:sp>
          <p:nvSpPr>
            <p:cNvPr id="13" name="角丸四角形 15">
              <a:extLst>
                <a:ext uri="{FF2B5EF4-FFF2-40B4-BE49-F238E27FC236}">
                  <a16:creationId xmlns:a16="http://schemas.microsoft.com/office/drawing/2014/main" id="{A6C58CD9-3DFE-9590-DB7E-1D8943F32C79}"/>
                </a:ext>
              </a:extLst>
            </p:cNvPr>
            <p:cNvSpPr/>
            <p:nvPr/>
          </p:nvSpPr>
          <p:spPr>
            <a:xfrm>
              <a:off x="782022" y="4097496"/>
              <a:ext cx="7579956" cy="98289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ja-JP" altLang="en-US" sz="2000" dirty="0">
                  <a:solidFill>
                    <a:schemeClr val="tx1"/>
                  </a:solidFill>
                </a:rPr>
                <a:t>思っていた色よりも濃い色でした。ピンクにすればよかったと少し後悔。もう少し明るめかと思った。</a:t>
              </a:r>
              <a:endParaRPr kumimoji="1" lang="ja-JP" altLang="en-US" sz="2000" dirty="0">
                <a:solidFill>
                  <a:schemeClr val="tx1"/>
                </a:solidFill>
              </a:endParaRPr>
            </a:p>
          </p:txBody>
        </p:sp>
        <p:sp>
          <p:nvSpPr>
            <p:cNvPr id="32" name="線吹き出し 1 (枠付き) 11">
              <a:extLst>
                <a:ext uri="{FF2B5EF4-FFF2-40B4-BE49-F238E27FC236}">
                  <a16:creationId xmlns:a16="http://schemas.microsoft.com/office/drawing/2014/main" id="{A63C4847-8F7B-741C-2E30-79B2D9BF40A3}"/>
                </a:ext>
              </a:extLst>
            </p:cNvPr>
            <p:cNvSpPr/>
            <p:nvPr/>
          </p:nvSpPr>
          <p:spPr>
            <a:xfrm>
              <a:off x="3596699" y="3662188"/>
              <a:ext cx="843242" cy="367786"/>
            </a:xfrm>
            <a:prstGeom prst="borderCallout1">
              <a:avLst>
                <a:gd name="adj1" fmla="val 253724"/>
                <a:gd name="adj2" fmla="val -5747"/>
                <a:gd name="adj3" fmla="val 101518"/>
                <a:gd name="adj4" fmla="val 52286"/>
              </a:avLst>
            </a:prstGeom>
            <a:solidFill>
              <a:schemeClr val="tx2">
                <a:lumMod val="10000"/>
                <a:lumOff val="90000"/>
              </a:schemeClr>
            </a:solidFill>
            <a:ln w="19050" cap="flat" cmpd="sng" algn="ctr">
              <a:solidFill>
                <a:srgbClr val="0070C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dirty="0">
                  <a:ln>
                    <a:noFill/>
                  </a:ln>
                  <a:solidFill>
                    <a:prstClr val="black"/>
                  </a:solidFill>
                  <a:effectLst/>
                  <a:uLnTx/>
                  <a:uFillTx/>
                  <a:latin typeface="+mn-ea"/>
                  <a:cs typeface="+mn-cs"/>
                </a:rPr>
                <a:t>現状</a:t>
              </a:r>
            </a:p>
          </p:txBody>
        </p:sp>
        <p:cxnSp>
          <p:nvCxnSpPr>
            <p:cNvPr id="33" name="直線コネクタ 32">
              <a:extLst>
                <a:ext uri="{FF2B5EF4-FFF2-40B4-BE49-F238E27FC236}">
                  <a16:creationId xmlns:a16="http://schemas.microsoft.com/office/drawing/2014/main" id="{4FC97C6A-A28F-7E8F-888A-541B56A50EE4}"/>
                </a:ext>
              </a:extLst>
            </p:cNvPr>
            <p:cNvCxnSpPr>
              <a:cxnSpLocks/>
            </p:cNvCxnSpPr>
            <p:nvPr/>
          </p:nvCxnSpPr>
          <p:spPr>
            <a:xfrm>
              <a:off x="3241158" y="4588942"/>
              <a:ext cx="711082" cy="0"/>
            </a:xfrm>
            <a:prstGeom prst="line">
              <a:avLst/>
            </a:prstGeom>
            <a:noFill/>
            <a:ln w="19050" cap="flat" cmpd="sng" algn="ctr">
              <a:solidFill>
                <a:srgbClr val="0070C0"/>
              </a:solidFill>
              <a:prstDash val="solid"/>
            </a:ln>
            <a:effectLst/>
          </p:spPr>
        </p:cxnSp>
        <p:sp>
          <p:nvSpPr>
            <p:cNvPr id="36" name="線吹き出し 1 (枠付き) 11">
              <a:extLst>
                <a:ext uri="{FF2B5EF4-FFF2-40B4-BE49-F238E27FC236}">
                  <a16:creationId xmlns:a16="http://schemas.microsoft.com/office/drawing/2014/main" id="{50E55D29-684F-1D54-7AD5-3ADA15D93A82}"/>
                </a:ext>
              </a:extLst>
            </p:cNvPr>
            <p:cNvSpPr/>
            <p:nvPr/>
          </p:nvSpPr>
          <p:spPr>
            <a:xfrm>
              <a:off x="1523343" y="5279822"/>
              <a:ext cx="843242" cy="367786"/>
            </a:xfrm>
            <a:prstGeom prst="borderCallout1">
              <a:avLst>
                <a:gd name="adj1" fmla="val -91585"/>
                <a:gd name="adj2" fmla="val -16592"/>
                <a:gd name="adj3" fmla="val -694"/>
                <a:gd name="adj4" fmla="val 49876"/>
              </a:avLst>
            </a:prstGeom>
            <a:solidFill>
              <a:schemeClr val="tx2">
                <a:lumMod val="10000"/>
                <a:lumOff val="90000"/>
              </a:schemeClr>
            </a:solidFill>
            <a:ln w="19050" cap="flat" cmpd="sng" algn="ctr">
              <a:solidFill>
                <a:srgbClr val="7030A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dirty="0">
                  <a:ln>
                    <a:noFill/>
                  </a:ln>
                  <a:solidFill>
                    <a:prstClr val="black"/>
                  </a:solidFill>
                  <a:effectLst/>
                  <a:uLnTx/>
                  <a:uFillTx/>
                  <a:latin typeface="+mn-ea"/>
                  <a:cs typeface="+mn-cs"/>
                </a:rPr>
                <a:t>評価</a:t>
              </a:r>
            </a:p>
          </p:txBody>
        </p:sp>
        <p:cxnSp>
          <p:nvCxnSpPr>
            <p:cNvPr id="37" name="直線コネクタ 36">
              <a:extLst>
                <a:ext uri="{FF2B5EF4-FFF2-40B4-BE49-F238E27FC236}">
                  <a16:creationId xmlns:a16="http://schemas.microsoft.com/office/drawing/2014/main" id="{9A2D64C9-53DF-7368-EDF5-AE2CE70FE710}"/>
                </a:ext>
              </a:extLst>
            </p:cNvPr>
            <p:cNvCxnSpPr>
              <a:cxnSpLocks/>
            </p:cNvCxnSpPr>
            <p:nvPr/>
          </p:nvCxnSpPr>
          <p:spPr>
            <a:xfrm>
              <a:off x="924678" y="4934382"/>
              <a:ext cx="1020286" cy="0"/>
            </a:xfrm>
            <a:prstGeom prst="line">
              <a:avLst/>
            </a:prstGeom>
            <a:noFill/>
            <a:ln w="19050" cap="flat" cmpd="sng" algn="ctr">
              <a:solidFill>
                <a:srgbClr val="0070C0"/>
              </a:solidFill>
              <a:prstDash val="solid"/>
            </a:ln>
            <a:effectLst/>
          </p:spPr>
        </p:cxnSp>
        <p:sp>
          <p:nvSpPr>
            <p:cNvPr id="39" name="線吹き出し 1 (枠付き) 11">
              <a:extLst>
                <a:ext uri="{FF2B5EF4-FFF2-40B4-BE49-F238E27FC236}">
                  <a16:creationId xmlns:a16="http://schemas.microsoft.com/office/drawing/2014/main" id="{209AAD79-4E90-9ED3-070D-738F13DA7530}"/>
                </a:ext>
              </a:extLst>
            </p:cNvPr>
            <p:cNvSpPr/>
            <p:nvPr/>
          </p:nvSpPr>
          <p:spPr>
            <a:xfrm>
              <a:off x="3241158" y="5275349"/>
              <a:ext cx="843242" cy="367786"/>
            </a:xfrm>
            <a:prstGeom prst="borderCallout1">
              <a:avLst>
                <a:gd name="adj1" fmla="val -88823"/>
                <a:gd name="adj2" fmla="val -12977"/>
                <a:gd name="adj3" fmla="val -694"/>
                <a:gd name="adj4" fmla="val 49876"/>
              </a:avLst>
            </a:prstGeom>
            <a:solidFill>
              <a:schemeClr val="tx2">
                <a:lumMod val="10000"/>
                <a:lumOff val="90000"/>
              </a:schemeClr>
            </a:solidFill>
            <a:ln w="19050" cap="flat" cmpd="sng" algn="ctr">
              <a:solidFill>
                <a:srgbClr val="0070C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1" i="0" u="none" strike="noStrike" kern="0" cap="none" spc="0" normalizeH="0" baseline="0" noProof="0" dirty="0">
                  <a:ln>
                    <a:noFill/>
                  </a:ln>
                  <a:solidFill>
                    <a:prstClr val="black"/>
                  </a:solidFill>
                  <a:effectLst/>
                  <a:uLnTx/>
                  <a:uFillTx/>
                  <a:latin typeface="+mj-ea"/>
                  <a:ea typeface="+mj-ea"/>
                  <a:cs typeface="+mn-cs"/>
                </a:rPr>
                <a:t>期待</a:t>
              </a:r>
            </a:p>
          </p:txBody>
        </p:sp>
        <p:cxnSp>
          <p:nvCxnSpPr>
            <p:cNvPr id="40" name="直線コネクタ 39">
              <a:extLst>
                <a:ext uri="{FF2B5EF4-FFF2-40B4-BE49-F238E27FC236}">
                  <a16:creationId xmlns:a16="http://schemas.microsoft.com/office/drawing/2014/main" id="{11B4927B-16FC-D681-3581-9102B2F64AE2}"/>
                </a:ext>
              </a:extLst>
            </p:cNvPr>
            <p:cNvCxnSpPr>
              <a:cxnSpLocks/>
            </p:cNvCxnSpPr>
            <p:nvPr/>
          </p:nvCxnSpPr>
          <p:spPr>
            <a:xfrm flipV="1">
              <a:off x="2250934" y="4934382"/>
              <a:ext cx="1701306" cy="24475"/>
            </a:xfrm>
            <a:prstGeom prst="line">
              <a:avLst/>
            </a:prstGeom>
            <a:noFill/>
            <a:ln w="19050" cap="flat" cmpd="sng" algn="ctr">
              <a:solidFill>
                <a:srgbClr val="0070C0"/>
              </a:solidFill>
              <a:prstDash val="solid"/>
            </a:ln>
            <a:effectLst/>
          </p:spPr>
        </p:cxnSp>
      </p:grpSp>
      <p:sp>
        <p:nvSpPr>
          <p:cNvPr id="5" name="テキスト ボックス 4">
            <a:extLst>
              <a:ext uri="{FF2B5EF4-FFF2-40B4-BE49-F238E27FC236}">
                <a16:creationId xmlns:a16="http://schemas.microsoft.com/office/drawing/2014/main" id="{A4DC45E5-773A-451D-26C3-CB3B5027D4E9}"/>
              </a:ext>
            </a:extLst>
          </p:cNvPr>
          <p:cNvSpPr txBox="1"/>
          <p:nvPr/>
        </p:nvSpPr>
        <p:spPr>
          <a:xfrm>
            <a:off x="385057" y="4412229"/>
            <a:ext cx="5090160" cy="369332"/>
          </a:xfrm>
          <a:prstGeom prst="rect">
            <a:avLst/>
          </a:prstGeom>
          <a:noFill/>
        </p:spPr>
        <p:txBody>
          <a:bodyPr wrap="square" rtlCol="0">
            <a:spAutoFit/>
          </a:bodyPr>
          <a:lstStyle/>
          <a:p>
            <a:r>
              <a:rPr kumimoji="1" lang="ja-JP" altLang="en-US" dirty="0">
                <a:latin typeface="+mn-ea"/>
              </a:rPr>
              <a:t>（注釈付けの例）</a:t>
            </a:r>
          </a:p>
        </p:txBody>
      </p:sp>
    </p:spTree>
    <p:extLst>
      <p:ext uri="{BB962C8B-B14F-4D97-AF65-F5344CB8AC3E}">
        <p14:creationId xmlns:p14="http://schemas.microsoft.com/office/powerpoint/2010/main" val="2015372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3DA22D-E2FC-8AD5-718E-94D3ED4AB621}"/>
              </a:ext>
            </a:extLst>
          </p:cNvPr>
          <p:cNvSpPr>
            <a:spLocks noGrp="1"/>
          </p:cNvSpPr>
          <p:nvPr>
            <p:ph type="title"/>
          </p:nvPr>
        </p:nvSpPr>
        <p:spPr/>
        <p:txBody>
          <a:bodyPr/>
          <a:lstStyle/>
          <a:p>
            <a:r>
              <a:rPr kumimoji="1" lang="ja-JP" altLang="en-US" dirty="0"/>
              <a:t>関連研究</a:t>
            </a:r>
          </a:p>
        </p:txBody>
      </p:sp>
      <p:sp>
        <p:nvSpPr>
          <p:cNvPr id="4" name="スライド番号プレースホルダー 3">
            <a:extLst>
              <a:ext uri="{FF2B5EF4-FFF2-40B4-BE49-F238E27FC236}">
                <a16:creationId xmlns:a16="http://schemas.microsoft.com/office/drawing/2014/main" id="{9A4A95A3-6951-4ABB-0891-D798C2909AC1}"/>
              </a:ext>
            </a:extLst>
          </p:cNvPr>
          <p:cNvSpPr>
            <a:spLocks noGrp="1"/>
          </p:cNvSpPr>
          <p:nvPr>
            <p:ph type="sldNum" sz="quarter" idx="12"/>
          </p:nvPr>
        </p:nvSpPr>
        <p:spPr/>
        <p:txBody>
          <a:bodyPr/>
          <a:lstStyle/>
          <a:p>
            <a:fld id="{CF4A8B29-95AB-4EB3-9726-7CF76E557B81}" type="slidenum">
              <a:rPr kumimoji="1" lang="ja-JP" altLang="en-US" smtClean="0"/>
              <a:t>5</a:t>
            </a:fld>
            <a:endParaRPr kumimoji="1" lang="ja-JP" altLang="en-US"/>
          </a:p>
        </p:txBody>
      </p:sp>
      <p:sp>
        <p:nvSpPr>
          <p:cNvPr id="5" name="テキスト ボックス 4">
            <a:extLst>
              <a:ext uri="{FF2B5EF4-FFF2-40B4-BE49-F238E27FC236}">
                <a16:creationId xmlns:a16="http://schemas.microsoft.com/office/drawing/2014/main" id="{A2C5F41A-44DE-D2F1-EFE5-5657DED41448}"/>
              </a:ext>
            </a:extLst>
          </p:cNvPr>
          <p:cNvSpPr txBox="1"/>
          <p:nvPr/>
        </p:nvSpPr>
        <p:spPr>
          <a:xfrm>
            <a:off x="487341" y="1439569"/>
            <a:ext cx="4573173" cy="461665"/>
          </a:xfrm>
          <a:prstGeom prst="rect">
            <a:avLst/>
          </a:prstGeom>
          <a:noFill/>
        </p:spPr>
        <p:txBody>
          <a:bodyPr wrap="square" rtlCol="0">
            <a:spAutoFit/>
          </a:bodyPr>
          <a:lstStyle/>
          <a:p>
            <a:r>
              <a:rPr lang="ja-JP" altLang="en-US" sz="2400" dirty="0">
                <a:solidFill>
                  <a:schemeClr val="tx1"/>
                </a:solidFill>
              </a:rPr>
              <a:t>〇 </a:t>
            </a:r>
            <a:r>
              <a:rPr kumimoji="1" lang="ja-JP" altLang="en-US" sz="2400" b="1" dirty="0">
                <a:latin typeface="+mj-ea"/>
                <a:ea typeface="+mj-ea"/>
              </a:rPr>
              <a:t>伊藤ら</a:t>
            </a:r>
            <a:r>
              <a:rPr kumimoji="1" lang="en-US" altLang="ja-JP" sz="2400" b="1" dirty="0"/>
              <a:t>[2]</a:t>
            </a:r>
            <a:r>
              <a:rPr kumimoji="1" lang="ja-JP" altLang="en-US" sz="2400" b="1" dirty="0">
                <a:latin typeface="+mj-ea"/>
                <a:ea typeface="+mj-ea"/>
              </a:rPr>
              <a:t>の研究の課題</a:t>
            </a:r>
            <a:r>
              <a:rPr kumimoji="1" lang="en-US" altLang="ja-JP" sz="2400" b="1" dirty="0">
                <a:latin typeface="+mj-ea"/>
                <a:ea typeface="+mj-ea"/>
              </a:rPr>
              <a:t>(1)</a:t>
            </a:r>
            <a:endParaRPr kumimoji="1" lang="ja-JP" altLang="en-US" sz="2400" b="1" dirty="0">
              <a:latin typeface="+mj-ea"/>
              <a:ea typeface="+mj-ea"/>
            </a:endParaRPr>
          </a:p>
        </p:txBody>
      </p:sp>
      <p:sp>
        <p:nvSpPr>
          <p:cNvPr id="3" name="コンテンツ プレースホルダー 2">
            <a:extLst>
              <a:ext uri="{FF2B5EF4-FFF2-40B4-BE49-F238E27FC236}">
                <a16:creationId xmlns:a16="http://schemas.microsoft.com/office/drawing/2014/main" id="{541B904E-7366-0E92-6390-EAD4349B4DA8}"/>
              </a:ext>
            </a:extLst>
          </p:cNvPr>
          <p:cNvSpPr>
            <a:spLocks noGrp="1"/>
          </p:cNvSpPr>
          <p:nvPr>
            <p:ph idx="1"/>
          </p:nvPr>
        </p:nvSpPr>
        <p:spPr>
          <a:xfrm>
            <a:off x="859613" y="2444116"/>
            <a:ext cx="5403401" cy="3192595"/>
          </a:xfrm>
        </p:spPr>
        <p:txBody>
          <a:bodyPr>
            <a:normAutofit/>
          </a:bodyPr>
          <a:lstStyle/>
          <a:p>
            <a:pPr marL="0" indent="0">
              <a:lnSpc>
                <a:spcPct val="130000"/>
              </a:lnSpc>
              <a:buNone/>
            </a:pPr>
            <a:r>
              <a:rPr lang="en-US" altLang="ja-JP" sz="2200" dirty="0"/>
              <a:t>SVM</a:t>
            </a:r>
            <a:r>
              <a:rPr lang="ja-JP" altLang="en-US" sz="2200" dirty="0"/>
              <a:t>を用いて各項目を文単位で抽出</a:t>
            </a:r>
            <a:endParaRPr lang="en-US" altLang="ja-JP" sz="2200" dirty="0"/>
          </a:p>
          <a:p>
            <a:pPr marL="0" indent="0">
              <a:lnSpc>
                <a:spcPct val="130000"/>
              </a:lnSpc>
              <a:buNone/>
            </a:pPr>
            <a:endParaRPr lang="en-US" altLang="ja-JP" sz="2200" dirty="0"/>
          </a:p>
          <a:p>
            <a:pPr marL="0" indent="0">
              <a:lnSpc>
                <a:spcPct val="130000"/>
              </a:lnSpc>
              <a:buNone/>
            </a:pPr>
            <a:br>
              <a:rPr lang="en-US" altLang="ja-JP" sz="2200" dirty="0"/>
            </a:br>
            <a:r>
              <a:rPr lang="ja-JP" altLang="en-US" sz="2200" dirty="0"/>
              <a:t>期待の</a:t>
            </a:r>
            <a:r>
              <a:rPr lang="en-US" altLang="ja-JP" sz="2200" dirty="0"/>
              <a:t>F</a:t>
            </a:r>
            <a:r>
              <a:rPr lang="ja-JP" altLang="en-US" sz="2200" dirty="0"/>
              <a:t>値は </a:t>
            </a:r>
            <a:r>
              <a:rPr lang="en-US" altLang="ja-JP" sz="2200" dirty="0"/>
              <a:t>0.38 </a:t>
            </a:r>
            <a:r>
              <a:rPr lang="ja-JP" altLang="en-US" sz="2200" dirty="0"/>
              <a:t>という結果となり、</a:t>
            </a:r>
            <a:br>
              <a:rPr lang="en-US" altLang="ja-JP" sz="2200" dirty="0"/>
            </a:br>
            <a:r>
              <a:rPr lang="ja-JP" altLang="en-US" sz="2200" dirty="0"/>
              <a:t>精度に改善の余地が見られた</a:t>
            </a:r>
            <a:endParaRPr lang="en-US" altLang="ja-JP" sz="2200" dirty="0"/>
          </a:p>
        </p:txBody>
      </p:sp>
      <p:sp>
        <p:nvSpPr>
          <p:cNvPr id="7" name="矢印: 下 6">
            <a:extLst>
              <a:ext uri="{FF2B5EF4-FFF2-40B4-BE49-F238E27FC236}">
                <a16:creationId xmlns:a16="http://schemas.microsoft.com/office/drawing/2014/main" id="{F5438E38-45F6-5373-DD1E-79CA04DD4B1C}"/>
              </a:ext>
            </a:extLst>
          </p:cNvPr>
          <p:cNvSpPr/>
          <p:nvPr/>
        </p:nvSpPr>
        <p:spPr>
          <a:xfrm>
            <a:off x="2543943" y="3303888"/>
            <a:ext cx="459967" cy="440939"/>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7422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F3738-8A24-4AB2-90E0-E73CD870AF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AD7ADF-63E0-E63D-304D-E58F13CE5090}"/>
              </a:ext>
            </a:extLst>
          </p:cNvPr>
          <p:cNvSpPr>
            <a:spLocks noGrp="1"/>
          </p:cNvSpPr>
          <p:nvPr>
            <p:ph type="title"/>
          </p:nvPr>
        </p:nvSpPr>
        <p:spPr/>
        <p:txBody>
          <a:bodyPr/>
          <a:lstStyle/>
          <a:p>
            <a:r>
              <a:rPr kumimoji="1" lang="ja-JP" altLang="en-US" dirty="0"/>
              <a:t>関連研究</a:t>
            </a:r>
          </a:p>
        </p:txBody>
      </p:sp>
      <p:sp>
        <p:nvSpPr>
          <p:cNvPr id="3" name="コンテンツ プレースホルダー 2">
            <a:extLst>
              <a:ext uri="{FF2B5EF4-FFF2-40B4-BE49-F238E27FC236}">
                <a16:creationId xmlns:a16="http://schemas.microsoft.com/office/drawing/2014/main" id="{151CBA72-6EA4-A815-453B-BD9AF5CFD46D}"/>
              </a:ext>
            </a:extLst>
          </p:cNvPr>
          <p:cNvSpPr>
            <a:spLocks noGrp="1"/>
          </p:cNvSpPr>
          <p:nvPr>
            <p:ph idx="1"/>
          </p:nvPr>
        </p:nvSpPr>
        <p:spPr>
          <a:xfrm>
            <a:off x="759314" y="2225794"/>
            <a:ext cx="8037872" cy="521549"/>
          </a:xfrm>
        </p:spPr>
        <p:txBody>
          <a:bodyPr>
            <a:normAutofit/>
          </a:bodyPr>
          <a:lstStyle/>
          <a:p>
            <a:pPr marL="0" indent="0">
              <a:buNone/>
            </a:pPr>
            <a:r>
              <a:rPr lang="ja-JP" altLang="en-US" sz="2200" dirty="0"/>
              <a:t>明示的に現れない期待を扱えなかった。</a:t>
            </a:r>
            <a:endParaRPr lang="en-US" altLang="ja-JP" sz="2200" dirty="0"/>
          </a:p>
        </p:txBody>
      </p:sp>
      <p:sp>
        <p:nvSpPr>
          <p:cNvPr id="4" name="スライド番号プレースホルダー 3">
            <a:extLst>
              <a:ext uri="{FF2B5EF4-FFF2-40B4-BE49-F238E27FC236}">
                <a16:creationId xmlns:a16="http://schemas.microsoft.com/office/drawing/2014/main" id="{8B5A25C2-B9A0-7E4A-43C4-45401686FF1C}"/>
              </a:ext>
            </a:extLst>
          </p:cNvPr>
          <p:cNvSpPr>
            <a:spLocks noGrp="1"/>
          </p:cNvSpPr>
          <p:nvPr>
            <p:ph type="sldNum" sz="quarter" idx="12"/>
          </p:nvPr>
        </p:nvSpPr>
        <p:spPr/>
        <p:txBody>
          <a:bodyPr/>
          <a:lstStyle/>
          <a:p>
            <a:fld id="{CF4A8B29-95AB-4EB3-9726-7CF76E557B81}" type="slidenum">
              <a:rPr kumimoji="1" lang="ja-JP" altLang="en-US" smtClean="0"/>
              <a:t>6</a:t>
            </a:fld>
            <a:endParaRPr kumimoji="1" lang="ja-JP" altLang="en-US"/>
          </a:p>
        </p:txBody>
      </p:sp>
      <p:sp>
        <p:nvSpPr>
          <p:cNvPr id="5" name="テキスト ボックス 4">
            <a:extLst>
              <a:ext uri="{FF2B5EF4-FFF2-40B4-BE49-F238E27FC236}">
                <a16:creationId xmlns:a16="http://schemas.microsoft.com/office/drawing/2014/main" id="{D167BC03-13CF-0A13-A361-0C474E7B69BA}"/>
              </a:ext>
            </a:extLst>
          </p:cNvPr>
          <p:cNvSpPr txBox="1"/>
          <p:nvPr/>
        </p:nvSpPr>
        <p:spPr>
          <a:xfrm>
            <a:off x="487342" y="1439569"/>
            <a:ext cx="4898850" cy="461665"/>
          </a:xfrm>
          <a:prstGeom prst="rect">
            <a:avLst/>
          </a:prstGeom>
          <a:noFill/>
        </p:spPr>
        <p:txBody>
          <a:bodyPr wrap="square" rtlCol="0">
            <a:spAutoFit/>
          </a:bodyPr>
          <a:lstStyle/>
          <a:p>
            <a:r>
              <a:rPr lang="ja-JP" altLang="en-US" sz="2400" dirty="0">
                <a:solidFill>
                  <a:schemeClr val="tx1"/>
                </a:solidFill>
              </a:rPr>
              <a:t>〇 </a:t>
            </a:r>
            <a:r>
              <a:rPr kumimoji="1" lang="ja-JP" altLang="en-US" sz="2400" b="1" dirty="0">
                <a:latin typeface="+mj-ea"/>
                <a:ea typeface="+mj-ea"/>
              </a:rPr>
              <a:t>伊藤ら</a:t>
            </a:r>
            <a:r>
              <a:rPr kumimoji="1" lang="en-US" altLang="ja-JP" sz="2400" b="1" dirty="0"/>
              <a:t>[2]</a:t>
            </a:r>
            <a:r>
              <a:rPr kumimoji="1" lang="ja-JP" altLang="en-US" sz="2400" b="1" dirty="0">
                <a:latin typeface="+mj-ea"/>
                <a:ea typeface="+mj-ea"/>
              </a:rPr>
              <a:t>の研究の課題</a:t>
            </a:r>
            <a:r>
              <a:rPr kumimoji="1" lang="en-US" altLang="ja-JP" sz="2400" b="1" dirty="0">
                <a:latin typeface="+mj-ea"/>
                <a:ea typeface="+mj-ea"/>
              </a:rPr>
              <a:t>(2)</a:t>
            </a:r>
            <a:endParaRPr kumimoji="1" lang="ja-JP" altLang="en-US" sz="2400" b="1" dirty="0">
              <a:latin typeface="+mj-ea"/>
              <a:ea typeface="+mj-ea"/>
            </a:endParaRPr>
          </a:p>
        </p:txBody>
      </p:sp>
      <p:sp>
        <p:nvSpPr>
          <p:cNvPr id="18" name="テキスト ボックス 17">
            <a:extLst>
              <a:ext uri="{FF2B5EF4-FFF2-40B4-BE49-F238E27FC236}">
                <a16:creationId xmlns:a16="http://schemas.microsoft.com/office/drawing/2014/main" id="{B620FB1B-258B-75D5-6032-765A4EE9774B}"/>
              </a:ext>
            </a:extLst>
          </p:cNvPr>
          <p:cNvSpPr txBox="1"/>
          <p:nvPr/>
        </p:nvSpPr>
        <p:spPr>
          <a:xfrm>
            <a:off x="1886748" y="4419275"/>
            <a:ext cx="4430376" cy="400110"/>
          </a:xfrm>
          <a:prstGeom prst="rect">
            <a:avLst/>
          </a:prstGeom>
          <a:noFill/>
        </p:spPr>
        <p:txBody>
          <a:bodyPr wrap="square" rtlCol="0">
            <a:spAutoFit/>
          </a:bodyPr>
          <a:lstStyle/>
          <a:p>
            <a:r>
              <a:rPr kumimoji="1" lang="ja-JP" altLang="en-US" sz="2000" dirty="0"/>
              <a:t>ハンガーがついていて欲しかった</a:t>
            </a:r>
          </a:p>
        </p:txBody>
      </p:sp>
      <p:sp>
        <p:nvSpPr>
          <p:cNvPr id="19" name="テキスト ボックス 18">
            <a:extLst>
              <a:ext uri="{FF2B5EF4-FFF2-40B4-BE49-F238E27FC236}">
                <a16:creationId xmlns:a16="http://schemas.microsoft.com/office/drawing/2014/main" id="{D7636607-E8EE-E1AF-7067-EA033710ADED}"/>
              </a:ext>
            </a:extLst>
          </p:cNvPr>
          <p:cNvSpPr txBox="1"/>
          <p:nvPr/>
        </p:nvSpPr>
        <p:spPr>
          <a:xfrm>
            <a:off x="949473" y="2971579"/>
            <a:ext cx="5090160" cy="369332"/>
          </a:xfrm>
          <a:prstGeom prst="rect">
            <a:avLst/>
          </a:prstGeom>
          <a:noFill/>
        </p:spPr>
        <p:txBody>
          <a:bodyPr wrap="square" rtlCol="0">
            <a:spAutoFit/>
          </a:bodyPr>
          <a:lstStyle/>
          <a:p>
            <a:r>
              <a:rPr lang="ja-JP" altLang="en-US" dirty="0"/>
              <a:t>明示的に現れない期待の</a:t>
            </a:r>
            <a:r>
              <a:rPr kumimoji="1" lang="ja-JP" altLang="en-US" dirty="0">
                <a:latin typeface="+mn-ea"/>
              </a:rPr>
              <a:t>例</a:t>
            </a:r>
          </a:p>
        </p:txBody>
      </p:sp>
      <p:sp>
        <p:nvSpPr>
          <p:cNvPr id="6" name="角丸四角形 15">
            <a:extLst>
              <a:ext uri="{FF2B5EF4-FFF2-40B4-BE49-F238E27FC236}">
                <a16:creationId xmlns:a16="http://schemas.microsoft.com/office/drawing/2014/main" id="{7B9D9E22-B11B-8FD4-99E5-1A8DB2321EA0}"/>
              </a:ext>
            </a:extLst>
          </p:cNvPr>
          <p:cNvSpPr/>
          <p:nvPr/>
        </p:nvSpPr>
        <p:spPr>
          <a:xfrm>
            <a:off x="949473" y="3340584"/>
            <a:ext cx="6716456" cy="88556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lang="ja-JP" altLang="en-US" sz="2000" dirty="0">
                <a:solidFill>
                  <a:schemeClr val="tx1"/>
                </a:solidFill>
              </a:rPr>
              <a:t>出張用に考えていたので、ハンガーがついていない点も少し残念です。</a:t>
            </a:r>
          </a:p>
        </p:txBody>
      </p:sp>
      <p:sp>
        <p:nvSpPr>
          <p:cNvPr id="7" name="矢印: 上向き折線 6">
            <a:extLst>
              <a:ext uri="{FF2B5EF4-FFF2-40B4-BE49-F238E27FC236}">
                <a16:creationId xmlns:a16="http://schemas.microsoft.com/office/drawing/2014/main" id="{733AEF3F-6642-9401-AEF6-BA5A4A4C3F31}"/>
              </a:ext>
            </a:extLst>
          </p:cNvPr>
          <p:cNvSpPr/>
          <p:nvPr/>
        </p:nvSpPr>
        <p:spPr>
          <a:xfrm rot="5400000">
            <a:off x="1420501" y="4372254"/>
            <a:ext cx="383251" cy="373878"/>
          </a:xfrm>
          <a:prstGeom prst="ben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BF74621-FE82-5A2E-A73F-C7DB23FE829E}"/>
              </a:ext>
            </a:extLst>
          </p:cNvPr>
          <p:cNvSpPr txBox="1"/>
          <p:nvPr/>
        </p:nvSpPr>
        <p:spPr>
          <a:xfrm>
            <a:off x="949473" y="5273404"/>
            <a:ext cx="7330879" cy="735394"/>
          </a:xfrm>
          <a:prstGeom prst="rect">
            <a:avLst/>
          </a:prstGeom>
          <a:noFill/>
        </p:spPr>
        <p:txBody>
          <a:bodyPr wrap="square" rtlCol="0">
            <a:spAutoFit/>
          </a:bodyPr>
          <a:lstStyle/>
          <a:p>
            <a:pPr>
              <a:lnSpc>
                <a:spcPct val="120000"/>
              </a:lnSpc>
            </a:pPr>
            <a:r>
              <a:rPr lang="ja-JP" altLang="en-US" b="0" i="0" dirty="0">
                <a:solidFill>
                  <a:srgbClr val="1D1C1D"/>
                </a:solidFill>
                <a:effectLst/>
                <a:latin typeface="NotoSansJP"/>
              </a:rPr>
              <a:t>「</a:t>
            </a:r>
            <a:r>
              <a:rPr lang="en-US" altLang="ja-JP" b="0" i="0" dirty="0">
                <a:solidFill>
                  <a:srgbClr val="1D1C1D"/>
                </a:solidFill>
                <a:effectLst/>
                <a:latin typeface="NotoSansJP"/>
              </a:rPr>
              <a:t>A</a:t>
            </a:r>
            <a:r>
              <a:rPr lang="ja-JP" altLang="en-US" b="0" i="0" dirty="0">
                <a:solidFill>
                  <a:srgbClr val="1D1C1D"/>
                </a:solidFill>
                <a:effectLst/>
                <a:latin typeface="NotoSansJP"/>
              </a:rPr>
              <a:t>なのが残念」→「</a:t>
            </a:r>
            <a:r>
              <a:rPr lang="en-US" altLang="ja-JP" b="0" i="0" dirty="0">
                <a:solidFill>
                  <a:srgbClr val="1D1C1D"/>
                </a:solidFill>
                <a:effectLst/>
                <a:latin typeface="NotoSansJP"/>
              </a:rPr>
              <a:t>B</a:t>
            </a:r>
            <a:r>
              <a:rPr lang="ja-JP" altLang="en-US" b="0" i="0" dirty="0">
                <a:solidFill>
                  <a:srgbClr val="1D1C1D"/>
                </a:solidFill>
                <a:effectLst/>
                <a:latin typeface="NotoSansJP"/>
              </a:rPr>
              <a:t>だったら良かった」</a:t>
            </a:r>
            <a:r>
              <a:rPr lang="ja-JP" altLang="en-US" b="1" i="0" dirty="0">
                <a:solidFill>
                  <a:srgbClr val="1D1C1D"/>
                </a:solidFill>
                <a:effectLst/>
                <a:latin typeface="+mj-ea"/>
                <a:ea typeface="+mj-ea"/>
              </a:rPr>
              <a:t>（</a:t>
            </a:r>
            <a:r>
              <a:rPr lang="en-US" altLang="ja-JP" b="0" i="0" dirty="0">
                <a:solidFill>
                  <a:srgbClr val="1D1C1D"/>
                </a:solidFill>
                <a:effectLst/>
                <a:latin typeface="NotoSansJP"/>
              </a:rPr>
              <a:t>A</a:t>
            </a:r>
            <a:r>
              <a:rPr lang="ja-JP" altLang="en-US" b="0" i="0" dirty="0">
                <a:solidFill>
                  <a:srgbClr val="1D1C1D"/>
                </a:solidFill>
                <a:effectLst/>
                <a:latin typeface="NotoSansJP"/>
              </a:rPr>
              <a:t>と</a:t>
            </a:r>
            <a:r>
              <a:rPr lang="en-US" altLang="ja-JP" b="0" i="0" dirty="0">
                <a:solidFill>
                  <a:srgbClr val="1D1C1D"/>
                </a:solidFill>
                <a:effectLst/>
                <a:latin typeface="NotoSansJP"/>
              </a:rPr>
              <a:t>B</a:t>
            </a:r>
            <a:r>
              <a:rPr lang="ja-JP" altLang="en-US" b="0" i="0" dirty="0">
                <a:solidFill>
                  <a:srgbClr val="1D1C1D"/>
                </a:solidFill>
                <a:effectLst/>
                <a:latin typeface="NotoSansJP"/>
              </a:rPr>
              <a:t>は対比関係） </a:t>
            </a:r>
            <a:br>
              <a:rPr lang="ja-JP" altLang="en-US" dirty="0"/>
            </a:br>
            <a:r>
              <a:rPr lang="ja-JP" altLang="en-US" b="0" i="0" dirty="0">
                <a:solidFill>
                  <a:srgbClr val="1D1C1D"/>
                </a:solidFill>
                <a:effectLst/>
                <a:latin typeface="NotoSansJP"/>
              </a:rPr>
              <a:t>という推論で得られるものが多い</a:t>
            </a:r>
            <a:endParaRPr kumimoji="1" lang="ja-JP" altLang="en-US" dirty="0"/>
          </a:p>
        </p:txBody>
      </p:sp>
    </p:spTree>
    <p:extLst>
      <p:ext uri="{BB962C8B-B14F-4D97-AF65-F5344CB8AC3E}">
        <p14:creationId xmlns:p14="http://schemas.microsoft.com/office/powerpoint/2010/main" val="1239109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78D734-737E-181F-67DF-445207CB36BC}"/>
              </a:ext>
            </a:extLst>
          </p:cNvPr>
          <p:cNvSpPr>
            <a:spLocks noGrp="1"/>
          </p:cNvSpPr>
          <p:nvPr>
            <p:ph type="title"/>
          </p:nvPr>
        </p:nvSpPr>
        <p:spPr/>
        <p:txBody>
          <a:bodyPr/>
          <a:lstStyle/>
          <a:p>
            <a:r>
              <a:rPr kumimoji="1" lang="ja-JP" altLang="en-US" dirty="0"/>
              <a:t>研究目的</a:t>
            </a:r>
          </a:p>
        </p:txBody>
      </p:sp>
      <p:sp>
        <p:nvSpPr>
          <p:cNvPr id="3" name="コンテンツ プレースホルダー 2">
            <a:extLst>
              <a:ext uri="{FF2B5EF4-FFF2-40B4-BE49-F238E27FC236}">
                <a16:creationId xmlns:a16="http://schemas.microsoft.com/office/drawing/2014/main" id="{5A5BF20F-4247-5E9B-8E08-F99082990B1F}"/>
              </a:ext>
            </a:extLst>
          </p:cNvPr>
          <p:cNvSpPr>
            <a:spLocks noGrp="1"/>
          </p:cNvSpPr>
          <p:nvPr>
            <p:ph idx="1"/>
          </p:nvPr>
        </p:nvSpPr>
        <p:spPr>
          <a:xfrm>
            <a:off x="592621" y="1762387"/>
            <a:ext cx="7443940" cy="3333225"/>
          </a:xfrm>
        </p:spPr>
        <p:txBody>
          <a:bodyPr>
            <a:normAutofit/>
          </a:bodyPr>
          <a:lstStyle/>
          <a:p>
            <a:pPr marL="0" indent="0">
              <a:lnSpc>
                <a:spcPct val="110000"/>
              </a:lnSpc>
              <a:buNone/>
            </a:pPr>
            <a:r>
              <a:rPr kumimoji="1" lang="ja-JP" altLang="en-US" sz="2400" dirty="0"/>
              <a:t>本研究では、先行研究</a:t>
            </a:r>
            <a:r>
              <a:rPr kumimoji="1" lang="en-US" altLang="ja-JP" sz="2400" dirty="0"/>
              <a:t>[2]</a:t>
            </a:r>
            <a:r>
              <a:rPr kumimoji="1" lang="ja-JP" altLang="en-US" sz="2400" dirty="0"/>
              <a:t>の課題に取り組む。</a:t>
            </a:r>
            <a:endParaRPr kumimoji="1" lang="en-US" altLang="ja-JP" sz="2400" dirty="0"/>
          </a:p>
          <a:p>
            <a:pPr marL="0" indent="0">
              <a:buNone/>
            </a:pPr>
            <a:endParaRPr lang="en-US" altLang="ja-JP" sz="2000" dirty="0"/>
          </a:p>
          <a:p>
            <a:pPr>
              <a:lnSpc>
                <a:spcPct val="120000"/>
              </a:lnSpc>
            </a:pPr>
            <a:r>
              <a:rPr kumimoji="1" lang="ja-JP" altLang="en-US" sz="2000" dirty="0"/>
              <a:t>レビュー文章から</a:t>
            </a:r>
            <a:r>
              <a:rPr kumimoji="1" lang="en-US" altLang="ja-JP" sz="2000" dirty="0"/>
              <a:t>4</a:t>
            </a:r>
            <a:r>
              <a:rPr kumimoji="1" lang="ja-JP" altLang="en-US" sz="2000" dirty="0"/>
              <a:t>項組｛観点</a:t>
            </a:r>
            <a:r>
              <a:rPr kumimoji="1" lang="en-US" altLang="ja-JP" sz="2000" dirty="0"/>
              <a:t>, </a:t>
            </a:r>
            <a:r>
              <a:rPr kumimoji="1" lang="ja-JP" altLang="en-US" sz="2000" dirty="0">
                <a:latin typeface="+mn-ea"/>
                <a:ea typeface="+mn-ea"/>
              </a:rPr>
              <a:t>期待</a:t>
            </a:r>
            <a:r>
              <a:rPr kumimoji="1" lang="en-US" altLang="ja-JP" sz="2000" dirty="0"/>
              <a:t>, </a:t>
            </a:r>
            <a:r>
              <a:rPr kumimoji="1" lang="ja-JP" altLang="en-US" sz="2000" dirty="0"/>
              <a:t>現状</a:t>
            </a:r>
            <a:r>
              <a:rPr kumimoji="1" lang="en-US" altLang="ja-JP" sz="2000" dirty="0"/>
              <a:t>, </a:t>
            </a:r>
            <a:r>
              <a:rPr kumimoji="1" lang="ja-JP" altLang="en-US" sz="2000" dirty="0"/>
              <a:t>評価｝を</a:t>
            </a:r>
            <a:br>
              <a:rPr kumimoji="1" lang="en-US" altLang="ja-JP" sz="2000" dirty="0"/>
            </a:br>
            <a:r>
              <a:rPr kumimoji="1" lang="ja-JP" altLang="en-US" sz="2000" dirty="0"/>
              <a:t>高い精度で抽出することを目指す（特に期待）</a:t>
            </a:r>
            <a:endParaRPr kumimoji="1" lang="en-US" altLang="ja-JP" sz="2000" dirty="0"/>
          </a:p>
          <a:p>
            <a:endParaRPr lang="en-US" altLang="ja-JP" sz="2000" dirty="0"/>
          </a:p>
          <a:p>
            <a:pPr>
              <a:lnSpc>
                <a:spcPct val="130000"/>
              </a:lnSpc>
            </a:pPr>
            <a:r>
              <a:rPr kumimoji="1" lang="ja-JP" altLang="en-US" sz="2000" dirty="0"/>
              <a:t>明示的に現れない期待の抽出手法も検討する</a:t>
            </a:r>
            <a:endParaRPr kumimoji="1" lang="en-US" altLang="ja-JP" sz="2000" dirty="0"/>
          </a:p>
        </p:txBody>
      </p:sp>
      <p:sp>
        <p:nvSpPr>
          <p:cNvPr id="4" name="スライド番号プレースホルダー 3">
            <a:extLst>
              <a:ext uri="{FF2B5EF4-FFF2-40B4-BE49-F238E27FC236}">
                <a16:creationId xmlns:a16="http://schemas.microsoft.com/office/drawing/2014/main" id="{D4B112FC-23E8-D19F-958E-2F0C7E5A435F}"/>
              </a:ext>
            </a:extLst>
          </p:cNvPr>
          <p:cNvSpPr>
            <a:spLocks noGrp="1"/>
          </p:cNvSpPr>
          <p:nvPr>
            <p:ph type="sldNum" sz="quarter" idx="12"/>
          </p:nvPr>
        </p:nvSpPr>
        <p:spPr/>
        <p:txBody>
          <a:bodyPr/>
          <a:lstStyle/>
          <a:p>
            <a:fld id="{CF4A8B29-95AB-4EB3-9726-7CF76E557B81}" type="slidenum">
              <a:rPr kumimoji="1" lang="ja-JP" altLang="en-US" smtClean="0"/>
              <a:t>7</a:t>
            </a:fld>
            <a:endParaRPr kumimoji="1" lang="ja-JP" altLang="en-US"/>
          </a:p>
        </p:txBody>
      </p:sp>
    </p:spTree>
    <p:extLst>
      <p:ext uri="{BB962C8B-B14F-4D97-AF65-F5344CB8AC3E}">
        <p14:creationId xmlns:p14="http://schemas.microsoft.com/office/powerpoint/2010/main" val="4105097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手法</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542925" y="1434958"/>
            <a:ext cx="8058150" cy="5167003"/>
          </a:xfrm>
        </p:spPr>
        <p:txBody>
          <a:bodyPr vert="horz" lIns="91440" tIns="45720" rIns="91440" bIns="45720" rtlCol="0" anchor="t">
            <a:normAutofit/>
          </a:bodyPr>
          <a:lstStyle/>
          <a:p>
            <a:pPr marL="0" indent="0">
              <a:buNone/>
            </a:pPr>
            <a:r>
              <a:rPr kumimoji="1" lang="ja-JP" altLang="en-US" sz="2400" dirty="0"/>
              <a:t>以下の</a:t>
            </a:r>
            <a:r>
              <a:rPr kumimoji="1" lang="en-US" altLang="ja-JP" sz="2400" dirty="0"/>
              <a:t>2</a:t>
            </a:r>
            <a:r>
              <a:rPr kumimoji="1" lang="ja-JP" altLang="en-US" sz="2400" dirty="0"/>
              <a:t>つの実験を行う。</a:t>
            </a:r>
            <a:endParaRPr kumimoji="1" lang="en-US" altLang="ja-JP" sz="2400" dirty="0"/>
          </a:p>
          <a:p>
            <a:pPr marL="0" indent="0">
              <a:buNone/>
            </a:pPr>
            <a:endParaRPr lang="en-US" altLang="ja-JP" sz="2400" dirty="0"/>
          </a:p>
          <a:p>
            <a:pPr marL="457200" indent="-457200">
              <a:buAutoNum type="arabicPeriod"/>
            </a:pPr>
            <a:r>
              <a:rPr kumimoji="1" lang="ja-JP" altLang="en-US" sz="2400" b="1" dirty="0">
                <a:latin typeface="+mj-ea"/>
                <a:ea typeface="+mj-ea"/>
              </a:rPr>
              <a:t>系列ラベリングによる期待を含む</a:t>
            </a:r>
            <a:r>
              <a:rPr kumimoji="1" lang="en-US" altLang="ja-JP" sz="2400" b="1" dirty="0">
                <a:latin typeface="+mj-ea"/>
                <a:ea typeface="+mj-ea"/>
              </a:rPr>
              <a:t>4</a:t>
            </a:r>
            <a:r>
              <a:rPr kumimoji="1" lang="ja-JP" altLang="en-US" sz="2400" b="1" dirty="0">
                <a:latin typeface="+mj-ea"/>
                <a:ea typeface="+mj-ea"/>
              </a:rPr>
              <a:t>項組の抽出</a:t>
            </a:r>
            <a:endParaRPr kumimoji="1" lang="en-US" altLang="ja-JP" sz="2400" b="1" dirty="0">
              <a:latin typeface="+mj-ea"/>
              <a:ea typeface="+mj-ea"/>
            </a:endParaRPr>
          </a:p>
          <a:p>
            <a:pPr marL="0" indent="0">
              <a:buNone/>
            </a:pPr>
            <a:r>
              <a:rPr lang="ja-JP" altLang="en-US" sz="2000" dirty="0"/>
              <a:t>　　・トークン単位の分類</a:t>
            </a:r>
            <a:endParaRPr lang="en-US" altLang="ja-JP" sz="2000" dirty="0"/>
          </a:p>
          <a:p>
            <a:pPr marL="0" indent="0">
              <a:buNone/>
            </a:pPr>
            <a:r>
              <a:rPr lang="ja-JP" altLang="en-US" sz="2000" dirty="0"/>
              <a:t>　　・各項目に対応する文字列をレビューから抽出</a:t>
            </a:r>
            <a:endParaRPr lang="en-US" altLang="ja-JP" sz="2000" dirty="0"/>
          </a:p>
          <a:p>
            <a:pPr marL="0" indent="0">
              <a:buNone/>
            </a:pPr>
            <a:endParaRPr lang="en-US" altLang="ja-JP" sz="2000" dirty="0"/>
          </a:p>
          <a:p>
            <a:pPr marL="0" indent="0">
              <a:buNone/>
            </a:pPr>
            <a:r>
              <a:rPr kumimoji="1" lang="en-US" altLang="ja-JP" sz="2400" b="1" dirty="0">
                <a:latin typeface="+mj-ea"/>
                <a:ea typeface="+mj-ea"/>
              </a:rPr>
              <a:t>2.   </a:t>
            </a:r>
            <a:r>
              <a:rPr kumimoji="1" lang="ja-JP" altLang="en-US" sz="2400" b="1" dirty="0">
                <a:latin typeface="+mj-ea"/>
                <a:ea typeface="+mj-ea"/>
              </a:rPr>
              <a:t>文分類による期待の抽出</a:t>
            </a:r>
            <a:endParaRPr kumimoji="1" lang="en-US" altLang="ja-JP" sz="2400" b="1" dirty="0">
              <a:latin typeface="+mj-ea"/>
              <a:ea typeface="+mj-ea"/>
            </a:endParaRPr>
          </a:p>
          <a:p>
            <a:pPr marL="0" indent="0">
              <a:buNone/>
            </a:pPr>
            <a:r>
              <a:rPr lang="ja-JP" altLang="en-US" sz="2000" dirty="0"/>
              <a:t>　　・文単位の分類</a:t>
            </a:r>
            <a:endParaRPr kumimoji="1" lang="en-US" altLang="ja-JP" sz="2000" dirty="0"/>
          </a:p>
          <a:p>
            <a:pPr marL="0" indent="0">
              <a:buNone/>
            </a:pPr>
            <a:r>
              <a:rPr lang="ja-JP" altLang="en-US" sz="2000" dirty="0"/>
              <a:t>　　・</a:t>
            </a:r>
            <a:r>
              <a:rPr kumimoji="1" lang="ja-JP" altLang="en-US" sz="2000" dirty="0"/>
              <a:t>明示的に現れない期待はこちらで扱う</a:t>
            </a:r>
            <a:endParaRPr lang="en-US" altLang="ja-JP" sz="2000" dirty="0"/>
          </a:p>
          <a:p>
            <a:pPr marL="0" indent="0">
              <a:buNone/>
            </a:pPr>
            <a:endParaRPr lang="ja-JP" altLang="en-US" sz="2000" dirty="0">
              <a:latin typeface="Segoe UI"/>
              <a:ea typeface="游ゴシック Medium"/>
              <a:cs typeface="Segoe UI"/>
            </a:endParaRPr>
          </a:p>
          <a:p>
            <a:pPr marL="0" indent="0">
              <a:buNone/>
            </a:pPr>
            <a:r>
              <a:rPr kumimoji="1" lang="ja-JP" altLang="en-US" sz="2000" dirty="0"/>
              <a:t>どちらも</a:t>
            </a:r>
            <a:r>
              <a:rPr kumimoji="1" lang="en-US" altLang="ja-JP" sz="2000" dirty="0"/>
              <a:t>BERT</a:t>
            </a:r>
            <a:r>
              <a:rPr kumimoji="1" lang="ja-JP" altLang="en-US" sz="2000" dirty="0"/>
              <a:t>を用いて実装する。</a:t>
            </a:r>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8</a:t>
            </a:fld>
            <a:endParaRPr kumimoji="1" lang="ja-JP" altLang="en-US"/>
          </a:p>
        </p:txBody>
      </p:sp>
    </p:spTree>
    <p:extLst>
      <p:ext uri="{BB962C8B-B14F-4D97-AF65-F5344CB8AC3E}">
        <p14:creationId xmlns:p14="http://schemas.microsoft.com/office/powerpoint/2010/main" val="2105203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DB9E-04F8-FD39-BDAF-F56AE9F6D7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3DAB31-535F-659C-2E1E-E6151637068A}"/>
              </a:ext>
            </a:extLst>
          </p:cNvPr>
          <p:cNvSpPr>
            <a:spLocks noGrp="1"/>
          </p:cNvSpPr>
          <p:nvPr>
            <p:ph type="title"/>
          </p:nvPr>
        </p:nvSpPr>
        <p:spPr/>
        <p:txBody>
          <a:bodyPr/>
          <a:lstStyle/>
          <a:p>
            <a:r>
              <a:rPr kumimoji="1" lang="ja-JP" altLang="en-US" dirty="0"/>
              <a:t>実験</a:t>
            </a:r>
            <a:r>
              <a:rPr kumimoji="1" lang="en-US" altLang="ja-JP" dirty="0"/>
              <a:t>1 </a:t>
            </a:r>
            <a:r>
              <a:rPr kumimoji="1" lang="ja-JP" altLang="en-US" dirty="0"/>
              <a:t>系列ラベリングによる抽出</a:t>
            </a:r>
          </a:p>
        </p:txBody>
      </p:sp>
      <p:sp>
        <p:nvSpPr>
          <p:cNvPr id="4" name="スライド番号プレースホルダー 3">
            <a:extLst>
              <a:ext uri="{FF2B5EF4-FFF2-40B4-BE49-F238E27FC236}">
                <a16:creationId xmlns:a16="http://schemas.microsoft.com/office/drawing/2014/main" id="{622FD4A9-96D4-3DD9-4936-FDAAE3FC8A21}"/>
              </a:ext>
            </a:extLst>
          </p:cNvPr>
          <p:cNvSpPr>
            <a:spLocks noGrp="1"/>
          </p:cNvSpPr>
          <p:nvPr>
            <p:ph type="sldNum" sz="quarter" idx="12"/>
          </p:nvPr>
        </p:nvSpPr>
        <p:spPr/>
        <p:txBody>
          <a:bodyPr/>
          <a:lstStyle/>
          <a:p>
            <a:fld id="{CF4A8B29-95AB-4EB3-9726-7CF76E557B81}" type="slidenum">
              <a:rPr kumimoji="1" lang="ja-JP" altLang="en-US" smtClean="0"/>
              <a:t>9</a:t>
            </a:fld>
            <a:endParaRPr kumimoji="1" lang="ja-JP" altLang="en-US"/>
          </a:p>
        </p:txBody>
      </p:sp>
      <p:sp>
        <p:nvSpPr>
          <p:cNvPr id="6" name="タイトル 1">
            <a:extLst>
              <a:ext uri="{FF2B5EF4-FFF2-40B4-BE49-F238E27FC236}">
                <a16:creationId xmlns:a16="http://schemas.microsoft.com/office/drawing/2014/main" id="{7BB2035D-5494-62D2-2F00-84EBB410F1DF}"/>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評判情報の定義</a:t>
            </a:r>
          </a:p>
        </p:txBody>
      </p:sp>
      <p:sp>
        <p:nvSpPr>
          <p:cNvPr id="9" name="コンテンツ プレースホルダー 2">
            <a:extLst>
              <a:ext uri="{FF2B5EF4-FFF2-40B4-BE49-F238E27FC236}">
                <a16:creationId xmlns:a16="http://schemas.microsoft.com/office/drawing/2014/main" id="{5C9ABC5C-F60B-0889-668B-B58780B5ACD9}"/>
              </a:ext>
            </a:extLst>
          </p:cNvPr>
          <p:cNvSpPr>
            <a:spLocks noGrp="1"/>
          </p:cNvSpPr>
          <p:nvPr>
            <p:ph idx="1"/>
          </p:nvPr>
        </p:nvSpPr>
        <p:spPr>
          <a:xfrm>
            <a:off x="577850" y="2152688"/>
            <a:ext cx="8291830" cy="3750272"/>
          </a:xfrm>
        </p:spPr>
        <p:txBody>
          <a:bodyPr>
            <a:normAutofit/>
          </a:bodyPr>
          <a:lstStyle/>
          <a:p>
            <a:pPr marL="0" indent="0">
              <a:buNone/>
            </a:pPr>
            <a:r>
              <a:rPr kumimoji="1" lang="ja-JP" altLang="en-US" sz="2000" dirty="0"/>
              <a:t>本研究では評判情報を｛属性</a:t>
            </a:r>
            <a:r>
              <a:rPr kumimoji="1" lang="en-US" altLang="ja-JP" sz="2000" dirty="0"/>
              <a:t>, </a:t>
            </a:r>
            <a:r>
              <a:rPr kumimoji="1" lang="ja-JP" altLang="en-US" sz="2000" dirty="0"/>
              <a:t>属性値</a:t>
            </a:r>
            <a:r>
              <a:rPr kumimoji="1" lang="en-US" altLang="ja-JP" sz="2000" dirty="0"/>
              <a:t>, </a:t>
            </a:r>
            <a:r>
              <a:rPr kumimoji="1" lang="ja-JP" altLang="en-US" sz="2000" dirty="0"/>
              <a:t>期待</a:t>
            </a:r>
            <a:r>
              <a:rPr kumimoji="1" lang="en-US" altLang="ja-JP" sz="2000" dirty="0"/>
              <a:t>, </a:t>
            </a:r>
            <a:r>
              <a:rPr kumimoji="1" lang="ja-JP" altLang="en-US" sz="2000" dirty="0"/>
              <a:t>評価｝の</a:t>
            </a:r>
            <a:r>
              <a:rPr kumimoji="1" lang="en-US" altLang="ja-JP" sz="2000" dirty="0"/>
              <a:t>4</a:t>
            </a:r>
            <a:r>
              <a:rPr kumimoji="1" lang="ja-JP" altLang="en-US" sz="2000" dirty="0"/>
              <a:t>項組で構成する。</a:t>
            </a:r>
            <a:endParaRPr kumimoji="1" lang="en-US" altLang="ja-JP" sz="2000" dirty="0"/>
          </a:p>
          <a:p>
            <a:pPr marL="0" indent="0">
              <a:buNone/>
            </a:pPr>
            <a:endParaRPr kumimoji="1" lang="en-US" altLang="ja-JP" sz="2000" dirty="0"/>
          </a:p>
          <a:p>
            <a:pPr marL="0" indent="0">
              <a:buNone/>
            </a:pPr>
            <a:r>
              <a:rPr lang="ja-JP" altLang="en-US" sz="2000" b="1" dirty="0">
                <a:latin typeface="游ゴシック" panose="020B0400000000000000" pitchFamily="50" charset="-128"/>
                <a:ea typeface="游ゴシック" panose="020B0400000000000000" pitchFamily="50" charset="-128"/>
              </a:rPr>
              <a:t>属性： 商品のある観点</a:t>
            </a:r>
          </a:p>
          <a:p>
            <a:pPr marL="0" indent="0">
              <a:buNone/>
            </a:pPr>
            <a:r>
              <a:rPr lang="ja-JP" altLang="en-US" sz="2000" dirty="0"/>
              <a:t>  　　 「音」「吸引力」などの名詞句</a:t>
            </a:r>
          </a:p>
          <a:p>
            <a:pPr marL="0" indent="0">
              <a:buNone/>
            </a:pPr>
            <a:endParaRPr lang="ja-JP" altLang="en-US" sz="2000" dirty="0"/>
          </a:p>
          <a:p>
            <a:pPr marL="0" indent="0">
              <a:buNone/>
            </a:pPr>
            <a:r>
              <a:rPr lang="ja-JP" altLang="en-US" sz="2000" b="1" dirty="0">
                <a:latin typeface="游ゴシック" panose="020B0400000000000000" pitchFamily="50" charset="-128"/>
                <a:ea typeface="游ゴシック" panose="020B0400000000000000" pitchFamily="50" charset="-128"/>
              </a:rPr>
              <a:t>属性値： 属性の状態や程度</a:t>
            </a:r>
            <a:endParaRPr lang="en-US" altLang="ja-JP" sz="2000" b="1" dirty="0">
              <a:latin typeface="游ゴシック" panose="020B0400000000000000" pitchFamily="50" charset="-128"/>
              <a:ea typeface="游ゴシック" panose="020B0400000000000000" pitchFamily="50" charset="-128"/>
            </a:endParaRPr>
          </a:p>
          <a:p>
            <a:pPr marL="0" indent="0">
              <a:buNone/>
            </a:pPr>
            <a:r>
              <a:rPr lang="ja-JP" altLang="en-US" sz="2000" dirty="0"/>
              <a:t>   　　   「吸引力が</a:t>
            </a:r>
            <a:r>
              <a:rPr lang="ja-JP" altLang="en-US" sz="2000" u="sng" dirty="0"/>
              <a:t>強い</a:t>
            </a:r>
            <a:r>
              <a:rPr lang="ja-JP" altLang="en-US" sz="2000" dirty="0"/>
              <a:t>」「音が</a:t>
            </a:r>
            <a:r>
              <a:rPr lang="ja-JP" altLang="en-US" sz="2000" u="sng" dirty="0"/>
              <a:t>うるさい</a:t>
            </a:r>
            <a:r>
              <a:rPr lang="ja-JP" altLang="en-US" sz="2000" dirty="0"/>
              <a:t>」</a:t>
            </a:r>
          </a:p>
        </p:txBody>
      </p:sp>
    </p:spTree>
    <p:extLst>
      <p:ext uri="{BB962C8B-B14F-4D97-AF65-F5344CB8AC3E}">
        <p14:creationId xmlns:p14="http://schemas.microsoft.com/office/powerpoint/2010/main" val="4255684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実験</a:t>
            </a:r>
            <a:r>
              <a:rPr kumimoji="1" lang="en-US" altLang="ja-JP" dirty="0"/>
              <a:t>1 </a:t>
            </a:r>
            <a:r>
              <a:rPr kumimoji="1" lang="ja-JP" altLang="en-US" dirty="0"/>
              <a:t>系列ラベリングによる抽出</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577850" y="2022476"/>
            <a:ext cx="8291830" cy="4319232"/>
          </a:xfrm>
        </p:spPr>
        <p:txBody>
          <a:bodyPr>
            <a:normAutofit/>
          </a:bodyPr>
          <a:lstStyle/>
          <a:p>
            <a:pPr marL="0" indent="0">
              <a:buNone/>
            </a:pPr>
            <a:r>
              <a:rPr lang="ja-JP" altLang="en-US" sz="2000" b="1" dirty="0">
                <a:latin typeface="游ゴシック" panose="020B0400000000000000" pitchFamily="50" charset="-128"/>
                <a:ea typeface="游ゴシック" panose="020B0400000000000000" pitchFamily="50" charset="-128"/>
              </a:rPr>
              <a:t>期待：期待や願望、改善点が記述された箇所</a:t>
            </a:r>
          </a:p>
          <a:p>
            <a:pPr marL="0" indent="0">
              <a:buNone/>
            </a:pPr>
            <a:r>
              <a:rPr lang="ja-JP" altLang="en-US" sz="2000" dirty="0"/>
              <a:t>　　　注釈付けの条件は特に定めていない</a:t>
            </a:r>
          </a:p>
          <a:p>
            <a:pPr marL="0" indent="0">
              <a:buNone/>
            </a:pPr>
            <a:endParaRPr lang="ja-JP" altLang="en-US" sz="2000" dirty="0"/>
          </a:p>
          <a:p>
            <a:pPr marL="0" indent="0">
              <a:buNone/>
            </a:pPr>
            <a:r>
              <a:rPr lang="ja-JP" altLang="en-US" sz="2000" b="1" dirty="0">
                <a:latin typeface="游ゴシック" panose="020B0400000000000000" pitchFamily="50" charset="-128"/>
                <a:ea typeface="游ゴシック" panose="020B0400000000000000" pitchFamily="50" charset="-128"/>
              </a:rPr>
              <a:t>評価：レビュアーの商品への評価や心的態度</a:t>
            </a:r>
          </a:p>
          <a:p>
            <a:pPr marL="0" indent="0">
              <a:buNone/>
            </a:pPr>
            <a:r>
              <a:rPr lang="ja-JP" altLang="en-US" sz="2000" dirty="0"/>
              <a:t>　　  「</a:t>
            </a:r>
            <a:r>
              <a:rPr lang="ja-JP" altLang="en-US" sz="2000" u="sng" dirty="0"/>
              <a:t>星</a:t>
            </a:r>
            <a:r>
              <a:rPr lang="en-US" altLang="ja-JP" sz="2000" u="sng" dirty="0"/>
              <a:t>3</a:t>
            </a:r>
            <a:r>
              <a:rPr lang="ja-JP" altLang="en-US" sz="2000" u="sng" dirty="0"/>
              <a:t>つ</a:t>
            </a:r>
            <a:r>
              <a:rPr lang="ja-JP" altLang="en-US" sz="2000" dirty="0"/>
              <a:t>です」「～が</a:t>
            </a:r>
            <a:r>
              <a:rPr lang="ja-JP" altLang="en-US" sz="2000" u="sng" dirty="0"/>
              <a:t>残念</a:t>
            </a:r>
            <a:r>
              <a:rPr lang="ja-JP" altLang="en-US" sz="2000" dirty="0"/>
              <a:t>」</a:t>
            </a:r>
          </a:p>
          <a:p>
            <a:pPr marL="0" indent="0">
              <a:buNone/>
            </a:pPr>
            <a:endParaRPr lang="ja-JP" altLang="en-US" sz="20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10</a:t>
            </a:fld>
            <a:endParaRPr kumimoji="1" lang="ja-JP" altLang="en-US"/>
          </a:p>
        </p:txBody>
      </p:sp>
      <p:sp>
        <p:nvSpPr>
          <p:cNvPr id="6" name="タイトル 1">
            <a:extLst>
              <a:ext uri="{FF2B5EF4-FFF2-40B4-BE49-F238E27FC236}">
                <a16:creationId xmlns:a16="http://schemas.microsoft.com/office/drawing/2014/main" id="{A119EE18-603B-DFCB-F937-2EA6A3E30342}"/>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評判情報の定義</a:t>
            </a:r>
          </a:p>
        </p:txBody>
      </p:sp>
      <p:sp>
        <p:nvSpPr>
          <p:cNvPr id="16" name="テキスト ボックス 15">
            <a:extLst>
              <a:ext uri="{FF2B5EF4-FFF2-40B4-BE49-F238E27FC236}">
                <a16:creationId xmlns:a16="http://schemas.microsoft.com/office/drawing/2014/main" id="{7D7AD028-9A1B-24DC-0FFD-7BA5D41385F3}"/>
              </a:ext>
            </a:extLst>
          </p:cNvPr>
          <p:cNvSpPr txBox="1"/>
          <p:nvPr/>
        </p:nvSpPr>
        <p:spPr>
          <a:xfrm>
            <a:off x="577850" y="4683731"/>
            <a:ext cx="5090160" cy="369332"/>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latin typeface="+mn-ea"/>
              </a:rPr>
              <a:t>注釈付けの例（掃除機のレビュー）</a:t>
            </a:r>
          </a:p>
        </p:txBody>
      </p:sp>
      <p:grpSp>
        <p:nvGrpSpPr>
          <p:cNvPr id="5" name="グループ化 4">
            <a:extLst>
              <a:ext uri="{FF2B5EF4-FFF2-40B4-BE49-F238E27FC236}">
                <a16:creationId xmlns:a16="http://schemas.microsoft.com/office/drawing/2014/main" id="{0C4AACC0-A936-3D55-AE7D-25A9C41A7224}"/>
              </a:ext>
            </a:extLst>
          </p:cNvPr>
          <p:cNvGrpSpPr/>
          <p:nvPr/>
        </p:nvGrpSpPr>
        <p:grpSpPr>
          <a:xfrm>
            <a:off x="822325" y="5150543"/>
            <a:ext cx="8484235" cy="812106"/>
            <a:chOff x="566419" y="4406222"/>
            <a:chExt cx="8484235" cy="812106"/>
          </a:xfrm>
        </p:grpSpPr>
        <p:grpSp>
          <p:nvGrpSpPr>
            <p:cNvPr id="8" name="グループ化 7">
              <a:extLst>
                <a:ext uri="{FF2B5EF4-FFF2-40B4-BE49-F238E27FC236}">
                  <a16:creationId xmlns:a16="http://schemas.microsoft.com/office/drawing/2014/main" id="{6F4870BE-0A0E-47B8-3AE3-1AA280ED96A8}"/>
                </a:ext>
              </a:extLst>
            </p:cNvPr>
            <p:cNvGrpSpPr/>
            <p:nvPr/>
          </p:nvGrpSpPr>
          <p:grpSpPr>
            <a:xfrm>
              <a:off x="566419" y="4406222"/>
              <a:ext cx="8484235" cy="812106"/>
              <a:chOff x="566419" y="4406222"/>
              <a:chExt cx="8484235" cy="812106"/>
            </a:xfrm>
          </p:grpSpPr>
          <p:sp>
            <p:nvSpPr>
              <p:cNvPr id="19" name="テキスト ボックス 18">
                <a:extLst>
                  <a:ext uri="{FF2B5EF4-FFF2-40B4-BE49-F238E27FC236}">
                    <a16:creationId xmlns:a16="http://schemas.microsoft.com/office/drawing/2014/main" id="{D33D638A-174E-C3BC-1F1F-207A491BF3FC}"/>
                  </a:ext>
                </a:extLst>
              </p:cNvPr>
              <p:cNvSpPr txBox="1"/>
              <p:nvPr/>
            </p:nvSpPr>
            <p:spPr>
              <a:xfrm>
                <a:off x="566419" y="4406222"/>
                <a:ext cx="8484235" cy="400110"/>
              </a:xfrm>
              <a:prstGeom prst="rect">
                <a:avLst/>
              </a:prstGeom>
              <a:noFill/>
            </p:spPr>
            <p:txBody>
              <a:bodyPr wrap="square" rtlCol="0">
                <a:spAutoFit/>
              </a:bodyPr>
              <a:lstStyle/>
              <a:p>
                <a:pPr marL="0" indent="0">
                  <a:buNone/>
                </a:pPr>
                <a:r>
                  <a:rPr lang="ja-JP" altLang="en-US" sz="2000" dirty="0"/>
                  <a:t>「コードが短いのが残念。もう少し長いものだと思っていた。」</a:t>
                </a:r>
                <a:endParaRPr lang="en-US" altLang="ja-JP" sz="2000" dirty="0"/>
              </a:p>
            </p:txBody>
          </p:sp>
          <p:cxnSp>
            <p:nvCxnSpPr>
              <p:cNvPr id="20" name="直線コネクタ 19">
                <a:extLst>
                  <a:ext uri="{FF2B5EF4-FFF2-40B4-BE49-F238E27FC236}">
                    <a16:creationId xmlns:a16="http://schemas.microsoft.com/office/drawing/2014/main" id="{266F9A19-2403-46F8-DA0B-FFD72791F292}"/>
                  </a:ext>
                </a:extLst>
              </p:cNvPr>
              <p:cNvCxnSpPr>
                <a:cxnSpLocks/>
              </p:cNvCxnSpPr>
              <p:nvPr/>
            </p:nvCxnSpPr>
            <p:spPr>
              <a:xfrm>
                <a:off x="889838" y="4774909"/>
                <a:ext cx="83732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E90B9095-5968-1A88-921B-B61CE91912EA}"/>
                  </a:ext>
                </a:extLst>
              </p:cNvPr>
              <p:cNvSpPr txBox="1"/>
              <p:nvPr/>
            </p:nvSpPr>
            <p:spPr>
              <a:xfrm>
                <a:off x="976708" y="4848996"/>
                <a:ext cx="737136" cy="369332"/>
              </a:xfrm>
              <a:prstGeom prst="rect">
                <a:avLst/>
              </a:prstGeom>
              <a:noFill/>
            </p:spPr>
            <p:txBody>
              <a:bodyPr wrap="square" rtlCol="0">
                <a:spAutoFit/>
              </a:bodyPr>
              <a:lstStyle/>
              <a:p>
                <a:pPr algn="ctr"/>
                <a:r>
                  <a:rPr kumimoji="1" lang="ja-JP" altLang="en-US" dirty="0">
                    <a:solidFill>
                      <a:srgbClr val="0070C0"/>
                    </a:solidFill>
                  </a:rPr>
                  <a:t>属性</a:t>
                </a:r>
              </a:p>
            </p:txBody>
          </p:sp>
          <p:cxnSp>
            <p:nvCxnSpPr>
              <p:cNvPr id="22" name="直線コネクタ 21">
                <a:extLst>
                  <a:ext uri="{FF2B5EF4-FFF2-40B4-BE49-F238E27FC236}">
                    <a16:creationId xmlns:a16="http://schemas.microsoft.com/office/drawing/2014/main" id="{5C1CF683-CD6A-58B6-49EC-6EF906C05570}"/>
                  </a:ext>
                </a:extLst>
              </p:cNvPr>
              <p:cNvCxnSpPr>
                <a:cxnSpLocks/>
              </p:cNvCxnSpPr>
              <p:nvPr/>
            </p:nvCxnSpPr>
            <p:spPr>
              <a:xfrm flipV="1">
                <a:off x="1917618" y="4767686"/>
                <a:ext cx="518876" cy="263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D70DAF14-132A-017B-483F-EBA155E36289}"/>
                  </a:ext>
                </a:extLst>
              </p:cNvPr>
              <p:cNvSpPr txBox="1"/>
              <p:nvPr/>
            </p:nvSpPr>
            <p:spPr>
              <a:xfrm>
                <a:off x="4151782" y="4848996"/>
                <a:ext cx="664760" cy="369332"/>
              </a:xfrm>
              <a:prstGeom prst="rect">
                <a:avLst/>
              </a:prstGeom>
              <a:noFill/>
            </p:spPr>
            <p:txBody>
              <a:bodyPr wrap="square" rtlCol="0">
                <a:spAutoFit/>
              </a:bodyPr>
              <a:lstStyle/>
              <a:p>
                <a:pPr algn="ctr"/>
                <a:r>
                  <a:rPr kumimoji="1" lang="ja-JP" altLang="en-US" dirty="0">
                    <a:solidFill>
                      <a:srgbClr val="0070C0"/>
                    </a:solidFill>
                  </a:rPr>
                  <a:t>期待</a:t>
                </a:r>
              </a:p>
            </p:txBody>
          </p:sp>
          <p:sp>
            <p:nvSpPr>
              <p:cNvPr id="24" name="テキスト ボックス 23">
                <a:extLst>
                  <a:ext uri="{FF2B5EF4-FFF2-40B4-BE49-F238E27FC236}">
                    <a16:creationId xmlns:a16="http://schemas.microsoft.com/office/drawing/2014/main" id="{04446E56-9DBB-868A-D9F7-B0CFF2E3A34E}"/>
                  </a:ext>
                </a:extLst>
              </p:cNvPr>
              <p:cNvSpPr txBox="1"/>
              <p:nvPr/>
            </p:nvSpPr>
            <p:spPr>
              <a:xfrm>
                <a:off x="2889729" y="4848996"/>
                <a:ext cx="664760" cy="369332"/>
              </a:xfrm>
              <a:prstGeom prst="rect">
                <a:avLst/>
              </a:prstGeom>
              <a:noFill/>
            </p:spPr>
            <p:txBody>
              <a:bodyPr wrap="square" rtlCol="0">
                <a:spAutoFit/>
              </a:bodyPr>
              <a:lstStyle/>
              <a:p>
                <a:pPr algn="ctr"/>
                <a:r>
                  <a:rPr kumimoji="1" lang="ja-JP" altLang="en-US" dirty="0">
                    <a:solidFill>
                      <a:srgbClr val="0070C0"/>
                    </a:solidFill>
                  </a:rPr>
                  <a:t>評価</a:t>
                </a:r>
              </a:p>
            </p:txBody>
          </p:sp>
          <p:sp>
            <p:nvSpPr>
              <p:cNvPr id="25" name="テキスト ボックス 24">
                <a:extLst>
                  <a:ext uri="{FF2B5EF4-FFF2-40B4-BE49-F238E27FC236}">
                    <a16:creationId xmlns:a16="http://schemas.microsoft.com/office/drawing/2014/main" id="{02BB18A0-470B-ABB6-C167-9EFFBA5A096E}"/>
                  </a:ext>
                </a:extLst>
              </p:cNvPr>
              <p:cNvSpPr txBox="1"/>
              <p:nvPr/>
            </p:nvSpPr>
            <p:spPr>
              <a:xfrm>
                <a:off x="1673136" y="4848996"/>
                <a:ext cx="1007839" cy="369332"/>
              </a:xfrm>
              <a:prstGeom prst="rect">
                <a:avLst/>
              </a:prstGeom>
              <a:noFill/>
            </p:spPr>
            <p:txBody>
              <a:bodyPr wrap="square" rtlCol="0">
                <a:spAutoFit/>
              </a:bodyPr>
              <a:lstStyle/>
              <a:p>
                <a:pPr algn="ctr"/>
                <a:r>
                  <a:rPr kumimoji="1" lang="ja-JP" altLang="en-US" dirty="0">
                    <a:solidFill>
                      <a:srgbClr val="0070C0"/>
                    </a:solidFill>
                  </a:rPr>
                  <a:t>属性値</a:t>
                </a:r>
              </a:p>
            </p:txBody>
          </p:sp>
        </p:grpSp>
        <p:cxnSp>
          <p:nvCxnSpPr>
            <p:cNvPr id="17" name="直線コネクタ 16">
              <a:extLst>
                <a:ext uri="{FF2B5EF4-FFF2-40B4-BE49-F238E27FC236}">
                  <a16:creationId xmlns:a16="http://schemas.microsoft.com/office/drawing/2014/main" id="{A0C874AE-49CB-5A7D-0CBD-59D223E6AEE6}"/>
                </a:ext>
              </a:extLst>
            </p:cNvPr>
            <p:cNvCxnSpPr>
              <a:cxnSpLocks/>
            </p:cNvCxnSpPr>
            <p:nvPr/>
          </p:nvCxnSpPr>
          <p:spPr>
            <a:xfrm>
              <a:off x="2974974" y="4788010"/>
              <a:ext cx="487384"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86A42227-5EAB-1E66-8D0E-BB18A0028CB4}"/>
                </a:ext>
              </a:extLst>
            </p:cNvPr>
            <p:cNvCxnSpPr>
              <a:cxnSpLocks/>
            </p:cNvCxnSpPr>
            <p:nvPr/>
          </p:nvCxnSpPr>
          <p:spPr>
            <a:xfrm>
              <a:off x="3736300" y="4788010"/>
              <a:ext cx="1495724"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2744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実験</a:t>
            </a:r>
            <a:r>
              <a:rPr kumimoji="1" lang="en-US" altLang="ja-JP" dirty="0"/>
              <a:t>1 </a:t>
            </a:r>
            <a:r>
              <a:rPr kumimoji="1" lang="ja-JP" altLang="en-US" dirty="0"/>
              <a:t>系列ラベリングによる抽出</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285750" y="2190016"/>
            <a:ext cx="4114800" cy="4166335"/>
          </a:xfrm>
        </p:spPr>
        <p:txBody>
          <a:bodyPr>
            <a:normAutofit/>
          </a:bodyPr>
          <a:lstStyle/>
          <a:p>
            <a:pPr>
              <a:lnSpc>
                <a:spcPct val="110000"/>
              </a:lnSpc>
            </a:pPr>
            <a:r>
              <a:rPr kumimoji="1" lang="ja-JP" altLang="en-US" sz="2000" dirty="0"/>
              <a:t>楽天市場の掃除機の</a:t>
            </a:r>
            <a:br>
              <a:rPr kumimoji="1" lang="en-US" altLang="ja-JP" sz="2000" dirty="0"/>
            </a:br>
            <a:r>
              <a:rPr kumimoji="1" lang="ja-JP" altLang="en-US" sz="2000" dirty="0"/>
              <a:t>レビュー</a:t>
            </a:r>
            <a:r>
              <a:rPr kumimoji="1" lang="en-US" altLang="ja-JP" sz="2000" dirty="0"/>
              <a:t>500</a:t>
            </a:r>
            <a:r>
              <a:rPr kumimoji="1" lang="ja-JP" altLang="en-US" sz="2000" dirty="0"/>
              <a:t>件に対して</a:t>
            </a:r>
            <a:br>
              <a:rPr kumimoji="1" lang="en-US" altLang="ja-JP" sz="2000" dirty="0"/>
            </a:br>
            <a:r>
              <a:rPr kumimoji="1" lang="en-US" altLang="ja-JP" sz="2000" dirty="0"/>
              <a:t>4</a:t>
            </a:r>
            <a:r>
              <a:rPr kumimoji="1" lang="ja-JP" altLang="en-US" sz="2000" dirty="0"/>
              <a:t>項組の注釈付けを</a:t>
            </a:r>
            <a:br>
              <a:rPr kumimoji="1" lang="en-US" altLang="ja-JP" sz="2000" dirty="0"/>
            </a:br>
            <a:r>
              <a:rPr kumimoji="1" lang="ja-JP" altLang="en-US" sz="2000" dirty="0"/>
              <a:t>人手で行った。</a:t>
            </a:r>
            <a:endParaRPr kumimoji="1" lang="en-US" altLang="ja-JP" sz="2000" dirty="0"/>
          </a:p>
          <a:p>
            <a:pPr marL="0" indent="0">
              <a:lnSpc>
                <a:spcPct val="110000"/>
              </a:lnSpc>
              <a:buNone/>
            </a:pPr>
            <a:endParaRPr kumimoji="1" lang="en-US" altLang="ja-JP" sz="2000" dirty="0"/>
          </a:p>
          <a:p>
            <a:pPr>
              <a:lnSpc>
                <a:spcPct val="110000"/>
              </a:lnSpc>
            </a:pPr>
            <a:r>
              <a:rPr lang="ja-JP" altLang="en-US" sz="2000" dirty="0"/>
              <a:t>期待の出現回数が少なかったため、他商品のレビューから期待が出現する文を新たにデータセットとして加えた。</a:t>
            </a:r>
            <a:endParaRPr lang="en-US" altLang="ja-JP" sz="2000" dirty="0"/>
          </a:p>
          <a:p>
            <a:pPr>
              <a:lnSpc>
                <a:spcPct val="110000"/>
              </a:lnSpc>
            </a:pPr>
            <a:endParaRPr lang="en-US" altLang="ja-JP" sz="2000" dirty="0"/>
          </a:p>
          <a:p>
            <a:pPr>
              <a:lnSpc>
                <a:spcPct val="110000"/>
              </a:lnSpc>
            </a:pPr>
            <a:endParaRPr kumimoji="1" lang="en-US" altLang="ja-JP" sz="20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11</a:t>
            </a:fld>
            <a:endParaRPr kumimoji="1" lang="ja-JP" altLang="en-US"/>
          </a:p>
        </p:txBody>
      </p:sp>
      <p:sp>
        <p:nvSpPr>
          <p:cNvPr id="8" name="タイトル 1">
            <a:extLst>
              <a:ext uri="{FF2B5EF4-FFF2-40B4-BE49-F238E27FC236}">
                <a16:creationId xmlns:a16="http://schemas.microsoft.com/office/drawing/2014/main" id="{EA3F2192-8C3F-A5D0-8A92-5CC343BA85F8}"/>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データセット作成</a:t>
            </a:r>
          </a:p>
        </p:txBody>
      </p:sp>
      <p:sp>
        <p:nvSpPr>
          <p:cNvPr id="10" name="テキスト ボックス 9">
            <a:extLst>
              <a:ext uri="{FF2B5EF4-FFF2-40B4-BE49-F238E27FC236}">
                <a16:creationId xmlns:a16="http://schemas.microsoft.com/office/drawing/2014/main" id="{28E3605B-BAE1-5306-8327-00F0BE438C14}"/>
              </a:ext>
            </a:extLst>
          </p:cNvPr>
          <p:cNvSpPr txBox="1"/>
          <p:nvPr/>
        </p:nvSpPr>
        <p:spPr>
          <a:xfrm>
            <a:off x="4733290" y="2199718"/>
            <a:ext cx="3210560" cy="369332"/>
          </a:xfrm>
          <a:prstGeom prst="rect">
            <a:avLst/>
          </a:prstGeom>
          <a:noFill/>
        </p:spPr>
        <p:txBody>
          <a:bodyPr wrap="square" rtlCol="0">
            <a:spAutoFit/>
          </a:bodyPr>
          <a:lstStyle/>
          <a:p>
            <a:r>
              <a:rPr kumimoji="1" lang="ja-JP" altLang="en-US" dirty="0"/>
              <a:t>各項目の出現回数（</a:t>
            </a:r>
            <a:r>
              <a:rPr kumimoji="1" lang="en-US" altLang="ja-JP" dirty="0"/>
              <a:t>1591</a:t>
            </a:r>
            <a:r>
              <a:rPr kumimoji="1" lang="ja-JP" altLang="en-US" dirty="0"/>
              <a:t>文）</a:t>
            </a:r>
          </a:p>
        </p:txBody>
      </p:sp>
      <p:sp>
        <p:nvSpPr>
          <p:cNvPr id="11" name="テキスト ボックス 10">
            <a:extLst>
              <a:ext uri="{FF2B5EF4-FFF2-40B4-BE49-F238E27FC236}">
                <a16:creationId xmlns:a16="http://schemas.microsoft.com/office/drawing/2014/main" id="{D131F174-31BC-72D1-D310-A62A82D13EDF}"/>
              </a:ext>
            </a:extLst>
          </p:cNvPr>
          <p:cNvSpPr txBox="1"/>
          <p:nvPr/>
        </p:nvSpPr>
        <p:spPr>
          <a:xfrm>
            <a:off x="4693920" y="4288951"/>
            <a:ext cx="4164330" cy="369332"/>
          </a:xfrm>
          <a:prstGeom prst="rect">
            <a:avLst/>
          </a:prstGeom>
          <a:noFill/>
        </p:spPr>
        <p:txBody>
          <a:bodyPr wrap="square" rtlCol="0">
            <a:spAutoFit/>
          </a:bodyPr>
          <a:lstStyle/>
          <a:p>
            <a:r>
              <a:rPr kumimoji="1" lang="ja-JP" altLang="en-US" dirty="0"/>
              <a:t>追加語の各項目の出現回数（</a:t>
            </a:r>
            <a:r>
              <a:rPr kumimoji="1" lang="en-US" altLang="ja-JP" dirty="0"/>
              <a:t>2011</a:t>
            </a:r>
            <a:r>
              <a:rPr kumimoji="1" lang="ja-JP" altLang="en-US" dirty="0"/>
              <a:t>文）</a:t>
            </a:r>
          </a:p>
        </p:txBody>
      </p:sp>
      <p:graphicFrame>
        <p:nvGraphicFramePr>
          <p:cNvPr id="12" name="表 11">
            <a:extLst>
              <a:ext uri="{FF2B5EF4-FFF2-40B4-BE49-F238E27FC236}">
                <a16:creationId xmlns:a16="http://schemas.microsoft.com/office/drawing/2014/main" id="{E029DC78-F7A5-4DB5-1B7B-13EDF65A89B6}"/>
              </a:ext>
            </a:extLst>
          </p:cNvPr>
          <p:cNvGraphicFramePr>
            <a:graphicFrameLocks noGrp="1"/>
          </p:cNvGraphicFramePr>
          <p:nvPr>
            <p:extLst>
              <p:ext uri="{D42A27DB-BD31-4B8C-83A1-F6EECF244321}">
                <p14:modId xmlns:p14="http://schemas.microsoft.com/office/powerpoint/2010/main" val="3560459240"/>
              </p:ext>
            </p:extLst>
          </p:nvPr>
        </p:nvGraphicFramePr>
        <p:xfrm>
          <a:off x="4743452" y="2559348"/>
          <a:ext cx="3888000" cy="792000"/>
        </p:xfrm>
        <a:graphic>
          <a:graphicData uri="http://schemas.openxmlformats.org/drawingml/2006/table">
            <a:tbl>
              <a:tblPr firstRow="1" bandRow="1">
                <a:tableStyleId>{5940675A-B579-460E-94D1-54222C63F5DA}</a:tableStyleId>
              </a:tblPr>
              <a:tblGrid>
                <a:gridCol w="972000">
                  <a:extLst>
                    <a:ext uri="{9D8B030D-6E8A-4147-A177-3AD203B41FA5}">
                      <a16:colId xmlns:a16="http://schemas.microsoft.com/office/drawing/2014/main" val="2952872454"/>
                    </a:ext>
                  </a:extLst>
                </a:gridCol>
                <a:gridCol w="972000">
                  <a:extLst>
                    <a:ext uri="{9D8B030D-6E8A-4147-A177-3AD203B41FA5}">
                      <a16:colId xmlns:a16="http://schemas.microsoft.com/office/drawing/2014/main" val="3239270041"/>
                    </a:ext>
                  </a:extLst>
                </a:gridCol>
                <a:gridCol w="972000">
                  <a:extLst>
                    <a:ext uri="{9D8B030D-6E8A-4147-A177-3AD203B41FA5}">
                      <a16:colId xmlns:a16="http://schemas.microsoft.com/office/drawing/2014/main" val="2861507564"/>
                    </a:ext>
                  </a:extLst>
                </a:gridCol>
                <a:gridCol w="972000">
                  <a:extLst>
                    <a:ext uri="{9D8B030D-6E8A-4147-A177-3AD203B41FA5}">
                      <a16:colId xmlns:a16="http://schemas.microsoft.com/office/drawing/2014/main" val="459295175"/>
                    </a:ext>
                  </a:extLst>
                </a:gridCol>
              </a:tblGrid>
              <a:tr h="396000">
                <a:tc>
                  <a:txBody>
                    <a:bodyPr/>
                    <a:lstStyle/>
                    <a:p>
                      <a:pPr algn="ctr"/>
                      <a:r>
                        <a:rPr kumimoji="1" lang="ja-JP" altLang="en-US" dirty="0"/>
                        <a:t>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属性値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期待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評価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1557955298"/>
                  </a:ext>
                </a:extLst>
              </a:tr>
              <a:tr h="396000">
                <a:tc>
                  <a:txBody>
                    <a:bodyPr/>
                    <a:lstStyle/>
                    <a:p>
                      <a:pPr algn="ctr"/>
                      <a:r>
                        <a:rPr kumimoji="1" lang="en-US" altLang="ja-JP" sz="1800" b="0" dirty="0"/>
                        <a:t>770</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957</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115</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692</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49658"/>
                  </a:ext>
                </a:extLst>
              </a:tr>
            </a:tbl>
          </a:graphicData>
        </a:graphic>
      </p:graphicFrame>
      <p:graphicFrame>
        <p:nvGraphicFramePr>
          <p:cNvPr id="13" name="表 12">
            <a:extLst>
              <a:ext uri="{FF2B5EF4-FFF2-40B4-BE49-F238E27FC236}">
                <a16:creationId xmlns:a16="http://schemas.microsoft.com/office/drawing/2014/main" id="{D7BD7CB8-0FB9-DFB5-D827-966521BBFB50}"/>
              </a:ext>
            </a:extLst>
          </p:cNvPr>
          <p:cNvGraphicFramePr>
            <a:graphicFrameLocks noGrp="1"/>
          </p:cNvGraphicFramePr>
          <p:nvPr>
            <p:extLst>
              <p:ext uri="{D42A27DB-BD31-4B8C-83A1-F6EECF244321}">
                <p14:modId xmlns:p14="http://schemas.microsoft.com/office/powerpoint/2010/main" val="3388026323"/>
              </p:ext>
            </p:extLst>
          </p:nvPr>
        </p:nvGraphicFramePr>
        <p:xfrm>
          <a:off x="4743452" y="4638338"/>
          <a:ext cx="3888000" cy="792000"/>
        </p:xfrm>
        <a:graphic>
          <a:graphicData uri="http://schemas.openxmlformats.org/drawingml/2006/table">
            <a:tbl>
              <a:tblPr firstRow="1" bandRow="1">
                <a:tableStyleId>{5940675A-B579-460E-94D1-54222C63F5DA}</a:tableStyleId>
              </a:tblPr>
              <a:tblGrid>
                <a:gridCol w="972000">
                  <a:extLst>
                    <a:ext uri="{9D8B030D-6E8A-4147-A177-3AD203B41FA5}">
                      <a16:colId xmlns:a16="http://schemas.microsoft.com/office/drawing/2014/main" val="2952872454"/>
                    </a:ext>
                  </a:extLst>
                </a:gridCol>
                <a:gridCol w="972000">
                  <a:extLst>
                    <a:ext uri="{9D8B030D-6E8A-4147-A177-3AD203B41FA5}">
                      <a16:colId xmlns:a16="http://schemas.microsoft.com/office/drawing/2014/main" val="3239270041"/>
                    </a:ext>
                  </a:extLst>
                </a:gridCol>
                <a:gridCol w="972000">
                  <a:extLst>
                    <a:ext uri="{9D8B030D-6E8A-4147-A177-3AD203B41FA5}">
                      <a16:colId xmlns:a16="http://schemas.microsoft.com/office/drawing/2014/main" val="2861507564"/>
                    </a:ext>
                  </a:extLst>
                </a:gridCol>
                <a:gridCol w="972000">
                  <a:extLst>
                    <a:ext uri="{9D8B030D-6E8A-4147-A177-3AD203B41FA5}">
                      <a16:colId xmlns:a16="http://schemas.microsoft.com/office/drawing/2014/main" val="459295175"/>
                    </a:ext>
                  </a:extLst>
                </a:gridCol>
              </a:tblGrid>
              <a:tr h="396000">
                <a:tc>
                  <a:txBody>
                    <a:bodyPr/>
                    <a:lstStyle/>
                    <a:p>
                      <a:pPr algn="ctr"/>
                      <a:r>
                        <a:rPr kumimoji="1" lang="ja-JP" altLang="en-US" dirty="0"/>
                        <a:t>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属性値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期待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評価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1557955298"/>
                  </a:ext>
                </a:extLst>
              </a:tr>
              <a:tr h="396000">
                <a:tc>
                  <a:txBody>
                    <a:bodyPr/>
                    <a:lstStyle/>
                    <a:p>
                      <a:pPr algn="ctr"/>
                      <a:r>
                        <a:rPr kumimoji="1" lang="en-US" altLang="ja-JP" sz="1800" b="0" dirty="0"/>
                        <a:t>1081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1056</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549</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813</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49658"/>
                  </a:ext>
                </a:extLst>
              </a:tr>
            </a:tbl>
          </a:graphicData>
        </a:graphic>
      </p:graphicFrame>
    </p:spTree>
    <p:extLst>
      <p:ext uri="{BB962C8B-B14F-4D97-AF65-F5344CB8AC3E}">
        <p14:creationId xmlns:p14="http://schemas.microsoft.com/office/powerpoint/2010/main" val="1179119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実験</a:t>
            </a:r>
            <a:r>
              <a:rPr kumimoji="1" lang="en-US" altLang="ja-JP" dirty="0"/>
              <a:t>1 </a:t>
            </a:r>
            <a:r>
              <a:rPr kumimoji="1" lang="ja-JP" altLang="en-US" dirty="0"/>
              <a:t>系列ラベリングによる抽出</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690245" y="1865372"/>
            <a:ext cx="7763510" cy="4856104"/>
          </a:xfrm>
        </p:spPr>
        <p:txBody>
          <a:bodyPr>
            <a:normAutofit/>
          </a:bodyPr>
          <a:lstStyle/>
          <a:p>
            <a:r>
              <a:rPr kumimoji="1" lang="ja-JP" altLang="en-US" sz="2000" dirty="0"/>
              <a:t>データセットを学習用</a:t>
            </a:r>
            <a:r>
              <a:rPr kumimoji="1" lang="en-US" altLang="ja-JP" sz="2000" dirty="0"/>
              <a:t>60%, </a:t>
            </a:r>
            <a:r>
              <a:rPr kumimoji="1" lang="ja-JP" altLang="en-US" sz="2000" dirty="0"/>
              <a:t>検証用</a:t>
            </a:r>
            <a:r>
              <a:rPr kumimoji="1" lang="en-US" altLang="ja-JP" sz="2000" dirty="0"/>
              <a:t>20%, </a:t>
            </a:r>
            <a:r>
              <a:rPr kumimoji="1" lang="ja-JP" altLang="en-US" sz="2000" dirty="0"/>
              <a:t>テスト用</a:t>
            </a:r>
            <a:r>
              <a:rPr kumimoji="1" lang="en-US" altLang="ja-JP" sz="2000" dirty="0"/>
              <a:t>20%</a:t>
            </a:r>
            <a:r>
              <a:rPr lang="ja-JP" altLang="en-US" sz="2000" dirty="0"/>
              <a:t>に分割</a:t>
            </a:r>
            <a:endParaRPr lang="en-US" altLang="ja-JP" sz="2000" dirty="0"/>
          </a:p>
          <a:p>
            <a:pPr>
              <a:lnSpc>
                <a:spcPct val="140000"/>
              </a:lnSpc>
            </a:pPr>
            <a:r>
              <a:rPr lang="en-US" altLang="ja-JP" sz="2000" dirty="0"/>
              <a:t>Transformers </a:t>
            </a:r>
            <a:r>
              <a:rPr lang="ja-JP" altLang="en-US" sz="2000" dirty="0"/>
              <a:t>の </a:t>
            </a:r>
            <a:r>
              <a:rPr lang="en-US" altLang="ja-JP" sz="2000" dirty="0" err="1"/>
              <a:t>BertForTokenClassification</a:t>
            </a:r>
            <a:r>
              <a:rPr lang="en-US" altLang="ja-JP" sz="2000" dirty="0"/>
              <a:t> </a:t>
            </a:r>
            <a:r>
              <a:rPr lang="ja-JP" altLang="en-US" sz="2000" dirty="0"/>
              <a:t>クラスにより実装</a:t>
            </a:r>
            <a:endParaRPr lang="en-US" altLang="ja-JP" sz="2000" dirty="0"/>
          </a:p>
          <a:p>
            <a:pPr marL="0" indent="0">
              <a:buNone/>
            </a:pPr>
            <a:endParaRPr lang="en-US" altLang="ja-JP" sz="2000" dirty="0"/>
          </a:p>
          <a:p>
            <a:pPr marL="0" indent="0">
              <a:buNone/>
            </a:pPr>
            <a:r>
              <a:rPr lang="ja-JP" altLang="en-US" sz="2400" b="1" dirty="0">
                <a:solidFill>
                  <a:srgbClr val="FF0000"/>
                </a:solidFill>
                <a:latin typeface="+mj-ea"/>
                <a:ea typeface="+mj-ea"/>
              </a:rPr>
              <a:t>完全一致評価（厳密な評価）</a:t>
            </a:r>
            <a:endParaRPr lang="en-US" altLang="ja-JP" sz="2400" b="1" dirty="0">
              <a:solidFill>
                <a:srgbClr val="FF0000"/>
              </a:solidFill>
              <a:latin typeface="+mj-ea"/>
              <a:ea typeface="+mj-ea"/>
            </a:endParaRPr>
          </a:p>
          <a:p>
            <a:pPr marL="0" indent="0">
              <a:buNone/>
            </a:pPr>
            <a:r>
              <a:rPr lang="ja-JP" altLang="en-US" sz="2000" dirty="0"/>
              <a:t>人手で注釈付けした範囲とシステムが抽出した範囲が</a:t>
            </a:r>
            <a:endParaRPr lang="en-US" altLang="ja-JP" sz="2000" dirty="0"/>
          </a:p>
          <a:p>
            <a:pPr marL="0" indent="0">
              <a:buNone/>
            </a:pPr>
            <a:r>
              <a:rPr lang="ja-JP" altLang="en-US" sz="2000" dirty="0"/>
              <a:t>完全に一致していれば正解とみなす</a:t>
            </a:r>
            <a:endParaRPr lang="en-US" altLang="ja-JP" sz="2000" dirty="0"/>
          </a:p>
          <a:p>
            <a:pPr marL="0" indent="0">
              <a:buNone/>
            </a:pPr>
            <a:endParaRPr lang="en-US" altLang="ja-JP" sz="2000" dirty="0"/>
          </a:p>
          <a:p>
            <a:pPr marL="0" indent="0">
              <a:buNone/>
            </a:pPr>
            <a:r>
              <a:rPr lang="ja-JP" altLang="en-US" sz="2400" b="1" dirty="0">
                <a:solidFill>
                  <a:srgbClr val="FF0000"/>
                </a:solidFill>
                <a:latin typeface="+mj-ea"/>
                <a:ea typeface="+mj-ea"/>
              </a:rPr>
              <a:t>部分</a:t>
            </a:r>
            <a:r>
              <a:rPr lang="ja-JP" altLang="en-US" sz="2400" b="1">
                <a:solidFill>
                  <a:srgbClr val="FF0000"/>
                </a:solidFill>
                <a:latin typeface="+mj-ea"/>
                <a:ea typeface="+mj-ea"/>
              </a:rPr>
              <a:t>一致評価（緩い評価）</a:t>
            </a:r>
            <a:endParaRPr lang="en-US" altLang="ja-JP" sz="2400" b="1" dirty="0">
              <a:solidFill>
                <a:srgbClr val="FF0000"/>
              </a:solidFill>
              <a:latin typeface="+mj-ea"/>
              <a:ea typeface="+mj-ea"/>
            </a:endParaRPr>
          </a:p>
          <a:p>
            <a:pPr marL="0" indent="0">
              <a:buNone/>
            </a:pPr>
            <a:r>
              <a:rPr lang="ja-JP" altLang="en-US" sz="2000" dirty="0"/>
              <a:t>人手で注釈付けした範囲とシステムが抽出した範囲で</a:t>
            </a:r>
            <a:endParaRPr lang="en-US" altLang="ja-JP" sz="2000" dirty="0"/>
          </a:p>
          <a:p>
            <a:pPr marL="0" indent="0">
              <a:buNone/>
            </a:pPr>
            <a:r>
              <a:rPr lang="ja-JP" altLang="en-US" sz="2000" dirty="0"/>
              <a:t>重なっている部分があれば正解とみなす</a:t>
            </a:r>
            <a:endParaRPr lang="en-US" altLang="ja-JP" sz="20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12</a:t>
            </a:fld>
            <a:endParaRPr kumimoji="1" lang="ja-JP" altLang="en-US"/>
          </a:p>
        </p:txBody>
      </p:sp>
      <p:sp>
        <p:nvSpPr>
          <p:cNvPr id="5" name="タイトル 1">
            <a:extLst>
              <a:ext uri="{FF2B5EF4-FFF2-40B4-BE49-F238E27FC236}">
                <a16:creationId xmlns:a16="http://schemas.microsoft.com/office/drawing/2014/main" id="{A4580F2D-C4D3-812E-784E-E6A38732984B}"/>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評価実験</a:t>
            </a:r>
          </a:p>
        </p:txBody>
      </p:sp>
    </p:spTree>
    <p:extLst>
      <p:ext uri="{BB962C8B-B14F-4D97-AF65-F5344CB8AC3E}">
        <p14:creationId xmlns:p14="http://schemas.microsoft.com/office/powerpoint/2010/main" val="3367726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EAB17-3902-8E84-E49C-7088E771F0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358EDD-D9E6-1A95-C9F9-E69943527228}"/>
              </a:ext>
            </a:extLst>
          </p:cNvPr>
          <p:cNvSpPr>
            <a:spLocks noGrp="1"/>
          </p:cNvSpPr>
          <p:nvPr>
            <p:ph type="title"/>
          </p:nvPr>
        </p:nvSpPr>
        <p:spPr/>
        <p:txBody>
          <a:bodyPr/>
          <a:lstStyle/>
          <a:p>
            <a:r>
              <a:rPr kumimoji="1" lang="ja-JP" altLang="en-US" dirty="0"/>
              <a:t>実験</a:t>
            </a:r>
            <a:r>
              <a:rPr kumimoji="1" lang="en-US" altLang="ja-JP" dirty="0"/>
              <a:t>1 </a:t>
            </a:r>
            <a:r>
              <a:rPr kumimoji="1" lang="ja-JP" altLang="en-US" dirty="0"/>
              <a:t>系列ラベリングによる抽出</a:t>
            </a:r>
          </a:p>
        </p:txBody>
      </p:sp>
      <p:sp>
        <p:nvSpPr>
          <p:cNvPr id="4" name="スライド番号プレースホルダー 3">
            <a:extLst>
              <a:ext uri="{FF2B5EF4-FFF2-40B4-BE49-F238E27FC236}">
                <a16:creationId xmlns:a16="http://schemas.microsoft.com/office/drawing/2014/main" id="{BAB57E12-FD74-B227-C094-71C4EE426CBD}"/>
              </a:ext>
            </a:extLst>
          </p:cNvPr>
          <p:cNvSpPr>
            <a:spLocks noGrp="1"/>
          </p:cNvSpPr>
          <p:nvPr>
            <p:ph type="sldNum" sz="quarter" idx="12"/>
          </p:nvPr>
        </p:nvSpPr>
        <p:spPr/>
        <p:txBody>
          <a:bodyPr/>
          <a:lstStyle/>
          <a:p>
            <a:fld id="{CF4A8B29-95AB-4EB3-9726-7CF76E557B81}" type="slidenum">
              <a:rPr kumimoji="1" lang="ja-JP" altLang="en-US" smtClean="0"/>
              <a:t>13</a:t>
            </a:fld>
            <a:endParaRPr kumimoji="1" lang="ja-JP" altLang="en-US"/>
          </a:p>
        </p:txBody>
      </p:sp>
      <p:sp>
        <p:nvSpPr>
          <p:cNvPr id="8" name="コンテンツ プレースホルダー 2">
            <a:extLst>
              <a:ext uri="{FF2B5EF4-FFF2-40B4-BE49-F238E27FC236}">
                <a16:creationId xmlns:a16="http://schemas.microsoft.com/office/drawing/2014/main" id="{A73E591A-7E36-88AA-3AEF-B73124B275E3}"/>
              </a:ext>
            </a:extLst>
          </p:cNvPr>
          <p:cNvSpPr txBox="1">
            <a:spLocks/>
          </p:cNvSpPr>
          <p:nvPr/>
        </p:nvSpPr>
        <p:spPr>
          <a:xfrm>
            <a:off x="547365" y="1958211"/>
            <a:ext cx="1901190" cy="4739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完全一致評価</a:t>
            </a:r>
            <a:endParaRPr lang="en-US" altLang="ja-JP" sz="2000" dirty="0"/>
          </a:p>
        </p:txBody>
      </p:sp>
      <p:graphicFrame>
        <p:nvGraphicFramePr>
          <p:cNvPr id="9" name="表 8">
            <a:extLst>
              <a:ext uri="{FF2B5EF4-FFF2-40B4-BE49-F238E27FC236}">
                <a16:creationId xmlns:a16="http://schemas.microsoft.com/office/drawing/2014/main" id="{857B6446-31ED-FC0D-6D8E-64C301BC891E}"/>
              </a:ext>
            </a:extLst>
          </p:cNvPr>
          <p:cNvGraphicFramePr>
            <a:graphicFrameLocks noGrp="1"/>
          </p:cNvGraphicFramePr>
          <p:nvPr>
            <p:extLst>
              <p:ext uri="{D42A27DB-BD31-4B8C-83A1-F6EECF244321}">
                <p14:modId xmlns:p14="http://schemas.microsoft.com/office/powerpoint/2010/main" val="2351549590"/>
              </p:ext>
            </p:extLst>
          </p:nvPr>
        </p:nvGraphicFramePr>
        <p:xfrm>
          <a:off x="547365" y="2421033"/>
          <a:ext cx="3726180" cy="2577690"/>
        </p:xfrm>
        <a:graphic>
          <a:graphicData uri="http://schemas.openxmlformats.org/drawingml/2006/table">
            <a:tbl>
              <a:tblPr firstRow="1" bandRow="1">
                <a:tableStyleId>{5940675A-B579-460E-94D1-54222C63F5DA}</a:tableStyleId>
              </a:tblPr>
              <a:tblGrid>
                <a:gridCol w="931545">
                  <a:extLst>
                    <a:ext uri="{9D8B030D-6E8A-4147-A177-3AD203B41FA5}">
                      <a16:colId xmlns:a16="http://schemas.microsoft.com/office/drawing/2014/main" val="2537196469"/>
                    </a:ext>
                  </a:extLst>
                </a:gridCol>
                <a:gridCol w="931545">
                  <a:extLst>
                    <a:ext uri="{9D8B030D-6E8A-4147-A177-3AD203B41FA5}">
                      <a16:colId xmlns:a16="http://schemas.microsoft.com/office/drawing/2014/main" val="2952872454"/>
                    </a:ext>
                  </a:extLst>
                </a:gridCol>
                <a:gridCol w="931545">
                  <a:extLst>
                    <a:ext uri="{9D8B030D-6E8A-4147-A177-3AD203B41FA5}">
                      <a16:colId xmlns:a16="http://schemas.microsoft.com/office/drawing/2014/main" val="3239270041"/>
                    </a:ext>
                  </a:extLst>
                </a:gridCol>
                <a:gridCol w="931545">
                  <a:extLst>
                    <a:ext uri="{9D8B030D-6E8A-4147-A177-3AD203B41FA5}">
                      <a16:colId xmlns:a16="http://schemas.microsoft.com/office/drawing/2014/main" val="2861507564"/>
                    </a:ext>
                  </a:extLst>
                </a:gridCol>
              </a:tblGrid>
              <a:tr h="429615">
                <a:tc>
                  <a:txBody>
                    <a:bodyPr/>
                    <a:lstStyle/>
                    <a:p>
                      <a:pPr algn="ctr"/>
                      <a:endParaRPr kumimoji="1" lang="ja-JP" alt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適合率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再現率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dirty="0"/>
                        <a:t>F</a:t>
                      </a:r>
                      <a:r>
                        <a:rPr kumimoji="1" lang="ja-JP" altLang="en-US" dirty="0"/>
                        <a:t>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1557955298"/>
                  </a:ext>
                </a:extLst>
              </a:tr>
              <a:tr h="429615">
                <a:tc>
                  <a:txBody>
                    <a:bodyPr/>
                    <a:lstStyle/>
                    <a:p>
                      <a:pPr algn="ctr"/>
                      <a:r>
                        <a:rPr kumimoji="1" lang="ja-JP" altLang="en-US" dirty="0"/>
                        <a:t>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0.731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0.803</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0.765</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49658"/>
                  </a:ext>
                </a:extLst>
              </a:tr>
              <a:tr h="429615">
                <a:tc>
                  <a:txBody>
                    <a:bodyPr/>
                    <a:lstStyle/>
                    <a:p>
                      <a:pPr algn="ctr"/>
                      <a:r>
                        <a:rPr kumimoji="1" lang="ja-JP" altLang="en-US" dirty="0"/>
                        <a:t>属性値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0.631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0.634</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0.633</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898049"/>
                  </a:ext>
                </a:extLst>
              </a:tr>
              <a:tr h="429615">
                <a:tc>
                  <a:txBody>
                    <a:bodyPr/>
                    <a:lstStyle/>
                    <a:p>
                      <a:pPr algn="ctr"/>
                      <a:r>
                        <a:rPr kumimoji="1" lang="ja-JP" altLang="en-US" dirty="0"/>
                        <a:t>期待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0.399</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0.565</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1" dirty="0"/>
                        <a:t>0.467</a:t>
                      </a:r>
                      <a:endParaRPr kumimoji="1" lang="ja-JP" altLang="en-US" sz="1800" b="1"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896172"/>
                  </a:ext>
                </a:extLst>
              </a:tr>
              <a:tr h="429615">
                <a:tc>
                  <a:txBody>
                    <a:bodyPr/>
                    <a:lstStyle/>
                    <a:p>
                      <a:pPr algn="ctr"/>
                      <a:r>
                        <a:rPr kumimoji="1" lang="ja-JP" altLang="en-US" dirty="0"/>
                        <a:t>評価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0.649</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1800" b="0" dirty="0"/>
                        <a:t>0.789</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1800" b="0" dirty="0"/>
                        <a:t>0.712</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9338056"/>
                  </a:ext>
                </a:extLst>
              </a:tr>
              <a:tr h="429615">
                <a:tc>
                  <a:txBody>
                    <a:bodyPr/>
                    <a:lstStyle/>
                    <a:p>
                      <a:pPr algn="ctr"/>
                      <a:r>
                        <a:rPr kumimoji="1" lang="ja-JP" altLang="en-US" dirty="0"/>
                        <a:t>全体</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0.619</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0.710</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0.661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6940403"/>
                  </a:ext>
                </a:extLst>
              </a:tr>
            </a:tbl>
          </a:graphicData>
        </a:graphic>
      </p:graphicFrame>
      <p:sp>
        <p:nvSpPr>
          <p:cNvPr id="10" name="コンテンツ プレースホルダー 2">
            <a:extLst>
              <a:ext uri="{FF2B5EF4-FFF2-40B4-BE49-F238E27FC236}">
                <a16:creationId xmlns:a16="http://schemas.microsoft.com/office/drawing/2014/main" id="{709A4990-C963-B261-C7C1-7912FFB5C172}"/>
              </a:ext>
            </a:extLst>
          </p:cNvPr>
          <p:cNvSpPr txBox="1">
            <a:spLocks/>
          </p:cNvSpPr>
          <p:nvPr/>
        </p:nvSpPr>
        <p:spPr>
          <a:xfrm>
            <a:off x="4751075" y="1958211"/>
            <a:ext cx="1901190" cy="4739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部分一致評価</a:t>
            </a:r>
            <a:endParaRPr lang="en-US" altLang="ja-JP" sz="2000" dirty="0"/>
          </a:p>
        </p:txBody>
      </p:sp>
      <p:graphicFrame>
        <p:nvGraphicFramePr>
          <p:cNvPr id="11" name="表 10">
            <a:extLst>
              <a:ext uri="{FF2B5EF4-FFF2-40B4-BE49-F238E27FC236}">
                <a16:creationId xmlns:a16="http://schemas.microsoft.com/office/drawing/2014/main" id="{EAF4E815-34C3-A3CF-AD06-B77C084718E7}"/>
              </a:ext>
            </a:extLst>
          </p:cNvPr>
          <p:cNvGraphicFramePr>
            <a:graphicFrameLocks noGrp="1"/>
          </p:cNvGraphicFramePr>
          <p:nvPr>
            <p:extLst>
              <p:ext uri="{D42A27DB-BD31-4B8C-83A1-F6EECF244321}">
                <p14:modId xmlns:p14="http://schemas.microsoft.com/office/powerpoint/2010/main" val="513149508"/>
              </p:ext>
            </p:extLst>
          </p:nvPr>
        </p:nvGraphicFramePr>
        <p:xfrm>
          <a:off x="4870455" y="2421033"/>
          <a:ext cx="3726180" cy="2577690"/>
        </p:xfrm>
        <a:graphic>
          <a:graphicData uri="http://schemas.openxmlformats.org/drawingml/2006/table">
            <a:tbl>
              <a:tblPr firstRow="1" bandRow="1">
                <a:tableStyleId>{5940675A-B579-460E-94D1-54222C63F5DA}</a:tableStyleId>
              </a:tblPr>
              <a:tblGrid>
                <a:gridCol w="931545">
                  <a:extLst>
                    <a:ext uri="{9D8B030D-6E8A-4147-A177-3AD203B41FA5}">
                      <a16:colId xmlns:a16="http://schemas.microsoft.com/office/drawing/2014/main" val="2537196469"/>
                    </a:ext>
                  </a:extLst>
                </a:gridCol>
                <a:gridCol w="931545">
                  <a:extLst>
                    <a:ext uri="{9D8B030D-6E8A-4147-A177-3AD203B41FA5}">
                      <a16:colId xmlns:a16="http://schemas.microsoft.com/office/drawing/2014/main" val="2952872454"/>
                    </a:ext>
                  </a:extLst>
                </a:gridCol>
                <a:gridCol w="931545">
                  <a:extLst>
                    <a:ext uri="{9D8B030D-6E8A-4147-A177-3AD203B41FA5}">
                      <a16:colId xmlns:a16="http://schemas.microsoft.com/office/drawing/2014/main" val="3239270041"/>
                    </a:ext>
                  </a:extLst>
                </a:gridCol>
                <a:gridCol w="931545">
                  <a:extLst>
                    <a:ext uri="{9D8B030D-6E8A-4147-A177-3AD203B41FA5}">
                      <a16:colId xmlns:a16="http://schemas.microsoft.com/office/drawing/2014/main" val="2861507564"/>
                    </a:ext>
                  </a:extLst>
                </a:gridCol>
              </a:tblGrid>
              <a:tr h="429615">
                <a:tc>
                  <a:txBody>
                    <a:bodyPr/>
                    <a:lstStyle/>
                    <a:p>
                      <a:pPr algn="ctr"/>
                      <a:endParaRPr kumimoji="1" lang="ja-JP" alt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適合率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dirty="0"/>
                        <a:t>再現率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dirty="0"/>
                        <a:t>F</a:t>
                      </a:r>
                      <a:r>
                        <a:rPr kumimoji="1" lang="ja-JP" altLang="en-US" dirty="0"/>
                        <a:t>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1557955298"/>
                  </a:ext>
                </a:extLst>
              </a:tr>
              <a:tr h="429615">
                <a:tc>
                  <a:txBody>
                    <a:bodyPr/>
                    <a:lstStyle/>
                    <a:p>
                      <a:pPr algn="ctr"/>
                      <a:r>
                        <a:rPr kumimoji="1" lang="ja-JP" altLang="en-US" dirty="0"/>
                        <a:t>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0.807</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0.887</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0.845</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349658"/>
                  </a:ext>
                </a:extLst>
              </a:tr>
              <a:tr h="429615">
                <a:tc>
                  <a:txBody>
                    <a:bodyPr/>
                    <a:lstStyle/>
                    <a:p>
                      <a:pPr algn="ctr"/>
                      <a:r>
                        <a:rPr kumimoji="1" lang="ja-JP" altLang="en-US" dirty="0"/>
                        <a:t>属性値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0.793</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0.796</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0.794</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898049"/>
                  </a:ext>
                </a:extLst>
              </a:tr>
              <a:tr h="429615">
                <a:tc>
                  <a:txBody>
                    <a:bodyPr/>
                    <a:lstStyle/>
                    <a:p>
                      <a:pPr algn="ctr"/>
                      <a:r>
                        <a:rPr kumimoji="1" lang="ja-JP" altLang="en-US" dirty="0"/>
                        <a:t>期待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0.601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0.852</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1" dirty="0"/>
                        <a:t>0.705</a:t>
                      </a:r>
                      <a:endParaRPr kumimoji="1" lang="ja-JP" altLang="en-US" sz="1800" b="1"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896172"/>
                  </a:ext>
                </a:extLst>
              </a:tr>
              <a:tr h="429615">
                <a:tc>
                  <a:txBody>
                    <a:bodyPr/>
                    <a:lstStyle/>
                    <a:p>
                      <a:pPr algn="ctr"/>
                      <a:r>
                        <a:rPr kumimoji="1" lang="ja-JP" altLang="en-US" dirty="0"/>
                        <a:t>評価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0.752</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1800" b="0" dirty="0"/>
                        <a:t>0.916</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1800" b="0" dirty="0"/>
                        <a:t>0.826</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9338056"/>
                  </a:ext>
                </a:extLst>
              </a:tr>
              <a:tr h="429615">
                <a:tc>
                  <a:txBody>
                    <a:bodyPr/>
                    <a:lstStyle/>
                    <a:p>
                      <a:pPr algn="ctr"/>
                      <a:r>
                        <a:rPr kumimoji="1" lang="ja-JP" altLang="en-US" dirty="0"/>
                        <a:t>全体</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0.750</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0.860</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0.801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6940403"/>
                  </a:ext>
                </a:extLst>
              </a:tr>
            </a:tbl>
          </a:graphicData>
        </a:graphic>
      </p:graphicFrame>
      <p:sp>
        <p:nvSpPr>
          <p:cNvPr id="3" name="コンテンツ プレースホルダー 2">
            <a:extLst>
              <a:ext uri="{FF2B5EF4-FFF2-40B4-BE49-F238E27FC236}">
                <a16:creationId xmlns:a16="http://schemas.microsoft.com/office/drawing/2014/main" id="{DC57B9E7-5F48-4AC9-F791-72E91FC9D8E9}"/>
              </a:ext>
            </a:extLst>
          </p:cNvPr>
          <p:cNvSpPr>
            <a:spLocks noGrp="1"/>
          </p:cNvSpPr>
          <p:nvPr>
            <p:ph idx="1"/>
          </p:nvPr>
        </p:nvSpPr>
        <p:spPr>
          <a:xfrm>
            <a:off x="487846" y="5494088"/>
            <a:ext cx="8341194" cy="1044825"/>
          </a:xfrm>
        </p:spPr>
        <p:txBody>
          <a:bodyPr>
            <a:normAutofit/>
          </a:bodyPr>
          <a:lstStyle/>
          <a:p>
            <a:pPr marL="0" indent="0">
              <a:buNone/>
            </a:pPr>
            <a:r>
              <a:rPr kumimoji="1" lang="ja-JP" altLang="en-US" sz="2400" dirty="0">
                <a:latin typeface="+mn-ea"/>
                <a:ea typeface="+mn-ea"/>
              </a:rPr>
              <a:t>期待の抽出精度はあまり良くない</a:t>
            </a:r>
            <a:endParaRPr kumimoji="1" lang="en-US" altLang="ja-JP" sz="2400" dirty="0">
              <a:latin typeface="+mn-ea"/>
              <a:ea typeface="+mn-ea"/>
            </a:endParaRPr>
          </a:p>
          <a:p>
            <a:pPr marL="0" indent="0">
              <a:buNone/>
            </a:pPr>
            <a:r>
              <a:rPr lang="ja-JP" altLang="en-US" sz="2400" dirty="0">
                <a:latin typeface="+mn-ea"/>
                <a:ea typeface="+mn-ea"/>
              </a:rPr>
              <a:t>部分的に一致している事例も比較的多く見られた</a:t>
            </a:r>
            <a:endParaRPr lang="en-US" altLang="ja-JP" sz="2400" dirty="0">
              <a:latin typeface="+mn-ea"/>
              <a:ea typeface="+mn-ea"/>
            </a:endParaRPr>
          </a:p>
        </p:txBody>
      </p:sp>
      <p:sp>
        <p:nvSpPr>
          <p:cNvPr id="7" name="タイトル 1">
            <a:extLst>
              <a:ext uri="{FF2B5EF4-FFF2-40B4-BE49-F238E27FC236}">
                <a16:creationId xmlns:a16="http://schemas.microsoft.com/office/drawing/2014/main" id="{6F52D10D-7F07-897F-33FA-01B454510A02}"/>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実験結果</a:t>
            </a:r>
          </a:p>
        </p:txBody>
      </p:sp>
    </p:spTree>
    <p:extLst>
      <p:ext uri="{BB962C8B-B14F-4D97-AF65-F5344CB8AC3E}">
        <p14:creationId xmlns:p14="http://schemas.microsoft.com/office/powerpoint/2010/main" val="2043674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実験</a:t>
            </a:r>
            <a:r>
              <a:rPr kumimoji="1" lang="en-US" altLang="ja-JP" dirty="0"/>
              <a:t>1 </a:t>
            </a:r>
            <a:r>
              <a:rPr kumimoji="1" lang="ja-JP" altLang="en-US" dirty="0"/>
              <a:t>系列ラベリングによる抽出</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588007" y="2217944"/>
            <a:ext cx="7967985" cy="4640056"/>
          </a:xfrm>
        </p:spPr>
        <p:txBody>
          <a:bodyPr>
            <a:normAutofit/>
          </a:bodyPr>
          <a:lstStyle/>
          <a:p>
            <a:r>
              <a:rPr kumimoji="1" lang="ja-JP" altLang="en-US" sz="2400" dirty="0">
                <a:latin typeface="+mn-ea"/>
                <a:ea typeface="+mn-ea"/>
              </a:rPr>
              <a:t>期待はトークン単位での抽出が他の</a:t>
            </a:r>
            <a:r>
              <a:rPr kumimoji="1" lang="en-US" altLang="ja-JP" sz="2400" dirty="0">
                <a:latin typeface="+mn-lt"/>
                <a:ea typeface="+mn-ea"/>
              </a:rPr>
              <a:t>3</a:t>
            </a:r>
            <a:r>
              <a:rPr kumimoji="1" lang="ja-JP" altLang="en-US" sz="2400" dirty="0">
                <a:latin typeface="+mn-ea"/>
                <a:ea typeface="+mn-ea"/>
              </a:rPr>
              <a:t>項目より難しい</a:t>
            </a:r>
            <a:endParaRPr kumimoji="1" lang="en-US" altLang="ja-JP" sz="2400" dirty="0">
              <a:latin typeface="+mn-ea"/>
              <a:ea typeface="+mn-ea"/>
            </a:endParaRPr>
          </a:p>
          <a:p>
            <a:pPr marL="0" indent="0">
              <a:buNone/>
            </a:pPr>
            <a:r>
              <a:rPr lang="ja-JP" altLang="en-US" sz="2400" dirty="0"/>
              <a:t>　⇒ </a:t>
            </a:r>
            <a:r>
              <a:rPr lang="ja-JP" altLang="en-US" sz="2400" dirty="0">
                <a:solidFill>
                  <a:srgbClr val="FF0000"/>
                </a:solidFill>
              </a:rPr>
              <a:t>注釈付け及び抽出の単位を大きくする</a:t>
            </a:r>
            <a:endParaRPr lang="en-US" altLang="ja-JP" sz="2400" dirty="0">
              <a:solidFill>
                <a:srgbClr val="FF0000"/>
              </a:solidFill>
            </a:endParaRPr>
          </a:p>
          <a:p>
            <a:pPr marL="0" indent="0">
              <a:buNone/>
            </a:pPr>
            <a:endParaRPr lang="en-US" altLang="ja-JP" sz="2400" dirty="0"/>
          </a:p>
          <a:p>
            <a:pPr>
              <a:lnSpc>
                <a:spcPct val="120000"/>
              </a:lnSpc>
            </a:pPr>
            <a:r>
              <a:rPr lang="ja-JP" altLang="en-US" sz="2400" dirty="0">
                <a:latin typeface="+mn-ea"/>
                <a:ea typeface="+mn-ea"/>
              </a:rPr>
              <a:t>期待のみ注釈付けの条件を設けなかったため、</a:t>
            </a:r>
            <a:br>
              <a:rPr lang="en-US" altLang="ja-JP" sz="2400" dirty="0">
                <a:latin typeface="+mn-ea"/>
                <a:ea typeface="+mn-ea"/>
              </a:rPr>
            </a:br>
            <a:r>
              <a:rPr lang="ja-JP" altLang="en-US" sz="2400" dirty="0">
                <a:latin typeface="+mn-ea"/>
                <a:ea typeface="+mn-ea"/>
              </a:rPr>
              <a:t>内容に統一性がなかった</a:t>
            </a:r>
            <a:endParaRPr lang="en-US" altLang="ja-JP" sz="2400" dirty="0">
              <a:latin typeface="+mn-ea"/>
              <a:ea typeface="+mn-ea"/>
            </a:endParaRPr>
          </a:p>
          <a:p>
            <a:pPr marL="0" indent="0">
              <a:buNone/>
            </a:pPr>
            <a:r>
              <a:rPr lang="ja-JP" altLang="en-US" sz="2400" dirty="0"/>
              <a:t>    ⇒ </a:t>
            </a:r>
            <a:r>
              <a:rPr lang="ja-JP" altLang="en-US" sz="2400" dirty="0">
                <a:solidFill>
                  <a:srgbClr val="FF0000"/>
                </a:solidFill>
              </a:rPr>
              <a:t>期待の表現をさらに種類ごとに分ける</a:t>
            </a:r>
            <a:endParaRPr lang="en-US" altLang="ja-JP" sz="2400" dirty="0">
              <a:solidFill>
                <a:srgbClr val="FF0000"/>
              </a:solidFill>
            </a:endParaRPr>
          </a:p>
          <a:p>
            <a:pPr marL="0" indent="0">
              <a:buNone/>
            </a:pPr>
            <a:endParaRPr lang="en-US" altLang="ja-JP" sz="24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14</a:t>
            </a:fld>
            <a:endParaRPr kumimoji="1" lang="ja-JP" altLang="en-US"/>
          </a:p>
        </p:txBody>
      </p:sp>
      <p:sp>
        <p:nvSpPr>
          <p:cNvPr id="5" name="タイトル 1">
            <a:extLst>
              <a:ext uri="{FF2B5EF4-FFF2-40B4-BE49-F238E27FC236}">
                <a16:creationId xmlns:a16="http://schemas.microsoft.com/office/drawing/2014/main" id="{8E4B68EC-4240-63D0-E0A4-535FD97059EB}"/>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課題</a:t>
            </a:r>
          </a:p>
        </p:txBody>
      </p:sp>
    </p:spTree>
    <p:extLst>
      <p:ext uri="{BB962C8B-B14F-4D97-AF65-F5344CB8AC3E}">
        <p14:creationId xmlns:p14="http://schemas.microsoft.com/office/powerpoint/2010/main" val="109727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実験</a:t>
            </a:r>
            <a:r>
              <a:rPr lang="en-US" altLang="ja-JP" dirty="0"/>
              <a:t>2</a:t>
            </a:r>
            <a:r>
              <a:rPr kumimoji="1" lang="en-US" altLang="ja-JP" dirty="0"/>
              <a:t> </a:t>
            </a:r>
            <a:r>
              <a:rPr kumimoji="1" lang="ja-JP" altLang="en-US" dirty="0"/>
              <a:t>文分類による期待の抽出</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628650" y="2058913"/>
            <a:ext cx="7886700" cy="3314190"/>
          </a:xfrm>
        </p:spPr>
        <p:txBody>
          <a:bodyPr>
            <a:normAutofit fontScale="92500"/>
          </a:bodyPr>
          <a:lstStyle/>
          <a:p>
            <a:pPr>
              <a:lnSpc>
                <a:spcPct val="130000"/>
              </a:lnSpc>
            </a:pPr>
            <a:r>
              <a:rPr lang="ja-JP" altLang="en-US" sz="2400" dirty="0"/>
              <a:t>期待の抽出を文単位で行う</a:t>
            </a:r>
            <a:br>
              <a:rPr lang="en-US" altLang="ja-JP" sz="2400" dirty="0"/>
            </a:br>
            <a:r>
              <a:rPr lang="en-US" altLang="ja-JP" sz="2400" dirty="0"/>
              <a:t>(</a:t>
            </a:r>
            <a:r>
              <a:rPr lang="ja-JP" altLang="en-US" sz="2400" dirty="0"/>
              <a:t>期待以外の項目は、系列ラベリングである程度</a:t>
            </a:r>
            <a:br>
              <a:rPr lang="en-US" altLang="ja-JP" sz="2400" dirty="0"/>
            </a:br>
            <a:r>
              <a:rPr lang="ja-JP" altLang="en-US" sz="2400" dirty="0"/>
              <a:t>抽出できたので扱わない</a:t>
            </a:r>
            <a:r>
              <a:rPr lang="en-US" altLang="ja-JP" sz="2400" dirty="0"/>
              <a:t>)</a:t>
            </a:r>
          </a:p>
          <a:p>
            <a:pPr marL="0" indent="0">
              <a:buNone/>
            </a:pPr>
            <a:endParaRPr lang="en-US" altLang="ja-JP" sz="2400" dirty="0"/>
          </a:p>
          <a:p>
            <a:r>
              <a:rPr lang="ja-JP" altLang="en-US" sz="2400" dirty="0"/>
              <a:t>期待を二種類に分け、ラベルごとの内容を統一させる</a:t>
            </a:r>
            <a:endParaRPr lang="en-US" altLang="ja-JP" sz="2400" dirty="0"/>
          </a:p>
          <a:p>
            <a:pPr marL="0" indent="0">
              <a:buNone/>
            </a:pPr>
            <a:endParaRPr lang="en-US" altLang="ja-JP" sz="2400" dirty="0"/>
          </a:p>
          <a:p>
            <a:r>
              <a:rPr lang="ja-JP" altLang="en-US" sz="2400" dirty="0"/>
              <a:t>文単位なので明示的に現れない期待も抽出対象</a:t>
            </a:r>
            <a:endParaRPr lang="en-US" altLang="ja-JP" sz="24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15</a:t>
            </a:fld>
            <a:endParaRPr kumimoji="1" lang="ja-JP" altLang="en-US"/>
          </a:p>
        </p:txBody>
      </p:sp>
      <p:sp>
        <p:nvSpPr>
          <p:cNvPr id="5" name="タイトル 1">
            <a:extLst>
              <a:ext uri="{FF2B5EF4-FFF2-40B4-BE49-F238E27FC236}">
                <a16:creationId xmlns:a16="http://schemas.microsoft.com/office/drawing/2014/main" id="{88CF206B-FA42-11A3-6841-D26A1AE1F447}"/>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方針</a:t>
            </a:r>
          </a:p>
        </p:txBody>
      </p:sp>
    </p:spTree>
    <p:extLst>
      <p:ext uri="{BB962C8B-B14F-4D97-AF65-F5344CB8AC3E}">
        <p14:creationId xmlns:p14="http://schemas.microsoft.com/office/powerpoint/2010/main" val="2330442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AC2C-82C6-60F5-581B-A7BD6551B3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568BC8-8153-CDB2-E693-2930DAC3DDE5}"/>
              </a:ext>
            </a:extLst>
          </p:cNvPr>
          <p:cNvSpPr>
            <a:spLocks noGrp="1"/>
          </p:cNvSpPr>
          <p:nvPr>
            <p:ph type="title"/>
          </p:nvPr>
        </p:nvSpPr>
        <p:spPr/>
        <p:txBody>
          <a:bodyPr/>
          <a:lstStyle/>
          <a:p>
            <a:r>
              <a:rPr kumimoji="1" lang="ja-JP" altLang="en-US" dirty="0"/>
              <a:t>実験</a:t>
            </a:r>
            <a:r>
              <a:rPr lang="en-US" altLang="ja-JP" dirty="0"/>
              <a:t>2</a:t>
            </a:r>
            <a:r>
              <a:rPr kumimoji="1" lang="en-US" altLang="ja-JP" dirty="0"/>
              <a:t> </a:t>
            </a:r>
            <a:r>
              <a:rPr kumimoji="1" lang="ja-JP" altLang="en-US" dirty="0"/>
              <a:t>文分類による期待の抽出</a:t>
            </a:r>
          </a:p>
        </p:txBody>
      </p:sp>
      <p:sp>
        <p:nvSpPr>
          <p:cNvPr id="3" name="コンテンツ プレースホルダー 2">
            <a:extLst>
              <a:ext uri="{FF2B5EF4-FFF2-40B4-BE49-F238E27FC236}">
                <a16:creationId xmlns:a16="http://schemas.microsoft.com/office/drawing/2014/main" id="{FB3F0A68-8DE7-372F-8E6E-D633E55709D5}"/>
              </a:ext>
            </a:extLst>
          </p:cNvPr>
          <p:cNvSpPr>
            <a:spLocks noGrp="1"/>
          </p:cNvSpPr>
          <p:nvPr>
            <p:ph idx="1"/>
          </p:nvPr>
        </p:nvSpPr>
        <p:spPr>
          <a:xfrm>
            <a:off x="457200" y="1856780"/>
            <a:ext cx="8515350" cy="1056082"/>
          </a:xfrm>
        </p:spPr>
        <p:txBody>
          <a:bodyPr>
            <a:normAutofit/>
          </a:bodyPr>
          <a:lstStyle/>
          <a:p>
            <a:pPr marL="0" indent="0">
              <a:lnSpc>
                <a:spcPct val="120000"/>
              </a:lnSpc>
              <a:buNone/>
            </a:pPr>
            <a:r>
              <a:rPr lang="ja-JP" altLang="en-US" sz="2000" dirty="0"/>
              <a:t>掃除機のレビューに対し、文ごとに </a:t>
            </a:r>
            <a:r>
              <a:rPr lang="ja-JP" altLang="en-US" sz="2000" dirty="0">
                <a:latin typeface="+mn-ea"/>
                <a:ea typeface="+mn-ea"/>
              </a:rPr>
              <a:t>期待</a:t>
            </a:r>
            <a:r>
              <a:rPr lang="en-US" altLang="ja-JP" sz="2000" dirty="0">
                <a:latin typeface="+mn-ea"/>
                <a:ea typeface="+mn-ea"/>
              </a:rPr>
              <a:t>a,</a:t>
            </a:r>
            <a:r>
              <a:rPr lang="ja-JP" altLang="en-US" sz="2000" dirty="0">
                <a:latin typeface="+mn-ea"/>
                <a:ea typeface="+mn-ea"/>
              </a:rPr>
              <a:t> 期待</a:t>
            </a:r>
            <a:r>
              <a:rPr lang="en-US" altLang="ja-JP" sz="2000" dirty="0">
                <a:latin typeface="+mn-ea"/>
                <a:ea typeface="+mn-ea"/>
              </a:rPr>
              <a:t>b,</a:t>
            </a:r>
            <a:r>
              <a:rPr lang="ja-JP" altLang="en-US" sz="2000" dirty="0">
                <a:latin typeface="+mn-ea"/>
                <a:ea typeface="+mn-ea"/>
              </a:rPr>
              <a:t> 期待なし</a:t>
            </a:r>
            <a:br>
              <a:rPr lang="en-US" altLang="ja-JP" sz="2000" dirty="0">
                <a:latin typeface="+mn-ea"/>
                <a:ea typeface="+mn-ea"/>
              </a:rPr>
            </a:br>
            <a:r>
              <a:rPr lang="ja-JP" altLang="en-US" sz="2000" dirty="0"/>
              <a:t>のいずれかを付与する</a:t>
            </a:r>
            <a:endParaRPr lang="en-US" altLang="ja-JP" sz="2000" dirty="0"/>
          </a:p>
        </p:txBody>
      </p:sp>
      <p:sp>
        <p:nvSpPr>
          <p:cNvPr id="4" name="スライド番号プレースホルダー 3">
            <a:extLst>
              <a:ext uri="{FF2B5EF4-FFF2-40B4-BE49-F238E27FC236}">
                <a16:creationId xmlns:a16="http://schemas.microsoft.com/office/drawing/2014/main" id="{81CCF59E-AE65-B47A-B774-B5B2B3C358A2}"/>
              </a:ext>
            </a:extLst>
          </p:cNvPr>
          <p:cNvSpPr>
            <a:spLocks noGrp="1"/>
          </p:cNvSpPr>
          <p:nvPr>
            <p:ph type="sldNum" sz="quarter" idx="12"/>
          </p:nvPr>
        </p:nvSpPr>
        <p:spPr/>
        <p:txBody>
          <a:bodyPr/>
          <a:lstStyle/>
          <a:p>
            <a:fld id="{CF4A8B29-95AB-4EB3-9726-7CF76E557B81}" type="slidenum">
              <a:rPr kumimoji="1" lang="ja-JP" altLang="en-US" smtClean="0"/>
              <a:t>16</a:t>
            </a:fld>
            <a:endParaRPr kumimoji="1" lang="ja-JP" altLang="en-US"/>
          </a:p>
        </p:txBody>
      </p:sp>
      <p:sp>
        <p:nvSpPr>
          <p:cNvPr id="5" name="タイトル 1">
            <a:extLst>
              <a:ext uri="{FF2B5EF4-FFF2-40B4-BE49-F238E27FC236}">
                <a16:creationId xmlns:a16="http://schemas.microsoft.com/office/drawing/2014/main" id="{A76AD703-AAE4-39AC-DE16-E2A499064711}"/>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期待の分類</a:t>
            </a:r>
          </a:p>
        </p:txBody>
      </p:sp>
      <p:sp>
        <p:nvSpPr>
          <p:cNvPr id="16" name="テキスト ボックス 15">
            <a:extLst>
              <a:ext uri="{FF2B5EF4-FFF2-40B4-BE49-F238E27FC236}">
                <a16:creationId xmlns:a16="http://schemas.microsoft.com/office/drawing/2014/main" id="{C0D80939-5FE3-40AE-7C13-F86F30094E0C}"/>
              </a:ext>
            </a:extLst>
          </p:cNvPr>
          <p:cNvSpPr txBox="1"/>
          <p:nvPr/>
        </p:nvSpPr>
        <p:spPr>
          <a:xfrm>
            <a:off x="457200" y="3028890"/>
            <a:ext cx="6918960" cy="400110"/>
          </a:xfrm>
          <a:prstGeom prst="rect">
            <a:avLst/>
          </a:prstGeom>
          <a:noFill/>
        </p:spPr>
        <p:txBody>
          <a:bodyPr wrap="square" rtlCol="0">
            <a:spAutoFit/>
          </a:bodyPr>
          <a:lstStyle/>
          <a:p>
            <a:r>
              <a:rPr lang="ja-JP" altLang="en-US" sz="2000" dirty="0"/>
              <a:t>○ </a:t>
            </a:r>
            <a:r>
              <a:rPr lang="ja-JP" altLang="en-US" sz="2000" dirty="0">
                <a:latin typeface="+mn-ea"/>
                <a:ea typeface="+mn-ea"/>
              </a:rPr>
              <a:t>期待</a:t>
            </a:r>
            <a:r>
              <a:rPr lang="en-US" altLang="ja-JP" sz="2000" dirty="0">
                <a:latin typeface="+mn-lt"/>
                <a:ea typeface="+mn-ea"/>
              </a:rPr>
              <a:t>a</a:t>
            </a:r>
            <a:r>
              <a:rPr lang="ja-JP" altLang="en-US" sz="2000" dirty="0">
                <a:latin typeface="+mn-ea"/>
                <a:ea typeface="+mn-ea"/>
              </a:rPr>
              <a:t>：</a:t>
            </a:r>
            <a:r>
              <a:rPr lang="ja-JP" altLang="en-US" sz="2000" b="1" dirty="0">
                <a:solidFill>
                  <a:srgbClr val="3F82BE"/>
                </a:solidFill>
                <a:latin typeface="+mj-ea"/>
                <a:ea typeface="+mj-ea"/>
              </a:rPr>
              <a:t>購入前の願望や期待</a:t>
            </a:r>
            <a:endParaRPr lang="en-US" altLang="ja-JP" sz="2000" b="1" dirty="0">
              <a:solidFill>
                <a:srgbClr val="3F82BE"/>
              </a:solidFill>
              <a:latin typeface="+mj-ea"/>
              <a:ea typeface="+mj-ea"/>
            </a:endParaRPr>
          </a:p>
        </p:txBody>
      </p:sp>
      <p:sp>
        <p:nvSpPr>
          <p:cNvPr id="21" name="テキスト ボックス 20">
            <a:extLst>
              <a:ext uri="{FF2B5EF4-FFF2-40B4-BE49-F238E27FC236}">
                <a16:creationId xmlns:a16="http://schemas.microsoft.com/office/drawing/2014/main" id="{82864F54-A7FD-C166-8791-55E46C1CB780}"/>
              </a:ext>
            </a:extLst>
          </p:cNvPr>
          <p:cNvSpPr txBox="1"/>
          <p:nvPr/>
        </p:nvSpPr>
        <p:spPr>
          <a:xfrm>
            <a:off x="1008136" y="3420081"/>
            <a:ext cx="6558768" cy="382221"/>
          </a:xfrm>
          <a:prstGeom prst="rect">
            <a:avLst/>
          </a:prstGeom>
          <a:noFill/>
        </p:spPr>
        <p:txBody>
          <a:bodyPr wrap="square" rtlCol="0">
            <a:spAutoFit/>
          </a:bodyPr>
          <a:lstStyle/>
          <a:p>
            <a:pPr>
              <a:lnSpc>
                <a:spcPct val="110000"/>
              </a:lnSpc>
            </a:pPr>
            <a:r>
              <a:rPr lang="ja-JP" altLang="en-US" dirty="0">
                <a:solidFill>
                  <a:schemeClr val="tx1"/>
                </a:solidFill>
              </a:rPr>
              <a:t>例「女性が片手で持てる重さの掃除機が欲しかった」</a:t>
            </a:r>
            <a:endParaRPr lang="en-US" altLang="ja-JP" dirty="0">
              <a:solidFill>
                <a:schemeClr val="tx1"/>
              </a:solidFill>
            </a:endParaRPr>
          </a:p>
        </p:txBody>
      </p:sp>
      <p:sp>
        <p:nvSpPr>
          <p:cNvPr id="7" name="テキスト ボックス 6">
            <a:extLst>
              <a:ext uri="{FF2B5EF4-FFF2-40B4-BE49-F238E27FC236}">
                <a16:creationId xmlns:a16="http://schemas.microsoft.com/office/drawing/2014/main" id="{74B1789F-D7B4-74A3-1396-22531E7A5766}"/>
              </a:ext>
            </a:extLst>
          </p:cNvPr>
          <p:cNvSpPr txBox="1"/>
          <p:nvPr/>
        </p:nvSpPr>
        <p:spPr>
          <a:xfrm>
            <a:off x="457200" y="4469144"/>
            <a:ext cx="8686800" cy="400110"/>
          </a:xfrm>
          <a:prstGeom prst="rect">
            <a:avLst/>
          </a:prstGeom>
          <a:noFill/>
        </p:spPr>
        <p:txBody>
          <a:bodyPr wrap="square" rtlCol="0">
            <a:spAutoFit/>
          </a:bodyPr>
          <a:lstStyle/>
          <a:p>
            <a:pPr marL="0" indent="0">
              <a:buNone/>
            </a:pPr>
            <a:r>
              <a:rPr lang="ja-JP" altLang="en-US" sz="2000" dirty="0"/>
              <a:t>○ 期待</a:t>
            </a:r>
            <a:r>
              <a:rPr lang="en-US" altLang="ja-JP" sz="2000" dirty="0"/>
              <a:t>b</a:t>
            </a:r>
            <a:r>
              <a:rPr lang="ja-JP" altLang="en-US" sz="2000" dirty="0"/>
              <a:t>：</a:t>
            </a:r>
            <a:r>
              <a:rPr lang="ja-JP" altLang="en-US" sz="2000" b="1" dirty="0">
                <a:solidFill>
                  <a:srgbClr val="3F82BE"/>
                </a:solidFill>
                <a:latin typeface="+mj-ea"/>
                <a:ea typeface="+mj-ea"/>
              </a:rPr>
              <a:t>現状に対する不満や改善点</a:t>
            </a:r>
            <a:endParaRPr lang="en-US" altLang="ja-JP" sz="2000" b="1" dirty="0">
              <a:solidFill>
                <a:srgbClr val="3F82BE"/>
              </a:solidFill>
              <a:latin typeface="+mj-ea"/>
              <a:ea typeface="+mj-ea"/>
            </a:endParaRPr>
          </a:p>
        </p:txBody>
      </p:sp>
      <p:sp>
        <p:nvSpPr>
          <p:cNvPr id="8" name="テキスト ボックス 7">
            <a:extLst>
              <a:ext uri="{FF2B5EF4-FFF2-40B4-BE49-F238E27FC236}">
                <a16:creationId xmlns:a16="http://schemas.microsoft.com/office/drawing/2014/main" id="{38662CBD-B0E3-DABB-ECA8-06DFB60F5AC5}"/>
              </a:ext>
            </a:extLst>
          </p:cNvPr>
          <p:cNvSpPr txBox="1"/>
          <p:nvPr/>
        </p:nvSpPr>
        <p:spPr>
          <a:xfrm>
            <a:off x="1008136" y="4813872"/>
            <a:ext cx="7373864" cy="382221"/>
          </a:xfrm>
          <a:prstGeom prst="rect">
            <a:avLst/>
          </a:prstGeom>
          <a:noFill/>
        </p:spPr>
        <p:txBody>
          <a:bodyPr wrap="square" rtlCol="0">
            <a:spAutoFit/>
          </a:bodyPr>
          <a:lstStyle/>
          <a:p>
            <a:pPr>
              <a:lnSpc>
                <a:spcPct val="110000"/>
              </a:lnSpc>
            </a:pPr>
            <a:r>
              <a:rPr lang="ja-JP" altLang="en-US" dirty="0">
                <a:solidFill>
                  <a:schemeClr val="tx1"/>
                </a:solidFill>
              </a:rPr>
              <a:t>例「スイッチが手元にあれば更に良いのですが</a:t>
            </a:r>
            <a:r>
              <a:rPr lang="en-US" altLang="ja-JP" dirty="0">
                <a:solidFill>
                  <a:schemeClr val="tx1"/>
                </a:solidFill>
              </a:rPr>
              <a:t>…</a:t>
            </a:r>
            <a:r>
              <a:rPr lang="ja-JP" altLang="en-US" dirty="0">
                <a:solidFill>
                  <a:schemeClr val="tx1"/>
                </a:solidFill>
              </a:rPr>
              <a:t>」</a:t>
            </a:r>
            <a:endParaRPr lang="en-US" altLang="ja-JP" dirty="0">
              <a:solidFill>
                <a:schemeClr val="tx1"/>
              </a:solidFill>
            </a:endParaRPr>
          </a:p>
        </p:txBody>
      </p:sp>
      <p:sp>
        <p:nvSpPr>
          <p:cNvPr id="9" name="テキスト ボックス 8">
            <a:extLst>
              <a:ext uri="{FF2B5EF4-FFF2-40B4-BE49-F238E27FC236}">
                <a16:creationId xmlns:a16="http://schemas.microsoft.com/office/drawing/2014/main" id="{97BCCC28-3E49-BB53-7E0B-1D851E6A307C}"/>
              </a:ext>
            </a:extLst>
          </p:cNvPr>
          <p:cNvSpPr txBox="1"/>
          <p:nvPr/>
        </p:nvSpPr>
        <p:spPr>
          <a:xfrm>
            <a:off x="457200" y="5829457"/>
            <a:ext cx="8686800" cy="400110"/>
          </a:xfrm>
          <a:prstGeom prst="rect">
            <a:avLst/>
          </a:prstGeom>
          <a:noFill/>
        </p:spPr>
        <p:txBody>
          <a:bodyPr wrap="square" rtlCol="0">
            <a:spAutoFit/>
          </a:bodyPr>
          <a:lstStyle/>
          <a:p>
            <a:pPr marL="0" indent="0">
              <a:buNone/>
            </a:pPr>
            <a:r>
              <a:rPr lang="ja-JP" altLang="en-US" sz="2000" dirty="0"/>
              <a:t>○ 期待なし：いずれの期待も含まない文</a:t>
            </a:r>
            <a:endParaRPr lang="en-US" altLang="ja-JP" sz="2000" dirty="0"/>
          </a:p>
        </p:txBody>
      </p:sp>
    </p:spTree>
    <p:extLst>
      <p:ext uri="{BB962C8B-B14F-4D97-AF65-F5344CB8AC3E}">
        <p14:creationId xmlns:p14="http://schemas.microsoft.com/office/powerpoint/2010/main" val="1573930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実験</a:t>
            </a:r>
            <a:r>
              <a:rPr lang="en-US" altLang="ja-JP" dirty="0"/>
              <a:t>2</a:t>
            </a:r>
            <a:r>
              <a:rPr kumimoji="1" lang="en-US" altLang="ja-JP" dirty="0"/>
              <a:t> </a:t>
            </a:r>
            <a:r>
              <a:rPr kumimoji="1" lang="ja-JP" altLang="en-US" dirty="0"/>
              <a:t>文分類による期待の抽出</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546652" y="1961905"/>
            <a:ext cx="7707796" cy="4640056"/>
          </a:xfrm>
        </p:spPr>
        <p:txBody>
          <a:bodyPr>
            <a:normAutofit/>
          </a:bodyPr>
          <a:lstStyle/>
          <a:p>
            <a:pPr marL="0" indent="0">
              <a:buNone/>
            </a:pPr>
            <a:r>
              <a:rPr lang="ja-JP" altLang="en-US" sz="2000" dirty="0"/>
              <a:t>データセットとして</a:t>
            </a:r>
            <a:endParaRPr lang="en-US" altLang="ja-JP" sz="2000" dirty="0"/>
          </a:p>
          <a:p>
            <a:pPr marL="0" indent="0">
              <a:buNone/>
            </a:pPr>
            <a:r>
              <a:rPr lang="ja-JP" altLang="en-US" sz="2000" dirty="0"/>
              <a:t>「期待</a:t>
            </a:r>
            <a:r>
              <a:rPr lang="en-US" altLang="ja-JP" sz="2000" dirty="0"/>
              <a:t>a</a:t>
            </a:r>
            <a:r>
              <a:rPr lang="ja-JP" altLang="en-US" sz="2000" dirty="0"/>
              <a:t>」</a:t>
            </a:r>
            <a:r>
              <a:rPr lang="en-US" altLang="ja-JP" sz="2000" dirty="0"/>
              <a:t>350</a:t>
            </a:r>
            <a:r>
              <a:rPr lang="ja-JP" altLang="en-US" sz="2000" dirty="0"/>
              <a:t>文</a:t>
            </a:r>
            <a:r>
              <a:rPr lang="en-US" altLang="ja-JP" sz="2000" dirty="0"/>
              <a:t>, </a:t>
            </a:r>
            <a:r>
              <a:rPr lang="ja-JP" altLang="en-US" sz="2000" dirty="0"/>
              <a:t>「期待</a:t>
            </a:r>
            <a:r>
              <a:rPr lang="en-US" altLang="ja-JP" sz="2000" dirty="0"/>
              <a:t>b</a:t>
            </a:r>
            <a:r>
              <a:rPr lang="ja-JP" altLang="en-US" sz="2000" dirty="0"/>
              <a:t>」</a:t>
            </a:r>
            <a:r>
              <a:rPr lang="en-US" altLang="ja-JP" sz="2000" dirty="0"/>
              <a:t>350</a:t>
            </a:r>
            <a:r>
              <a:rPr lang="ja-JP" altLang="en-US" sz="2000" dirty="0"/>
              <a:t>文</a:t>
            </a:r>
            <a:r>
              <a:rPr lang="en-US" altLang="ja-JP" sz="2000" dirty="0"/>
              <a:t>, </a:t>
            </a:r>
            <a:r>
              <a:rPr lang="ja-JP" altLang="en-US" sz="2000" dirty="0"/>
              <a:t>「期待なし」</a:t>
            </a:r>
            <a:r>
              <a:rPr lang="en-US" altLang="ja-JP" sz="2000" dirty="0"/>
              <a:t>700</a:t>
            </a:r>
            <a:r>
              <a:rPr lang="ja-JP" altLang="en-US" sz="2000" dirty="0"/>
              <a:t>文</a:t>
            </a:r>
            <a:endParaRPr lang="en-US" altLang="ja-JP" sz="2000" dirty="0"/>
          </a:p>
          <a:p>
            <a:pPr marL="0" indent="0">
              <a:buNone/>
            </a:pPr>
            <a:r>
              <a:rPr lang="ja-JP" altLang="en-US" sz="2000" dirty="0"/>
              <a:t>計</a:t>
            </a:r>
            <a:r>
              <a:rPr lang="en-US" altLang="ja-JP" sz="2000" dirty="0"/>
              <a:t>1400</a:t>
            </a:r>
            <a:r>
              <a:rPr lang="ja-JP" altLang="en-US" sz="2000" dirty="0"/>
              <a:t>文用意した</a:t>
            </a:r>
            <a:endParaRPr lang="en-US" altLang="ja-JP" sz="2000" dirty="0"/>
          </a:p>
          <a:p>
            <a:pPr marL="0" indent="0">
              <a:buNone/>
            </a:pPr>
            <a:endParaRPr lang="en-US" altLang="ja-JP" sz="2000" dirty="0"/>
          </a:p>
          <a:p>
            <a:r>
              <a:rPr kumimoji="1" lang="ja-JP" altLang="en-US" sz="2000" dirty="0"/>
              <a:t>データセットを学習用</a:t>
            </a:r>
            <a:r>
              <a:rPr kumimoji="1" lang="en-US" altLang="ja-JP" sz="2000" dirty="0"/>
              <a:t>60%, </a:t>
            </a:r>
            <a:r>
              <a:rPr kumimoji="1" lang="ja-JP" altLang="en-US" sz="2000" dirty="0"/>
              <a:t>検証用</a:t>
            </a:r>
            <a:r>
              <a:rPr kumimoji="1" lang="en-US" altLang="ja-JP" sz="2000" dirty="0"/>
              <a:t>20%, </a:t>
            </a:r>
            <a:r>
              <a:rPr kumimoji="1" lang="ja-JP" altLang="en-US" sz="2000" dirty="0"/>
              <a:t>テスト用</a:t>
            </a:r>
            <a:r>
              <a:rPr kumimoji="1" lang="en-US" altLang="ja-JP" sz="2000" dirty="0"/>
              <a:t>20%</a:t>
            </a:r>
            <a:r>
              <a:rPr lang="ja-JP" altLang="en-US" sz="2000" dirty="0"/>
              <a:t>に分割</a:t>
            </a:r>
            <a:br>
              <a:rPr lang="en-US" altLang="ja-JP" sz="2000" dirty="0"/>
            </a:br>
            <a:r>
              <a:rPr lang="en-US" altLang="ja-JP" sz="2000" dirty="0"/>
              <a:t>(</a:t>
            </a:r>
            <a:r>
              <a:rPr lang="ja-JP" altLang="en-US" sz="2000" dirty="0"/>
              <a:t>ラベルごとに均等に分かれるようにした</a:t>
            </a:r>
            <a:r>
              <a:rPr lang="en-US" altLang="ja-JP" sz="2000" dirty="0"/>
              <a:t>)</a:t>
            </a:r>
          </a:p>
          <a:p>
            <a:endParaRPr lang="en-US" altLang="ja-JP" sz="2000" dirty="0"/>
          </a:p>
          <a:p>
            <a:pPr>
              <a:lnSpc>
                <a:spcPct val="110000"/>
              </a:lnSpc>
            </a:pPr>
            <a:r>
              <a:rPr lang="en-US" altLang="ja-JP" sz="2000" dirty="0"/>
              <a:t>Transformers </a:t>
            </a:r>
            <a:r>
              <a:rPr lang="ja-JP" altLang="en-US" sz="2000" dirty="0"/>
              <a:t>の </a:t>
            </a:r>
            <a:r>
              <a:rPr lang="en-US" altLang="ja-JP" sz="2000" dirty="0" err="1"/>
              <a:t>BertForSequenceClassification</a:t>
            </a:r>
            <a:r>
              <a:rPr lang="en-US" altLang="ja-JP" sz="2000" dirty="0"/>
              <a:t> </a:t>
            </a:r>
            <a:r>
              <a:rPr lang="ja-JP" altLang="en-US" sz="2000" dirty="0"/>
              <a:t>クラスを用いて</a:t>
            </a:r>
            <a:br>
              <a:rPr lang="en-US" altLang="ja-JP" sz="2000" dirty="0"/>
            </a:br>
            <a:r>
              <a:rPr lang="en-US" altLang="ja-JP" sz="2000" dirty="0"/>
              <a:t>BERT</a:t>
            </a:r>
            <a:r>
              <a:rPr lang="ja-JP" altLang="en-US" sz="2000" dirty="0"/>
              <a:t>による文の三値分類を実装した</a:t>
            </a:r>
            <a:endParaRPr lang="en-US" altLang="ja-JP" sz="2000" dirty="0"/>
          </a:p>
          <a:p>
            <a:pPr marL="0" indent="0">
              <a:buNone/>
            </a:pPr>
            <a:endParaRPr lang="en-US" altLang="ja-JP" sz="2000" dirty="0"/>
          </a:p>
          <a:p>
            <a:pPr marL="0" indent="0">
              <a:buNone/>
            </a:pPr>
            <a:endParaRPr lang="en-US" altLang="ja-JP" sz="20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17</a:t>
            </a:fld>
            <a:endParaRPr kumimoji="1" lang="ja-JP" altLang="en-US"/>
          </a:p>
        </p:txBody>
      </p:sp>
      <p:sp>
        <p:nvSpPr>
          <p:cNvPr id="5" name="タイトル 1">
            <a:extLst>
              <a:ext uri="{FF2B5EF4-FFF2-40B4-BE49-F238E27FC236}">
                <a16:creationId xmlns:a16="http://schemas.microsoft.com/office/drawing/2014/main" id="{2DAE4F95-1CD9-3548-5D5E-E0A14656D970}"/>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評価実験</a:t>
            </a:r>
          </a:p>
        </p:txBody>
      </p:sp>
    </p:spTree>
    <p:extLst>
      <p:ext uri="{BB962C8B-B14F-4D97-AF65-F5344CB8AC3E}">
        <p14:creationId xmlns:p14="http://schemas.microsoft.com/office/powerpoint/2010/main" val="2719550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実験</a:t>
            </a:r>
            <a:r>
              <a:rPr lang="en-US" altLang="ja-JP" dirty="0"/>
              <a:t>2</a:t>
            </a:r>
            <a:r>
              <a:rPr kumimoji="1" lang="en-US" altLang="ja-JP" dirty="0"/>
              <a:t> </a:t>
            </a:r>
            <a:r>
              <a:rPr kumimoji="1" lang="ja-JP" altLang="en-US" dirty="0"/>
              <a:t>文分類による期待の抽出</a:t>
            </a:r>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18</a:t>
            </a:fld>
            <a:endParaRPr kumimoji="1" lang="ja-JP" altLang="en-US"/>
          </a:p>
        </p:txBody>
      </p:sp>
      <p:graphicFrame>
        <p:nvGraphicFramePr>
          <p:cNvPr id="7" name="表 6">
            <a:extLst>
              <a:ext uri="{FF2B5EF4-FFF2-40B4-BE49-F238E27FC236}">
                <a16:creationId xmlns:a16="http://schemas.microsoft.com/office/drawing/2014/main" id="{5D68403A-687A-0905-FD16-A65C22066514}"/>
              </a:ext>
            </a:extLst>
          </p:cNvPr>
          <p:cNvGraphicFramePr>
            <a:graphicFrameLocks noGrp="1"/>
          </p:cNvGraphicFramePr>
          <p:nvPr>
            <p:extLst>
              <p:ext uri="{D42A27DB-BD31-4B8C-83A1-F6EECF244321}">
                <p14:modId xmlns:p14="http://schemas.microsoft.com/office/powerpoint/2010/main" val="1439951667"/>
              </p:ext>
            </p:extLst>
          </p:nvPr>
        </p:nvGraphicFramePr>
        <p:xfrm>
          <a:off x="593124" y="2795584"/>
          <a:ext cx="3978876" cy="1577047"/>
        </p:xfrm>
        <a:graphic>
          <a:graphicData uri="http://schemas.openxmlformats.org/drawingml/2006/table">
            <a:tbl>
              <a:tblPr firstRow="1" bandRow="1">
                <a:tableStyleId>{5940675A-B579-460E-94D1-54222C63F5DA}</a:tableStyleId>
              </a:tblPr>
              <a:tblGrid>
                <a:gridCol w="994719">
                  <a:extLst>
                    <a:ext uri="{9D8B030D-6E8A-4147-A177-3AD203B41FA5}">
                      <a16:colId xmlns:a16="http://schemas.microsoft.com/office/drawing/2014/main" val="2537196469"/>
                    </a:ext>
                  </a:extLst>
                </a:gridCol>
                <a:gridCol w="994719">
                  <a:extLst>
                    <a:ext uri="{9D8B030D-6E8A-4147-A177-3AD203B41FA5}">
                      <a16:colId xmlns:a16="http://schemas.microsoft.com/office/drawing/2014/main" val="2952872454"/>
                    </a:ext>
                  </a:extLst>
                </a:gridCol>
                <a:gridCol w="994719">
                  <a:extLst>
                    <a:ext uri="{9D8B030D-6E8A-4147-A177-3AD203B41FA5}">
                      <a16:colId xmlns:a16="http://schemas.microsoft.com/office/drawing/2014/main" val="3239270041"/>
                    </a:ext>
                  </a:extLst>
                </a:gridCol>
                <a:gridCol w="994719">
                  <a:extLst>
                    <a:ext uri="{9D8B030D-6E8A-4147-A177-3AD203B41FA5}">
                      <a16:colId xmlns:a16="http://schemas.microsoft.com/office/drawing/2014/main" val="2861507564"/>
                    </a:ext>
                  </a:extLst>
                </a:gridCol>
              </a:tblGrid>
              <a:tr h="498015">
                <a:tc>
                  <a:txBody>
                    <a:bodyPr/>
                    <a:lstStyle/>
                    <a:p>
                      <a:pPr algn="ctr"/>
                      <a:endParaRPr kumimoji="1" lang="ja-JP" altLang="en-US" sz="20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sz="1800" dirty="0"/>
                        <a:t>適合率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sz="1800" dirty="0"/>
                        <a:t>再現率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dirty="0"/>
                        <a:t>F</a:t>
                      </a:r>
                      <a:r>
                        <a:rPr kumimoji="1" lang="ja-JP" altLang="en-US" sz="1800" dirty="0"/>
                        <a:t>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1557955298"/>
                  </a:ext>
                </a:extLst>
              </a:tr>
              <a:tr h="539516">
                <a:tc>
                  <a:txBody>
                    <a:bodyPr/>
                    <a:lstStyle/>
                    <a:p>
                      <a:pPr algn="ctr"/>
                      <a:r>
                        <a:rPr kumimoji="1" lang="ja-JP" altLang="en-US" sz="1800" dirty="0"/>
                        <a:t>期待</a:t>
                      </a:r>
                      <a:r>
                        <a:rPr kumimoji="1" lang="en-US" altLang="ja-JP" sz="1800" dirty="0"/>
                        <a:t>a</a:t>
                      </a:r>
                      <a:endParaRPr kumimoji="1" lang="ja-JP" altLang="en-US" sz="18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800" b="0" dirty="0"/>
                        <a:t>0.952</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0" dirty="0"/>
                        <a:t>0.857</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800" b="1" dirty="0"/>
                        <a:t>0.902</a:t>
                      </a:r>
                      <a:endParaRPr kumimoji="1" lang="ja-JP" altLang="en-US" sz="1800" b="1"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896172"/>
                  </a:ext>
                </a:extLst>
              </a:tr>
              <a:tr h="539516">
                <a:tc>
                  <a:txBody>
                    <a:bodyPr/>
                    <a:lstStyle/>
                    <a:p>
                      <a:pPr algn="ctr"/>
                      <a:r>
                        <a:rPr kumimoji="1" lang="ja-JP" altLang="en-US" sz="1800" dirty="0"/>
                        <a:t>期待</a:t>
                      </a:r>
                      <a:r>
                        <a:rPr kumimoji="1" lang="en-US" altLang="ja-JP" sz="1800" dirty="0"/>
                        <a:t>b</a:t>
                      </a:r>
                      <a:endParaRPr kumimoji="1" lang="ja-JP" altLang="en-US" sz="18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AED"/>
                    </a:solidFill>
                  </a:tcPr>
                </a:tc>
                <a:tc>
                  <a:txBody>
                    <a:bodyPr/>
                    <a:lstStyle/>
                    <a:p>
                      <a:pPr algn="ctr"/>
                      <a:r>
                        <a:rPr kumimoji="1" lang="en-US" altLang="ja-JP" sz="1800" b="0" dirty="0"/>
                        <a:t>0.831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800" b="0" dirty="0"/>
                        <a:t>0.914</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800" b="1" dirty="0"/>
                        <a:t>0.871</a:t>
                      </a:r>
                      <a:endParaRPr kumimoji="1" lang="ja-JP" altLang="en-US" sz="1800" b="1"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9338056"/>
                  </a:ext>
                </a:extLst>
              </a:tr>
            </a:tbl>
          </a:graphicData>
        </a:graphic>
      </p:graphicFrame>
      <p:sp>
        <p:nvSpPr>
          <p:cNvPr id="11" name="テキスト ボックス 10">
            <a:extLst>
              <a:ext uri="{FF2B5EF4-FFF2-40B4-BE49-F238E27FC236}">
                <a16:creationId xmlns:a16="http://schemas.microsoft.com/office/drawing/2014/main" id="{7151393E-23D4-A9D4-81DA-DDF42E4D3DFE}"/>
              </a:ext>
            </a:extLst>
          </p:cNvPr>
          <p:cNvSpPr txBox="1"/>
          <p:nvPr/>
        </p:nvSpPr>
        <p:spPr>
          <a:xfrm>
            <a:off x="593124" y="2111495"/>
            <a:ext cx="2600960" cy="400110"/>
          </a:xfrm>
          <a:prstGeom prst="rect">
            <a:avLst/>
          </a:prstGeom>
          <a:noFill/>
        </p:spPr>
        <p:txBody>
          <a:bodyPr wrap="square" rtlCol="0">
            <a:spAutoFit/>
          </a:bodyPr>
          <a:lstStyle/>
          <a:p>
            <a:r>
              <a:rPr kumimoji="1" lang="ja-JP" altLang="en-US" sz="2000" dirty="0"/>
              <a:t>正解率：</a:t>
            </a:r>
            <a:r>
              <a:rPr kumimoji="1" lang="en-US" altLang="ja-JP" sz="2000" dirty="0"/>
              <a:t>89.3%</a:t>
            </a:r>
            <a:endParaRPr kumimoji="1" lang="ja-JP" altLang="en-US" sz="2000" dirty="0"/>
          </a:p>
        </p:txBody>
      </p:sp>
      <p:sp>
        <p:nvSpPr>
          <p:cNvPr id="5" name="タイトル 1">
            <a:extLst>
              <a:ext uri="{FF2B5EF4-FFF2-40B4-BE49-F238E27FC236}">
                <a16:creationId xmlns:a16="http://schemas.microsoft.com/office/drawing/2014/main" id="{E79E3CFF-DC7F-CA16-2667-C8911C0198AA}"/>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実験結果</a:t>
            </a:r>
          </a:p>
        </p:txBody>
      </p:sp>
      <p:sp>
        <p:nvSpPr>
          <p:cNvPr id="8" name="コンテンツ プレースホルダー 2">
            <a:extLst>
              <a:ext uri="{FF2B5EF4-FFF2-40B4-BE49-F238E27FC236}">
                <a16:creationId xmlns:a16="http://schemas.microsoft.com/office/drawing/2014/main" id="{69C7197E-2650-3959-5A07-F810379526AC}"/>
              </a:ext>
            </a:extLst>
          </p:cNvPr>
          <p:cNvSpPr>
            <a:spLocks noGrp="1"/>
          </p:cNvSpPr>
          <p:nvPr>
            <p:ph idx="1"/>
          </p:nvPr>
        </p:nvSpPr>
        <p:spPr>
          <a:xfrm>
            <a:off x="457200" y="5340699"/>
            <a:ext cx="5599435" cy="494580"/>
          </a:xfrm>
        </p:spPr>
        <p:txBody>
          <a:bodyPr>
            <a:normAutofit/>
          </a:bodyPr>
          <a:lstStyle/>
          <a:p>
            <a:pPr marL="0" indent="0">
              <a:buNone/>
            </a:pPr>
            <a:r>
              <a:rPr lang="ja-JP" altLang="en-US" sz="2400" dirty="0"/>
              <a:t>ある程度高い精度で分類できた</a:t>
            </a:r>
            <a:endParaRPr lang="en-US" altLang="ja-JP" sz="2400" dirty="0"/>
          </a:p>
        </p:txBody>
      </p:sp>
      <p:sp>
        <p:nvSpPr>
          <p:cNvPr id="3" name="テキスト ボックス 2">
            <a:extLst>
              <a:ext uri="{FF2B5EF4-FFF2-40B4-BE49-F238E27FC236}">
                <a16:creationId xmlns:a16="http://schemas.microsoft.com/office/drawing/2014/main" id="{63985842-BC30-7C66-19F7-B487BDC63EFE}"/>
              </a:ext>
            </a:extLst>
          </p:cNvPr>
          <p:cNvSpPr txBox="1"/>
          <p:nvPr/>
        </p:nvSpPr>
        <p:spPr>
          <a:xfrm>
            <a:off x="4782064" y="3357616"/>
            <a:ext cx="4964982" cy="1015663"/>
          </a:xfrm>
          <a:prstGeom prst="rect">
            <a:avLst/>
          </a:prstGeom>
          <a:noFill/>
        </p:spPr>
        <p:txBody>
          <a:bodyPr wrap="square" rtlCol="0">
            <a:spAutoFit/>
          </a:bodyPr>
          <a:lstStyle/>
          <a:p>
            <a:r>
              <a:rPr lang="ja-JP" altLang="en-US" sz="2000" dirty="0">
                <a:latin typeface="+mn-ea"/>
                <a:ea typeface="+mn-ea"/>
              </a:rPr>
              <a:t>期待</a:t>
            </a:r>
            <a:r>
              <a:rPr lang="en-US" altLang="ja-JP" sz="2000" dirty="0">
                <a:latin typeface="+mn-lt"/>
                <a:ea typeface="+mn-ea"/>
              </a:rPr>
              <a:t>a</a:t>
            </a:r>
            <a:r>
              <a:rPr lang="ja-JP" altLang="en-US" sz="2000" dirty="0">
                <a:latin typeface="+mn-ea"/>
                <a:ea typeface="+mn-ea"/>
              </a:rPr>
              <a:t>：</a:t>
            </a:r>
            <a:r>
              <a:rPr lang="ja-JP" altLang="en-US" sz="2000" dirty="0">
                <a:latin typeface="+mn-ea"/>
              </a:rPr>
              <a:t>購入前の願望や期待</a:t>
            </a:r>
            <a:endParaRPr lang="en-US" altLang="ja-JP" sz="2000" dirty="0">
              <a:latin typeface="+mn-ea"/>
            </a:endParaRPr>
          </a:p>
          <a:p>
            <a:endParaRPr lang="en-US" altLang="ja-JP" sz="2000" dirty="0">
              <a:latin typeface="+mn-ea"/>
            </a:endParaRPr>
          </a:p>
          <a:p>
            <a:r>
              <a:rPr lang="ja-JP" altLang="en-US" sz="2000" dirty="0">
                <a:latin typeface="+mn-ea"/>
                <a:ea typeface="+mn-ea"/>
              </a:rPr>
              <a:t>期待</a:t>
            </a:r>
            <a:r>
              <a:rPr lang="en-US" altLang="ja-JP" sz="2000" dirty="0">
                <a:latin typeface="+mn-lt"/>
                <a:ea typeface="+mn-ea"/>
              </a:rPr>
              <a:t>b</a:t>
            </a:r>
            <a:r>
              <a:rPr lang="ja-JP" altLang="en-US" sz="2000" dirty="0">
                <a:latin typeface="+mn-ea"/>
                <a:ea typeface="+mn-ea"/>
              </a:rPr>
              <a:t>：現状に対する不満や改善点</a:t>
            </a:r>
            <a:endParaRPr lang="en-US" altLang="ja-JP" sz="2000" dirty="0">
              <a:latin typeface="+mn-ea"/>
            </a:endParaRPr>
          </a:p>
        </p:txBody>
      </p:sp>
    </p:spTree>
    <p:extLst>
      <p:ext uri="{BB962C8B-B14F-4D97-AF65-F5344CB8AC3E}">
        <p14:creationId xmlns:p14="http://schemas.microsoft.com/office/powerpoint/2010/main" val="3151476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C7B780-00E6-21F1-9E43-E9187B5CB94A}"/>
              </a:ext>
            </a:extLst>
          </p:cNvPr>
          <p:cNvSpPr>
            <a:spLocks noGrp="1"/>
          </p:cNvSpPr>
          <p:nvPr>
            <p:ph type="title"/>
          </p:nvPr>
        </p:nvSpPr>
        <p:spPr/>
        <p:txBody>
          <a:bodyPr>
            <a:normAutofit/>
          </a:bodyPr>
          <a:lstStyle/>
          <a:p>
            <a:r>
              <a:rPr kumimoji="1" lang="ja-JP" altLang="en-US" dirty="0"/>
              <a:t>実験</a:t>
            </a:r>
            <a:r>
              <a:rPr lang="en-US" altLang="ja-JP" dirty="0"/>
              <a:t>2</a:t>
            </a:r>
            <a:r>
              <a:rPr kumimoji="1" lang="en-US" altLang="ja-JP" dirty="0"/>
              <a:t> </a:t>
            </a:r>
            <a:r>
              <a:rPr kumimoji="1" lang="ja-JP" altLang="en-US" dirty="0"/>
              <a:t>文分類による期待の抽出</a:t>
            </a:r>
          </a:p>
        </p:txBody>
      </p:sp>
      <p:sp>
        <p:nvSpPr>
          <p:cNvPr id="3" name="コンテンツ プレースホルダー 2">
            <a:extLst>
              <a:ext uri="{FF2B5EF4-FFF2-40B4-BE49-F238E27FC236}">
                <a16:creationId xmlns:a16="http://schemas.microsoft.com/office/drawing/2014/main" id="{90737F04-5A90-4DF0-9657-83079B21128B}"/>
              </a:ext>
            </a:extLst>
          </p:cNvPr>
          <p:cNvSpPr>
            <a:spLocks noGrp="1"/>
          </p:cNvSpPr>
          <p:nvPr>
            <p:ph idx="1"/>
          </p:nvPr>
        </p:nvSpPr>
        <p:spPr>
          <a:xfrm>
            <a:off x="794268" y="5031367"/>
            <a:ext cx="7133590" cy="987394"/>
          </a:xfrm>
        </p:spPr>
        <p:txBody>
          <a:bodyPr vert="horz" lIns="91440" tIns="45720" rIns="91440" bIns="45720" rtlCol="0" anchor="t">
            <a:normAutofit/>
          </a:bodyPr>
          <a:lstStyle/>
          <a:p>
            <a:pPr marL="0" indent="0">
              <a:buNone/>
            </a:pPr>
            <a:r>
              <a:rPr kumimoji="1" lang="ja-JP" altLang="en-US" sz="2000" b="1">
                <a:latin typeface="+mj-ea"/>
                <a:ea typeface="+mj-ea"/>
                <a:cs typeface="Segoe UI"/>
              </a:rPr>
              <a:t>人手の注釈付けで</a:t>
            </a:r>
            <a:r>
              <a:rPr lang="ja-JP" altLang="en-US" sz="2000" b="1">
                <a:latin typeface="+mj-ea"/>
                <a:ea typeface="+mj-ea"/>
                <a:cs typeface="Segoe UI"/>
              </a:rPr>
              <a:t>も</a:t>
            </a:r>
            <a:r>
              <a:rPr kumimoji="1" lang="ja-JP" altLang="en-US" sz="2000" b="1">
                <a:latin typeface="+mj-ea"/>
                <a:ea typeface="+mj-ea"/>
                <a:cs typeface="Segoe UI"/>
              </a:rPr>
              <a:t>揺れが起きるような、</a:t>
            </a:r>
            <a:endParaRPr kumimoji="1" lang="en-US" altLang="ja-JP" sz="2000" b="1">
              <a:latin typeface="+mj-ea"/>
              <a:ea typeface="+mj-ea"/>
              <a:cs typeface="Segoe UI"/>
            </a:endParaRPr>
          </a:p>
          <a:p>
            <a:pPr marL="0" indent="0">
              <a:buNone/>
            </a:pPr>
            <a:r>
              <a:rPr kumimoji="1" lang="ja-JP" altLang="en-US" sz="2000" b="1" dirty="0">
                <a:latin typeface="+mj-ea"/>
                <a:ea typeface="+mj-ea"/>
              </a:rPr>
              <a:t>判別が難しいものは上手く分類出来ていなかった。</a:t>
            </a:r>
            <a:endParaRPr kumimoji="1" lang="en-US" altLang="ja-JP" sz="2000" b="1" dirty="0">
              <a:latin typeface="+mj-ea"/>
              <a:ea typeface="+mj-ea"/>
            </a:endParaRPr>
          </a:p>
        </p:txBody>
      </p:sp>
      <p:sp>
        <p:nvSpPr>
          <p:cNvPr id="4" name="スライド番号プレースホルダー 3">
            <a:extLst>
              <a:ext uri="{FF2B5EF4-FFF2-40B4-BE49-F238E27FC236}">
                <a16:creationId xmlns:a16="http://schemas.microsoft.com/office/drawing/2014/main" id="{CF9DDA0D-9FD7-1137-A979-00524A7DCE6C}"/>
              </a:ext>
            </a:extLst>
          </p:cNvPr>
          <p:cNvSpPr>
            <a:spLocks noGrp="1"/>
          </p:cNvSpPr>
          <p:nvPr>
            <p:ph type="sldNum" sz="quarter" idx="12"/>
          </p:nvPr>
        </p:nvSpPr>
        <p:spPr/>
        <p:txBody>
          <a:bodyPr/>
          <a:lstStyle/>
          <a:p>
            <a:fld id="{CF4A8B29-95AB-4EB3-9726-7CF76E557B81}" type="slidenum">
              <a:rPr kumimoji="1" lang="ja-JP" altLang="en-US" smtClean="0"/>
              <a:t>19</a:t>
            </a:fld>
            <a:endParaRPr kumimoji="1" lang="ja-JP" altLang="en-US"/>
          </a:p>
        </p:txBody>
      </p:sp>
      <p:sp>
        <p:nvSpPr>
          <p:cNvPr id="15" name="テキスト ボックス 14">
            <a:extLst>
              <a:ext uri="{FF2B5EF4-FFF2-40B4-BE49-F238E27FC236}">
                <a16:creationId xmlns:a16="http://schemas.microsoft.com/office/drawing/2014/main" id="{8AB98DC0-93BC-92C6-FE60-419DA3BDE4F0}"/>
              </a:ext>
            </a:extLst>
          </p:cNvPr>
          <p:cNvSpPr txBox="1"/>
          <p:nvPr/>
        </p:nvSpPr>
        <p:spPr>
          <a:xfrm>
            <a:off x="457200" y="2062929"/>
            <a:ext cx="7101840" cy="783869"/>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kumimoji="1" lang="ja-JP" altLang="en-US" sz="1800" dirty="0"/>
              <a:t>「期待なし」の文を「期待</a:t>
            </a:r>
            <a:r>
              <a:rPr kumimoji="1" lang="en-US" altLang="ja-JP" sz="1800" dirty="0"/>
              <a:t>b</a:t>
            </a:r>
            <a:r>
              <a:rPr kumimoji="1" lang="ja-JP" altLang="en-US" sz="1800" dirty="0"/>
              <a:t>（</a:t>
            </a:r>
            <a:r>
              <a:rPr lang="ja-JP" altLang="en-US" sz="1800" dirty="0">
                <a:latin typeface="+mn-ea"/>
                <a:ea typeface="+mn-ea"/>
              </a:rPr>
              <a:t>現状に対する不満や改善点</a:t>
            </a:r>
            <a:r>
              <a:rPr kumimoji="1" lang="ja-JP" altLang="en-US" sz="1800" dirty="0"/>
              <a:t>）」と誤分類した事例</a:t>
            </a:r>
            <a:endParaRPr kumimoji="1" lang="en-US" altLang="ja-JP" sz="1800" dirty="0"/>
          </a:p>
        </p:txBody>
      </p:sp>
      <p:sp>
        <p:nvSpPr>
          <p:cNvPr id="17" name="タイトル 1">
            <a:extLst>
              <a:ext uri="{FF2B5EF4-FFF2-40B4-BE49-F238E27FC236}">
                <a16:creationId xmlns:a16="http://schemas.microsoft.com/office/drawing/2014/main" id="{AF588FC2-1DDB-C9D9-EC28-D4683E4B94C3}"/>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400" dirty="0">
                <a:latin typeface="+mj-ea"/>
                <a:ea typeface="+mj-ea"/>
              </a:rPr>
              <a:t>分類が上手くいかなかった例</a:t>
            </a:r>
          </a:p>
        </p:txBody>
      </p:sp>
      <p:sp>
        <p:nvSpPr>
          <p:cNvPr id="18" name="角丸四角形 15">
            <a:extLst>
              <a:ext uri="{FF2B5EF4-FFF2-40B4-BE49-F238E27FC236}">
                <a16:creationId xmlns:a16="http://schemas.microsoft.com/office/drawing/2014/main" id="{1AD2DFC3-9E73-933C-55D3-0E4DBE29A1EE}"/>
              </a:ext>
            </a:extLst>
          </p:cNvPr>
          <p:cNvSpPr/>
          <p:nvPr/>
        </p:nvSpPr>
        <p:spPr>
          <a:xfrm>
            <a:off x="709565" y="2879151"/>
            <a:ext cx="6636115" cy="64187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ja-JP" altLang="en-US" sz="1800" dirty="0">
                <a:solidFill>
                  <a:schemeClr val="tx1"/>
                </a:solidFill>
              </a:rPr>
              <a:t>ヘッドの動きが固い気もしましたが慣れてくれば大丈夫そう</a:t>
            </a:r>
            <a:endParaRPr lang="ja-JP" altLang="en-US" dirty="0">
              <a:solidFill>
                <a:schemeClr val="tx1"/>
              </a:solidFill>
            </a:endParaRPr>
          </a:p>
        </p:txBody>
      </p:sp>
      <p:sp>
        <p:nvSpPr>
          <p:cNvPr id="19" name="矢印: 上向き折線 18">
            <a:extLst>
              <a:ext uri="{FF2B5EF4-FFF2-40B4-BE49-F238E27FC236}">
                <a16:creationId xmlns:a16="http://schemas.microsoft.com/office/drawing/2014/main" id="{B5DC2672-5414-709C-E24B-A37FF08D57B4}"/>
              </a:ext>
            </a:extLst>
          </p:cNvPr>
          <p:cNvSpPr/>
          <p:nvPr/>
        </p:nvSpPr>
        <p:spPr>
          <a:xfrm rot="5400000">
            <a:off x="1179974" y="3680137"/>
            <a:ext cx="383251" cy="373878"/>
          </a:xfrm>
          <a:prstGeom prst="ben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0D838157-71A3-0A6E-403B-0328CF38D4D8}"/>
              </a:ext>
            </a:extLst>
          </p:cNvPr>
          <p:cNvSpPr txBox="1"/>
          <p:nvPr/>
        </p:nvSpPr>
        <p:spPr>
          <a:xfrm>
            <a:off x="1558539" y="3675450"/>
            <a:ext cx="6000501" cy="735394"/>
          </a:xfrm>
          <a:prstGeom prst="rect">
            <a:avLst/>
          </a:prstGeom>
          <a:noFill/>
        </p:spPr>
        <p:txBody>
          <a:bodyPr wrap="square" rtlCol="0">
            <a:spAutoFit/>
          </a:bodyPr>
          <a:lstStyle/>
          <a:p>
            <a:pPr>
              <a:lnSpc>
                <a:spcPct val="120000"/>
              </a:lnSpc>
            </a:pPr>
            <a:r>
              <a:rPr kumimoji="1" lang="ja-JP" altLang="en-US" dirty="0"/>
              <a:t>「ヘッドが柔らかくなってほしい」という期待があると捉えるかどうかで変わる</a:t>
            </a:r>
          </a:p>
        </p:txBody>
      </p:sp>
    </p:spTree>
    <p:extLst>
      <p:ext uri="{BB962C8B-B14F-4D97-AF65-F5344CB8AC3E}">
        <p14:creationId xmlns:p14="http://schemas.microsoft.com/office/powerpoint/2010/main" val="3045726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628649" y="1716295"/>
            <a:ext cx="8008723" cy="3802004"/>
          </a:xfrm>
        </p:spPr>
        <p:txBody>
          <a:bodyPr>
            <a:normAutofit/>
          </a:bodyPr>
          <a:lstStyle/>
          <a:p>
            <a:pPr>
              <a:lnSpc>
                <a:spcPct val="110000"/>
              </a:lnSpc>
            </a:pPr>
            <a:r>
              <a:rPr lang="ja-JP" altLang="en-US" sz="2200" dirty="0"/>
              <a:t>評判情報抽出を目的とした、期待の抽出手法の</a:t>
            </a:r>
            <a:br>
              <a:rPr lang="en-US" altLang="ja-JP" sz="2200" dirty="0"/>
            </a:br>
            <a:r>
              <a:rPr lang="ja-JP" altLang="en-US" sz="2200" dirty="0"/>
              <a:t>検討を行った</a:t>
            </a:r>
            <a:endParaRPr lang="en-US" altLang="ja-JP" sz="2200" dirty="0"/>
          </a:p>
          <a:p>
            <a:endParaRPr lang="en-US" altLang="ja-JP" sz="2200" dirty="0"/>
          </a:p>
          <a:p>
            <a:pPr>
              <a:lnSpc>
                <a:spcPct val="110000"/>
              </a:lnSpc>
            </a:pPr>
            <a:r>
              <a:rPr lang="ja-JP" altLang="en-US" sz="2200" dirty="0"/>
              <a:t>系列ラベリングでは、期待は他の項目よりも精度が低く</a:t>
            </a:r>
            <a:br>
              <a:rPr lang="en-US" altLang="ja-JP" sz="2200" dirty="0"/>
            </a:br>
            <a:r>
              <a:rPr lang="ja-JP" altLang="en-US" sz="2200" dirty="0"/>
              <a:t>厳密な完全一致での抽出が困難</a:t>
            </a:r>
            <a:endParaRPr lang="en-US" altLang="ja-JP" sz="2200" dirty="0"/>
          </a:p>
          <a:p>
            <a:endParaRPr lang="en-US" altLang="ja-JP" sz="2200" dirty="0"/>
          </a:p>
          <a:p>
            <a:pPr>
              <a:lnSpc>
                <a:spcPct val="110000"/>
              </a:lnSpc>
            </a:pPr>
            <a:r>
              <a:rPr lang="ja-JP" altLang="en-US" sz="2200" dirty="0"/>
              <a:t>文分類では、明示的に現れない期待を含め</a:t>
            </a:r>
            <a:br>
              <a:rPr lang="en-US" altLang="ja-JP" sz="2200" dirty="0"/>
            </a:br>
            <a:r>
              <a:rPr lang="ja-JP" altLang="en-US" sz="2200" dirty="0"/>
              <a:t>ある程度高い精度で抽出が行えた</a:t>
            </a:r>
            <a:endParaRPr lang="en-US" altLang="ja-JP" sz="2200" dirty="0"/>
          </a:p>
          <a:p>
            <a:pPr marL="0" indent="0">
              <a:buNone/>
            </a:pPr>
            <a:endParaRPr lang="en-US" altLang="ja-JP" sz="22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20</a:t>
            </a:fld>
            <a:endParaRPr kumimoji="1" lang="ja-JP" altLang="en-US"/>
          </a:p>
        </p:txBody>
      </p:sp>
    </p:spTree>
    <p:extLst>
      <p:ext uri="{BB962C8B-B14F-4D97-AF65-F5344CB8AC3E}">
        <p14:creationId xmlns:p14="http://schemas.microsoft.com/office/powerpoint/2010/main" val="3754000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5AA35B-C1CF-E0EA-6F1E-512966FC6F8F}"/>
              </a:ext>
            </a:extLst>
          </p:cNvPr>
          <p:cNvSpPr>
            <a:spLocks noGrp="1"/>
          </p:cNvSpPr>
          <p:nvPr>
            <p:ph type="title"/>
          </p:nvPr>
        </p:nvSpPr>
        <p:spPr/>
        <p:txBody>
          <a:bodyPr/>
          <a:lstStyle/>
          <a:p>
            <a:r>
              <a:rPr kumimoji="1" lang="ja-JP" altLang="en-US" dirty="0"/>
              <a:t>今後の課題</a:t>
            </a:r>
          </a:p>
        </p:txBody>
      </p:sp>
      <p:sp>
        <p:nvSpPr>
          <p:cNvPr id="3" name="コンテンツ プレースホルダー 2">
            <a:extLst>
              <a:ext uri="{FF2B5EF4-FFF2-40B4-BE49-F238E27FC236}">
                <a16:creationId xmlns:a16="http://schemas.microsoft.com/office/drawing/2014/main" id="{D9E31B38-FF71-CAFE-9F76-64A007EFE52B}"/>
              </a:ext>
            </a:extLst>
          </p:cNvPr>
          <p:cNvSpPr>
            <a:spLocks noGrp="1"/>
          </p:cNvSpPr>
          <p:nvPr>
            <p:ph idx="1"/>
          </p:nvPr>
        </p:nvSpPr>
        <p:spPr>
          <a:xfrm>
            <a:off x="628650" y="1716295"/>
            <a:ext cx="7715250" cy="4640056"/>
          </a:xfrm>
        </p:spPr>
        <p:txBody>
          <a:bodyPr>
            <a:normAutofit/>
          </a:bodyPr>
          <a:lstStyle/>
          <a:p>
            <a:pPr>
              <a:lnSpc>
                <a:spcPct val="120000"/>
              </a:lnSpc>
            </a:pPr>
            <a:r>
              <a:rPr lang="ja-JP" altLang="en-US" sz="2000" b="1" dirty="0">
                <a:latin typeface="+mj-ea"/>
                <a:ea typeface="+mj-ea"/>
              </a:rPr>
              <a:t>系列ラベリングによる評判情報抽出では、抽出した項同士の</a:t>
            </a:r>
            <a:br>
              <a:rPr lang="en-US" altLang="ja-JP" sz="2000" b="1" dirty="0">
                <a:latin typeface="+mj-ea"/>
                <a:ea typeface="+mj-ea"/>
              </a:rPr>
            </a:br>
            <a:r>
              <a:rPr lang="ja-JP" altLang="en-US" sz="2000" b="1" dirty="0">
                <a:latin typeface="+mj-ea"/>
                <a:ea typeface="+mj-ea"/>
              </a:rPr>
              <a:t>対応関係の認識が行えない</a:t>
            </a:r>
            <a:endParaRPr lang="en-US" altLang="ja-JP" sz="2000" b="1" dirty="0">
              <a:latin typeface="+mj-ea"/>
              <a:ea typeface="+mj-ea"/>
            </a:endParaRPr>
          </a:p>
          <a:p>
            <a:pPr marL="1254125" indent="0" defTabSz="808038">
              <a:lnSpc>
                <a:spcPct val="120000"/>
              </a:lnSpc>
              <a:buNone/>
            </a:pPr>
            <a:r>
              <a:rPr lang="ja-JP" altLang="en-US" sz="2000" dirty="0"/>
              <a:t>期待と他の項目の関係性を分析する</a:t>
            </a:r>
            <a:endParaRPr lang="en-US" altLang="ja-JP" sz="2000" dirty="0"/>
          </a:p>
          <a:p>
            <a:pPr marL="1254125" indent="0" defTabSz="808038">
              <a:lnSpc>
                <a:spcPct val="120000"/>
              </a:lnSpc>
              <a:buNone/>
            </a:pPr>
            <a:endParaRPr lang="en-US" altLang="ja-JP" sz="2000" dirty="0"/>
          </a:p>
          <a:p>
            <a:pPr>
              <a:lnSpc>
                <a:spcPct val="120000"/>
              </a:lnSpc>
            </a:pPr>
            <a:r>
              <a:rPr lang="ja-JP" altLang="en-US" sz="2000" b="1" dirty="0">
                <a:latin typeface="+mj-ea"/>
                <a:ea typeface="+mj-ea"/>
              </a:rPr>
              <a:t>文単位での抽出は、文中で期待が記述されている箇所を</a:t>
            </a:r>
            <a:br>
              <a:rPr lang="en-US" altLang="ja-JP" sz="2000" b="1" dirty="0">
                <a:latin typeface="+mj-ea"/>
                <a:ea typeface="+mj-ea"/>
              </a:rPr>
            </a:br>
            <a:r>
              <a:rPr lang="ja-JP" altLang="en-US" sz="2000" b="1" dirty="0">
                <a:latin typeface="+mj-ea"/>
                <a:ea typeface="+mj-ea"/>
              </a:rPr>
              <a:t>人手で判別する手間がかかる</a:t>
            </a:r>
            <a:endParaRPr lang="en-US" altLang="ja-JP" sz="2000" b="1" dirty="0">
              <a:latin typeface="+mj-ea"/>
              <a:ea typeface="+mj-ea"/>
            </a:endParaRPr>
          </a:p>
          <a:p>
            <a:pPr marL="1254125" indent="0">
              <a:lnSpc>
                <a:spcPct val="120000"/>
              </a:lnSpc>
              <a:buNone/>
            </a:pPr>
            <a:r>
              <a:rPr lang="ja-JP" altLang="en-US" sz="2000" dirty="0"/>
              <a:t>どのような形式で抽出した期待を提示するかの</a:t>
            </a:r>
            <a:br>
              <a:rPr lang="en-US" altLang="ja-JP" sz="2000" dirty="0"/>
            </a:br>
            <a:r>
              <a:rPr lang="ja-JP" altLang="en-US" sz="2000" dirty="0"/>
              <a:t>検討が必要</a:t>
            </a:r>
            <a:endParaRPr lang="en-US" altLang="ja-JP" sz="2000" dirty="0"/>
          </a:p>
        </p:txBody>
      </p:sp>
      <p:sp>
        <p:nvSpPr>
          <p:cNvPr id="4" name="スライド番号プレースホルダー 3">
            <a:extLst>
              <a:ext uri="{FF2B5EF4-FFF2-40B4-BE49-F238E27FC236}">
                <a16:creationId xmlns:a16="http://schemas.microsoft.com/office/drawing/2014/main" id="{F97D148B-3EE0-6777-0D8F-1A7962D6D672}"/>
              </a:ext>
            </a:extLst>
          </p:cNvPr>
          <p:cNvSpPr>
            <a:spLocks noGrp="1"/>
          </p:cNvSpPr>
          <p:nvPr>
            <p:ph type="sldNum" sz="quarter" idx="12"/>
          </p:nvPr>
        </p:nvSpPr>
        <p:spPr/>
        <p:txBody>
          <a:bodyPr/>
          <a:lstStyle/>
          <a:p>
            <a:fld id="{CF4A8B29-95AB-4EB3-9726-7CF76E557B81}" type="slidenum">
              <a:rPr kumimoji="1" lang="ja-JP" altLang="en-US" smtClean="0"/>
              <a:t>21</a:t>
            </a:fld>
            <a:endParaRPr kumimoji="1" lang="ja-JP" altLang="en-US"/>
          </a:p>
        </p:txBody>
      </p:sp>
      <p:sp>
        <p:nvSpPr>
          <p:cNvPr id="5" name="ストライプ矢印 16">
            <a:extLst>
              <a:ext uri="{FF2B5EF4-FFF2-40B4-BE49-F238E27FC236}">
                <a16:creationId xmlns:a16="http://schemas.microsoft.com/office/drawing/2014/main" id="{CDAA4C5C-1353-4ACE-46D9-A97C0EFE7460}"/>
              </a:ext>
            </a:extLst>
          </p:cNvPr>
          <p:cNvSpPr/>
          <p:nvPr/>
        </p:nvSpPr>
        <p:spPr>
          <a:xfrm>
            <a:off x="1477925" y="2705842"/>
            <a:ext cx="393406" cy="223284"/>
          </a:xfrm>
          <a:prstGeom prst="strip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トライプ矢印 16">
            <a:extLst>
              <a:ext uri="{FF2B5EF4-FFF2-40B4-BE49-F238E27FC236}">
                <a16:creationId xmlns:a16="http://schemas.microsoft.com/office/drawing/2014/main" id="{92AD0DCC-712A-C1C0-D1E5-3E5B1093A646}"/>
              </a:ext>
            </a:extLst>
          </p:cNvPr>
          <p:cNvSpPr/>
          <p:nvPr/>
        </p:nvSpPr>
        <p:spPr>
          <a:xfrm>
            <a:off x="1477925" y="4531096"/>
            <a:ext cx="393406" cy="223284"/>
          </a:xfrm>
          <a:prstGeom prst="striped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88135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4C96-E8F7-0829-17B9-C229C359AD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60A7F6-B3CA-8F1D-4FB1-46926BF520C3}"/>
              </a:ext>
            </a:extLst>
          </p:cNvPr>
          <p:cNvSpPr>
            <a:spLocks noGrp="1"/>
          </p:cNvSpPr>
          <p:nvPr>
            <p:ph type="title"/>
          </p:nvPr>
        </p:nvSpPr>
        <p:spPr/>
        <p:txBody>
          <a:bodyPr/>
          <a:lstStyle/>
          <a:p>
            <a:r>
              <a:rPr kumimoji="1" lang="ja-JP" altLang="en-US" dirty="0"/>
              <a:t>参考文献</a:t>
            </a:r>
          </a:p>
        </p:txBody>
      </p:sp>
      <p:sp>
        <p:nvSpPr>
          <p:cNvPr id="3" name="コンテンツ プレースホルダー 2">
            <a:extLst>
              <a:ext uri="{FF2B5EF4-FFF2-40B4-BE49-F238E27FC236}">
                <a16:creationId xmlns:a16="http://schemas.microsoft.com/office/drawing/2014/main" id="{8AA47F69-8125-3CD4-6530-72B42F631CC7}"/>
              </a:ext>
            </a:extLst>
          </p:cNvPr>
          <p:cNvSpPr>
            <a:spLocks noGrp="1"/>
          </p:cNvSpPr>
          <p:nvPr>
            <p:ph idx="1"/>
          </p:nvPr>
        </p:nvSpPr>
        <p:spPr/>
        <p:txBody>
          <a:bodyPr>
            <a:normAutofit/>
          </a:bodyPr>
          <a:lstStyle/>
          <a:p>
            <a:pPr marL="0" indent="0">
              <a:lnSpc>
                <a:spcPct val="120000"/>
              </a:lnSpc>
              <a:buNone/>
            </a:pPr>
            <a:r>
              <a:rPr kumimoji="1" lang="en-US" altLang="ja-JP" sz="2000" dirty="0"/>
              <a:t>[1] </a:t>
            </a:r>
            <a:r>
              <a:rPr kumimoji="1" lang="ja-JP" altLang="en-US" sz="2000" dirty="0"/>
              <a:t>宮崎林太郎</a:t>
            </a:r>
            <a:r>
              <a:rPr kumimoji="1" lang="en-US" altLang="ja-JP" sz="2000" dirty="0"/>
              <a:t>, </a:t>
            </a:r>
            <a:r>
              <a:rPr kumimoji="1" lang="ja-JP" altLang="en-US" sz="2000" dirty="0"/>
              <a:t>前田直人</a:t>
            </a:r>
            <a:r>
              <a:rPr kumimoji="1" lang="en-US" altLang="ja-JP" sz="2000" dirty="0"/>
              <a:t>, </a:t>
            </a:r>
            <a:r>
              <a:rPr kumimoji="1" lang="ja-JP" altLang="en-US" sz="2000" dirty="0"/>
              <a:t>森辰則</a:t>
            </a:r>
            <a:r>
              <a:rPr kumimoji="1" lang="en-US" altLang="ja-JP" sz="2000" dirty="0"/>
              <a:t>. </a:t>
            </a:r>
            <a:r>
              <a:rPr kumimoji="1" lang="ja-JP" altLang="en-US" sz="2000" dirty="0"/>
              <a:t>評判情報の注釈付けタグセットの提案</a:t>
            </a:r>
            <a:r>
              <a:rPr kumimoji="1" lang="en-US" altLang="ja-JP" sz="2000" dirty="0"/>
              <a:t>. </a:t>
            </a:r>
            <a:r>
              <a:rPr kumimoji="1" lang="ja-JP" altLang="en-US" sz="2000" dirty="0"/>
              <a:t>言語処理学会第</a:t>
            </a:r>
            <a:r>
              <a:rPr kumimoji="1" lang="en-US" altLang="ja-JP" sz="2000" dirty="0"/>
              <a:t>12</a:t>
            </a:r>
            <a:r>
              <a:rPr kumimoji="1" lang="ja-JP" altLang="en-US" sz="2000" dirty="0"/>
              <a:t>回年次大会発表論文集</a:t>
            </a:r>
            <a:r>
              <a:rPr kumimoji="1" lang="en-US" altLang="ja-JP" sz="2000" dirty="0"/>
              <a:t>, pp.240-243, 2006.</a:t>
            </a:r>
            <a:endParaRPr lang="en-US" altLang="ja-JP" sz="2000" dirty="0"/>
          </a:p>
          <a:p>
            <a:pPr marL="0" indent="0">
              <a:lnSpc>
                <a:spcPct val="120000"/>
              </a:lnSpc>
              <a:buNone/>
            </a:pPr>
            <a:r>
              <a:rPr lang="en-US" altLang="ja-JP" sz="2000" dirty="0"/>
              <a:t>[2]</a:t>
            </a:r>
            <a:r>
              <a:rPr lang="ja-JP" altLang="en-US" sz="2000" dirty="0"/>
              <a:t> 伊藤俊介</a:t>
            </a:r>
            <a:r>
              <a:rPr lang="en-US" altLang="ja-JP" sz="2000" dirty="0"/>
              <a:t>, </a:t>
            </a:r>
            <a:r>
              <a:rPr lang="ja-JP" altLang="en-US" sz="2000" dirty="0"/>
              <a:t>レビュアーの評価基準表現情報に基づくレビューテキストからの不満情報抽出手法の検討</a:t>
            </a:r>
            <a:r>
              <a:rPr lang="en-US" altLang="ja-JP" sz="2000" dirty="0"/>
              <a:t>. </a:t>
            </a:r>
            <a:r>
              <a:rPr lang="ja-JP" altLang="en-US" sz="2000" dirty="0"/>
              <a:t>横浜国立大学大学院環境情報学府</a:t>
            </a:r>
            <a:r>
              <a:rPr lang="en-US" altLang="ja-JP" sz="2000" dirty="0"/>
              <a:t>, </a:t>
            </a:r>
            <a:r>
              <a:rPr lang="ja-JP" altLang="en-US" sz="2000" dirty="0"/>
              <a:t>修士論文</a:t>
            </a:r>
            <a:r>
              <a:rPr lang="en-US" altLang="ja-JP" sz="2000" dirty="0"/>
              <a:t>, 2020</a:t>
            </a:r>
          </a:p>
          <a:p>
            <a:pPr>
              <a:lnSpc>
                <a:spcPct val="120000"/>
              </a:lnSpc>
            </a:pPr>
            <a:endParaRPr lang="en-US" altLang="ja-JP" sz="2000" dirty="0"/>
          </a:p>
          <a:p>
            <a:pPr>
              <a:lnSpc>
                <a:spcPct val="120000"/>
              </a:lnSpc>
            </a:pPr>
            <a:endParaRPr lang="en-US" altLang="ja-JP" sz="2000" dirty="0"/>
          </a:p>
        </p:txBody>
      </p:sp>
      <p:sp>
        <p:nvSpPr>
          <p:cNvPr id="4" name="スライド番号プレースホルダー 3">
            <a:extLst>
              <a:ext uri="{FF2B5EF4-FFF2-40B4-BE49-F238E27FC236}">
                <a16:creationId xmlns:a16="http://schemas.microsoft.com/office/drawing/2014/main" id="{2E2BC809-6B09-315C-DA60-10BDB5C5B41B}"/>
              </a:ext>
            </a:extLst>
          </p:cNvPr>
          <p:cNvSpPr>
            <a:spLocks noGrp="1"/>
          </p:cNvSpPr>
          <p:nvPr>
            <p:ph type="sldNum" sz="quarter" idx="12"/>
          </p:nvPr>
        </p:nvSpPr>
        <p:spPr/>
        <p:txBody>
          <a:bodyPr/>
          <a:lstStyle/>
          <a:p>
            <a:fld id="{CF4A8B29-95AB-4EB3-9726-7CF76E557B81}" type="slidenum">
              <a:rPr kumimoji="1" lang="ja-JP" altLang="en-US" smtClean="0"/>
              <a:t>22</a:t>
            </a:fld>
            <a:endParaRPr kumimoji="1" lang="ja-JP" altLang="en-US"/>
          </a:p>
        </p:txBody>
      </p:sp>
    </p:spTree>
    <p:extLst>
      <p:ext uri="{BB962C8B-B14F-4D97-AF65-F5344CB8AC3E}">
        <p14:creationId xmlns:p14="http://schemas.microsoft.com/office/powerpoint/2010/main" val="2721507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A98171-5E1F-0E7D-BE79-9F2D07D909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EF116D-0C24-B697-C2A2-5FB3B42A0E25}"/>
              </a:ext>
            </a:extLst>
          </p:cNvPr>
          <p:cNvSpPr>
            <a:spLocks noGrp="1"/>
          </p:cNvSpPr>
          <p:nvPr>
            <p:ph type="title"/>
          </p:nvPr>
        </p:nvSpPr>
        <p:spPr/>
        <p:txBody>
          <a:bodyPr/>
          <a:lstStyle/>
          <a:p>
            <a:r>
              <a:rPr kumimoji="1" lang="ja-JP" altLang="en-US" dirty="0"/>
              <a:t>期待の現れ方</a:t>
            </a:r>
          </a:p>
        </p:txBody>
      </p:sp>
      <p:sp>
        <p:nvSpPr>
          <p:cNvPr id="3" name="コンテンツ プレースホルダー 2">
            <a:extLst>
              <a:ext uri="{FF2B5EF4-FFF2-40B4-BE49-F238E27FC236}">
                <a16:creationId xmlns:a16="http://schemas.microsoft.com/office/drawing/2014/main" id="{D92B6127-DF8A-9B55-257A-287430B76417}"/>
              </a:ext>
            </a:extLst>
          </p:cNvPr>
          <p:cNvSpPr>
            <a:spLocks noGrp="1"/>
          </p:cNvSpPr>
          <p:nvPr>
            <p:ph idx="1"/>
          </p:nvPr>
        </p:nvSpPr>
        <p:spPr>
          <a:xfrm>
            <a:off x="592620" y="1807735"/>
            <a:ext cx="7886699" cy="3089385"/>
          </a:xfrm>
        </p:spPr>
        <p:txBody>
          <a:bodyPr>
            <a:normAutofit/>
          </a:bodyPr>
          <a:lstStyle/>
          <a:p>
            <a:pPr marL="0" indent="0">
              <a:buNone/>
            </a:pPr>
            <a:endParaRPr kumimoji="1" lang="en-US" altLang="ja-JP" sz="2400" dirty="0"/>
          </a:p>
          <a:p>
            <a:pPr marL="0" indent="0">
              <a:buNone/>
            </a:pPr>
            <a:endParaRPr lang="en-US" altLang="ja-JP" sz="2000" dirty="0"/>
          </a:p>
        </p:txBody>
      </p:sp>
      <p:sp>
        <p:nvSpPr>
          <p:cNvPr id="4" name="スライド番号プレースホルダー 3">
            <a:extLst>
              <a:ext uri="{FF2B5EF4-FFF2-40B4-BE49-F238E27FC236}">
                <a16:creationId xmlns:a16="http://schemas.microsoft.com/office/drawing/2014/main" id="{ADD72AC5-E042-C7FD-8FC4-7AFCC94D7A79}"/>
              </a:ext>
            </a:extLst>
          </p:cNvPr>
          <p:cNvSpPr>
            <a:spLocks noGrp="1"/>
          </p:cNvSpPr>
          <p:nvPr>
            <p:ph type="sldNum" sz="quarter" idx="12"/>
          </p:nvPr>
        </p:nvSpPr>
        <p:spPr/>
        <p:txBody>
          <a:bodyPr/>
          <a:lstStyle/>
          <a:p>
            <a:fld id="{CF4A8B29-95AB-4EB3-9726-7CF76E557B81}" type="slidenum">
              <a:rPr kumimoji="1" lang="ja-JP" altLang="en-US" smtClean="0"/>
              <a:t>23</a:t>
            </a:fld>
            <a:endParaRPr kumimoji="1" lang="ja-JP" altLang="en-US"/>
          </a:p>
        </p:txBody>
      </p:sp>
      <p:grpSp>
        <p:nvGrpSpPr>
          <p:cNvPr id="5" name="グループ化 4">
            <a:extLst>
              <a:ext uri="{FF2B5EF4-FFF2-40B4-BE49-F238E27FC236}">
                <a16:creationId xmlns:a16="http://schemas.microsoft.com/office/drawing/2014/main" id="{A32E6B45-4D4C-9FD3-305A-4DBCCD650184}"/>
              </a:ext>
            </a:extLst>
          </p:cNvPr>
          <p:cNvGrpSpPr/>
          <p:nvPr/>
        </p:nvGrpSpPr>
        <p:grpSpPr>
          <a:xfrm>
            <a:off x="694788" y="1904592"/>
            <a:ext cx="6569612" cy="641872"/>
            <a:chOff x="817393" y="2633508"/>
            <a:chExt cx="5481808" cy="641872"/>
          </a:xfrm>
        </p:grpSpPr>
        <p:sp>
          <p:nvSpPr>
            <p:cNvPr id="6" name="角丸四角形 15">
              <a:extLst>
                <a:ext uri="{FF2B5EF4-FFF2-40B4-BE49-F238E27FC236}">
                  <a16:creationId xmlns:a16="http://schemas.microsoft.com/office/drawing/2014/main" id="{19F2280B-04BA-57F7-810C-2CC0938FFB0F}"/>
                </a:ext>
              </a:extLst>
            </p:cNvPr>
            <p:cNvSpPr/>
            <p:nvPr/>
          </p:nvSpPr>
          <p:spPr>
            <a:xfrm>
              <a:off x="817393" y="2633508"/>
              <a:ext cx="5481808" cy="64187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lang="ja-JP" altLang="en-US" b="1" dirty="0">
                  <a:solidFill>
                    <a:schemeClr val="tx1"/>
                  </a:solidFill>
                  <a:latin typeface="+mj-ea"/>
                  <a:ea typeface="+mj-ea"/>
                </a:rPr>
                <a:t>コードがもう少し長ければ</a:t>
              </a:r>
              <a:r>
                <a:rPr lang="ja-JP" altLang="en-US" dirty="0">
                  <a:solidFill>
                    <a:schemeClr val="tx1"/>
                  </a:solidFill>
                </a:rPr>
                <a:t>良いのですが、吸引力は抜群です。</a:t>
              </a:r>
            </a:p>
          </p:txBody>
        </p:sp>
        <p:cxnSp>
          <p:nvCxnSpPr>
            <p:cNvPr id="7" name="直線コネクタ 6">
              <a:extLst>
                <a:ext uri="{FF2B5EF4-FFF2-40B4-BE49-F238E27FC236}">
                  <a16:creationId xmlns:a16="http://schemas.microsoft.com/office/drawing/2014/main" id="{4FD6AF08-48AF-E1E7-D36F-D80B17992EC7}"/>
                </a:ext>
              </a:extLst>
            </p:cNvPr>
            <p:cNvCxnSpPr>
              <a:cxnSpLocks/>
            </p:cNvCxnSpPr>
            <p:nvPr/>
          </p:nvCxnSpPr>
          <p:spPr>
            <a:xfrm>
              <a:off x="913738" y="3104858"/>
              <a:ext cx="2308059" cy="0"/>
            </a:xfrm>
            <a:prstGeom prst="line">
              <a:avLst/>
            </a:prstGeom>
            <a:noFill/>
            <a:ln w="19050" cap="flat" cmpd="sng" algn="ctr">
              <a:solidFill>
                <a:srgbClr val="0070C0"/>
              </a:solidFill>
              <a:prstDash val="solid"/>
            </a:ln>
            <a:effectLst/>
          </p:spPr>
        </p:cxnSp>
      </p:grpSp>
      <p:sp>
        <p:nvSpPr>
          <p:cNvPr id="8" name="テキスト ボックス 7">
            <a:extLst>
              <a:ext uri="{FF2B5EF4-FFF2-40B4-BE49-F238E27FC236}">
                <a16:creationId xmlns:a16="http://schemas.microsoft.com/office/drawing/2014/main" id="{A686B308-9673-EC50-F200-2595DDBEAE44}"/>
              </a:ext>
            </a:extLst>
          </p:cNvPr>
          <p:cNvSpPr txBox="1"/>
          <p:nvPr/>
        </p:nvSpPr>
        <p:spPr>
          <a:xfrm>
            <a:off x="694788" y="1318893"/>
            <a:ext cx="6864252" cy="400110"/>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dirty="0"/>
              <a:t>明示的に現れるもの（トークン単位での抽出が可能）</a:t>
            </a:r>
          </a:p>
        </p:txBody>
      </p:sp>
      <p:sp>
        <p:nvSpPr>
          <p:cNvPr id="9" name="テキスト ボックス 8">
            <a:extLst>
              <a:ext uri="{FF2B5EF4-FFF2-40B4-BE49-F238E27FC236}">
                <a16:creationId xmlns:a16="http://schemas.microsoft.com/office/drawing/2014/main" id="{C3E3D0A4-6D87-CAF9-FC15-7A15449E9FAC}"/>
              </a:ext>
            </a:extLst>
          </p:cNvPr>
          <p:cNvSpPr txBox="1"/>
          <p:nvPr/>
        </p:nvSpPr>
        <p:spPr>
          <a:xfrm>
            <a:off x="694788" y="3266337"/>
            <a:ext cx="7960848" cy="400110"/>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dirty="0"/>
              <a:t>明示的に現れないもの（トークン単位での抽出は行えない）</a:t>
            </a:r>
          </a:p>
        </p:txBody>
      </p:sp>
      <p:grpSp>
        <p:nvGrpSpPr>
          <p:cNvPr id="10" name="グループ化 9">
            <a:extLst>
              <a:ext uri="{FF2B5EF4-FFF2-40B4-BE49-F238E27FC236}">
                <a16:creationId xmlns:a16="http://schemas.microsoft.com/office/drawing/2014/main" id="{F3B32D15-E220-99BE-DFEF-D661C3A1B698}"/>
              </a:ext>
            </a:extLst>
          </p:cNvPr>
          <p:cNvGrpSpPr/>
          <p:nvPr/>
        </p:nvGrpSpPr>
        <p:grpSpPr>
          <a:xfrm>
            <a:off x="694788" y="3810104"/>
            <a:ext cx="4161692" cy="1159314"/>
            <a:chOff x="817394" y="4308565"/>
            <a:chExt cx="4161692" cy="1159314"/>
          </a:xfrm>
        </p:grpSpPr>
        <p:grpSp>
          <p:nvGrpSpPr>
            <p:cNvPr id="11" name="グループ化 10">
              <a:extLst>
                <a:ext uri="{FF2B5EF4-FFF2-40B4-BE49-F238E27FC236}">
                  <a16:creationId xmlns:a16="http://schemas.microsoft.com/office/drawing/2014/main" id="{7584A4F4-8042-70EA-DD61-062E31C875EE}"/>
                </a:ext>
              </a:extLst>
            </p:cNvPr>
            <p:cNvGrpSpPr/>
            <p:nvPr/>
          </p:nvGrpSpPr>
          <p:grpSpPr>
            <a:xfrm>
              <a:off x="817394" y="4308565"/>
              <a:ext cx="4161692" cy="1159314"/>
              <a:chOff x="817394" y="4335830"/>
              <a:chExt cx="4161692" cy="1159314"/>
            </a:xfrm>
          </p:grpSpPr>
          <p:sp>
            <p:nvSpPr>
              <p:cNvPr id="13" name="角丸四角形 15">
                <a:extLst>
                  <a:ext uri="{FF2B5EF4-FFF2-40B4-BE49-F238E27FC236}">
                    <a16:creationId xmlns:a16="http://schemas.microsoft.com/office/drawing/2014/main" id="{592F8423-87C7-A750-FEB6-7B432154AB8A}"/>
                  </a:ext>
                </a:extLst>
              </p:cNvPr>
              <p:cNvSpPr/>
              <p:nvPr/>
            </p:nvSpPr>
            <p:spPr>
              <a:xfrm>
                <a:off x="817394" y="4335830"/>
                <a:ext cx="4161692" cy="64187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ja-JP" altLang="en-US" dirty="0">
                    <a:solidFill>
                      <a:schemeClr val="tx1"/>
                    </a:solidFill>
                  </a:rPr>
                  <a:t>吸引力が足りていなかったのが残念。</a:t>
                </a:r>
              </a:p>
            </p:txBody>
          </p:sp>
          <p:sp>
            <p:nvSpPr>
              <p:cNvPr id="14" name="テキスト ボックス 13">
                <a:extLst>
                  <a:ext uri="{FF2B5EF4-FFF2-40B4-BE49-F238E27FC236}">
                    <a16:creationId xmlns:a16="http://schemas.microsoft.com/office/drawing/2014/main" id="{11505AE3-B1B3-4935-9085-EDB4A9BEB701}"/>
                  </a:ext>
                </a:extLst>
              </p:cNvPr>
              <p:cNvSpPr txBox="1"/>
              <p:nvPr/>
            </p:nvSpPr>
            <p:spPr>
              <a:xfrm>
                <a:off x="1689981" y="5111892"/>
                <a:ext cx="2537265" cy="383252"/>
              </a:xfrm>
              <a:prstGeom prst="rect">
                <a:avLst/>
              </a:prstGeom>
              <a:noFill/>
            </p:spPr>
            <p:txBody>
              <a:bodyPr wrap="square" rtlCol="0">
                <a:spAutoFit/>
              </a:bodyPr>
              <a:lstStyle/>
              <a:p>
                <a:r>
                  <a:rPr kumimoji="1" lang="ja-JP" altLang="en-US" b="1" dirty="0">
                    <a:latin typeface="+mj-ea"/>
                    <a:ea typeface="+mj-ea"/>
                  </a:rPr>
                  <a:t>吸引力がもっと欲しい</a:t>
                </a:r>
              </a:p>
            </p:txBody>
          </p:sp>
          <p:sp>
            <p:nvSpPr>
              <p:cNvPr id="15" name="矢印: 上向き折線 14">
                <a:extLst>
                  <a:ext uri="{FF2B5EF4-FFF2-40B4-BE49-F238E27FC236}">
                    <a16:creationId xmlns:a16="http://schemas.microsoft.com/office/drawing/2014/main" id="{B226D73B-C7EA-B965-E6F9-A91FEDDBB273}"/>
                  </a:ext>
                </a:extLst>
              </p:cNvPr>
              <p:cNvSpPr/>
              <p:nvPr/>
            </p:nvSpPr>
            <p:spPr>
              <a:xfrm rot="5400000">
                <a:off x="1267355" y="5077904"/>
                <a:ext cx="383251" cy="373878"/>
              </a:xfrm>
              <a:prstGeom prst="ben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2" name="直線コネクタ 11">
              <a:extLst>
                <a:ext uri="{FF2B5EF4-FFF2-40B4-BE49-F238E27FC236}">
                  <a16:creationId xmlns:a16="http://schemas.microsoft.com/office/drawing/2014/main" id="{0F197D55-E2E3-3C47-6732-173B9D179960}"/>
                </a:ext>
              </a:extLst>
            </p:cNvPr>
            <p:cNvCxnSpPr>
              <a:cxnSpLocks/>
            </p:cNvCxnSpPr>
            <p:nvPr/>
          </p:nvCxnSpPr>
          <p:spPr>
            <a:xfrm>
              <a:off x="1768821" y="5455015"/>
              <a:ext cx="2285705" cy="0"/>
            </a:xfrm>
            <a:prstGeom prst="line">
              <a:avLst/>
            </a:prstGeom>
            <a:noFill/>
            <a:ln w="19050" cap="flat" cmpd="sng" algn="ctr">
              <a:solidFill>
                <a:srgbClr val="0070C0"/>
              </a:solidFill>
              <a:prstDash val="solid"/>
            </a:ln>
            <a:effectLst/>
          </p:spPr>
        </p:cxnSp>
      </p:grpSp>
      <p:sp>
        <p:nvSpPr>
          <p:cNvPr id="17" name="テキスト ボックス 16">
            <a:extLst>
              <a:ext uri="{FF2B5EF4-FFF2-40B4-BE49-F238E27FC236}">
                <a16:creationId xmlns:a16="http://schemas.microsoft.com/office/drawing/2014/main" id="{44B4F1A7-AF0B-E18E-D444-BC2BEC616E2D}"/>
              </a:ext>
            </a:extLst>
          </p:cNvPr>
          <p:cNvSpPr txBox="1"/>
          <p:nvPr/>
        </p:nvSpPr>
        <p:spPr>
          <a:xfrm>
            <a:off x="870529" y="5473821"/>
            <a:ext cx="7330879" cy="735394"/>
          </a:xfrm>
          <a:prstGeom prst="rect">
            <a:avLst/>
          </a:prstGeom>
          <a:noFill/>
        </p:spPr>
        <p:txBody>
          <a:bodyPr wrap="square" rtlCol="0">
            <a:spAutoFit/>
          </a:bodyPr>
          <a:lstStyle/>
          <a:p>
            <a:pPr>
              <a:lnSpc>
                <a:spcPct val="120000"/>
              </a:lnSpc>
            </a:pPr>
            <a:r>
              <a:rPr lang="ja-JP" altLang="en-US" b="0" i="0" dirty="0">
                <a:solidFill>
                  <a:srgbClr val="1D1C1D"/>
                </a:solidFill>
                <a:effectLst/>
                <a:latin typeface="NotoSansJP"/>
              </a:rPr>
              <a:t>「</a:t>
            </a:r>
            <a:r>
              <a:rPr lang="en-US" altLang="ja-JP" b="0" i="0" dirty="0">
                <a:solidFill>
                  <a:srgbClr val="1D1C1D"/>
                </a:solidFill>
                <a:effectLst/>
                <a:latin typeface="NotoSansJP"/>
              </a:rPr>
              <a:t>A</a:t>
            </a:r>
            <a:r>
              <a:rPr lang="ja-JP" altLang="en-US" b="0" i="0" dirty="0">
                <a:solidFill>
                  <a:srgbClr val="1D1C1D"/>
                </a:solidFill>
                <a:effectLst/>
                <a:latin typeface="NotoSansJP"/>
              </a:rPr>
              <a:t>なのが残念」→「</a:t>
            </a:r>
            <a:r>
              <a:rPr lang="en-US" altLang="ja-JP" b="0" i="0" dirty="0">
                <a:solidFill>
                  <a:srgbClr val="1D1C1D"/>
                </a:solidFill>
                <a:effectLst/>
                <a:latin typeface="NotoSansJP"/>
              </a:rPr>
              <a:t>B</a:t>
            </a:r>
            <a:r>
              <a:rPr lang="ja-JP" altLang="en-US" b="0" i="0" dirty="0">
                <a:solidFill>
                  <a:srgbClr val="1D1C1D"/>
                </a:solidFill>
                <a:effectLst/>
                <a:latin typeface="NotoSansJP"/>
              </a:rPr>
              <a:t>だったら良かった」</a:t>
            </a:r>
            <a:r>
              <a:rPr lang="ja-JP" altLang="en-US" b="1" i="0" dirty="0">
                <a:solidFill>
                  <a:srgbClr val="1D1C1D"/>
                </a:solidFill>
                <a:effectLst/>
                <a:latin typeface="+mj-ea"/>
                <a:ea typeface="+mj-ea"/>
              </a:rPr>
              <a:t>（</a:t>
            </a:r>
            <a:r>
              <a:rPr lang="en-US" altLang="ja-JP" b="0" i="0" dirty="0">
                <a:solidFill>
                  <a:srgbClr val="1D1C1D"/>
                </a:solidFill>
                <a:effectLst/>
                <a:latin typeface="NotoSansJP"/>
              </a:rPr>
              <a:t>A</a:t>
            </a:r>
            <a:r>
              <a:rPr lang="ja-JP" altLang="en-US" b="0" i="0" dirty="0">
                <a:solidFill>
                  <a:srgbClr val="1D1C1D"/>
                </a:solidFill>
                <a:effectLst/>
                <a:latin typeface="NotoSansJP"/>
              </a:rPr>
              <a:t>と</a:t>
            </a:r>
            <a:r>
              <a:rPr lang="en-US" altLang="ja-JP" b="0" i="0" dirty="0">
                <a:solidFill>
                  <a:srgbClr val="1D1C1D"/>
                </a:solidFill>
                <a:effectLst/>
                <a:latin typeface="NotoSansJP"/>
              </a:rPr>
              <a:t>B</a:t>
            </a:r>
            <a:r>
              <a:rPr lang="ja-JP" altLang="en-US" b="0" i="0" dirty="0">
                <a:solidFill>
                  <a:srgbClr val="1D1C1D"/>
                </a:solidFill>
                <a:effectLst/>
                <a:latin typeface="NotoSansJP"/>
              </a:rPr>
              <a:t>は対比関係） </a:t>
            </a:r>
            <a:br>
              <a:rPr lang="ja-JP" altLang="en-US" dirty="0"/>
            </a:br>
            <a:r>
              <a:rPr lang="ja-JP" altLang="en-US" b="0" i="0" dirty="0">
                <a:solidFill>
                  <a:srgbClr val="1D1C1D"/>
                </a:solidFill>
                <a:effectLst/>
                <a:latin typeface="NotoSansJP"/>
              </a:rPr>
              <a:t>という推論で得られるものが多い</a:t>
            </a:r>
            <a:endParaRPr kumimoji="1" lang="ja-JP" altLang="en-US" dirty="0"/>
          </a:p>
        </p:txBody>
      </p:sp>
    </p:spTree>
    <p:extLst>
      <p:ext uri="{BB962C8B-B14F-4D97-AF65-F5344CB8AC3E}">
        <p14:creationId xmlns:p14="http://schemas.microsoft.com/office/powerpoint/2010/main" val="3637462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A04A49B-DA84-BEF1-6A65-7DA1018ADE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C8F7FD-D3E1-4925-1AB3-51AED96FFA18}"/>
              </a:ext>
            </a:extLst>
          </p:cNvPr>
          <p:cNvSpPr>
            <a:spLocks noGrp="1"/>
          </p:cNvSpPr>
          <p:nvPr>
            <p:ph type="title"/>
          </p:nvPr>
        </p:nvSpPr>
        <p:spPr/>
        <p:txBody>
          <a:bodyPr/>
          <a:lstStyle/>
          <a:p>
            <a:r>
              <a:rPr kumimoji="1" lang="ja-JP" altLang="en-US" dirty="0"/>
              <a:t>系列ラベリングの評価指標</a:t>
            </a:r>
          </a:p>
        </p:txBody>
      </p:sp>
      <p:sp>
        <p:nvSpPr>
          <p:cNvPr id="4" name="スライド番号プレースホルダー 3">
            <a:extLst>
              <a:ext uri="{FF2B5EF4-FFF2-40B4-BE49-F238E27FC236}">
                <a16:creationId xmlns:a16="http://schemas.microsoft.com/office/drawing/2014/main" id="{ADAC2802-1855-D585-58E4-357605B666CC}"/>
              </a:ext>
            </a:extLst>
          </p:cNvPr>
          <p:cNvSpPr>
            <a:spLocks noGrp="1"/>
          </p:cNvSpPr>
          <p:nvPr>
            <p:ph type="sldNum" sz="quarter" idx="12"/>
          </p:nvPr>
        </p:nvSpPr>
        <p:spPr/>
        <p:txBody>
          <a:bodyPr/>
          <a:lstStyle/>
          <a:p>
            <a:fld id="{CF4A8B29-95AB-4EB3-9726-7CF76E557B81}" type="slidenum">
              <a:rPr kumimoji="1" lang="ja-JP" altLang="en-US" smtClean="0"/>
              <a:t>24</a:t>
            </a:fld>
            <a:endParaRPr kumimoji="1" lang="ja-JP" altLang="en-US"/>
          </a:p>
        </p:txBody>
      </p:sp>
      <p:grpSp>
        <p:nvGrpSpPr>
          <p:cNvPr id="59" name="グループ化 58">
            <a:extLst>
              <a:ext uri="{FF2B5EF4-FFF2-40B4-BE49-F238E27FC236}">
                <a16:creationId xmlns:a16="http://schemas.microsoft.com/office/drawing/2014/main" id="{48F9C80F-4346-F5B9-32B8-B0D0C504EE0A}"/>
              </a:ext>
            </a:extLst>
          </p:cNvPr>
          <p:cNvGrpSpPr/>
          <p:nvPr/>
        </p:nvGrpSpPr>
        <p:grpSpPr>
          <a:xfrm>
            <a:off x="122749" y="2671601"/>
            <a:ext cx="4224314" cy="2604528"/>
            <a:chOff x="953380" y="1653733"/>
            <a:chExt cx="4224314" cy="2604528"/>
          </a:xfrm>
        </p:grpSpPr>
        <p:sp>
          <p:nvSpPr>
            <p:cNvPr id="12" name="角丸四角形 15">
              <a:extLst>
                <a:ext uri="{FF2B5EF4-FFF2-40B4-BE49-F238E27FC236}">
                  <a16:creationId xmlns:a16="http://schemas.microsoft.com/office/drawing/2014/main" id="{AB08C016-B75E-1661-E66B-6BFC569C68BE}"/>
                </a:ext>
              </a:extLst>
            </p:cNvPr>
            <p:cNvSpPr/>
            <p:nvPr/>
          </p:nvSpPr>
          <p:spPr>
            <a:xfrm>
              <a:off x="953382" y="1653733"/>
              <a:ext cx="4224312" cy="2462144"/>
            </a:xfrm>
            <a:prstGeom prst="roundRect">
              <a:avLst>
                <a:gd name="adj" fmla="val 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endParaRPr lang="en-US" altLang="ja-JP" b="1" dirty="0">
                <a:solidFill>
                  <a:srgbClr val="FF0000"/>
                </a:solidFill>
                <a:latin typeface="+mj-ea"/>
                <a:ea typeface="+mj-ea"/>
              </a:endParaRPr>
            </a:p>
          </p:txBody>
        </p:sp>
        <p:sp>
          <p:nvSpPr>
            <p:cNvPr id="8" name="円: 塗りつぶしなし 7">
              <a:extLst>
                <a:ext uri="{FF2B5EF4-FFF2-40B4-BE49-F238E27FC236}">
                  <a16:creationId xmlns:a16="http://schemas.microsoft.com/office/drawing/2014/main" id="{E03E4895-3782-39DE-AFA0-4FA629FED6C5}"/>
                </a:ext>
              </a:extLst>
            </p:cNvPr>
            <p:cNvSpPr/>
            <p:nvPr/>
          </p:nvSpPr>
          <p:spPr>
            <a:xfrm>
              <a:off x="4564010" y="2365938"/>
              <a:ext cx="324000" cy="324000"/>
            </a:xfrm>
            <a:prstGeom prst="donut">
              <a:avLst>
                <a:gd name="adj" fmla="val 1065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乗算記号 8">
              <a:extLst>
                <a:ext uri="{FF2B5EF4-FFF2-40B4-BE49-F238E27FC236}">
                  <a16:creationId xmlns:a16="http://schemas.microsoft.com/office/drawing/2014/main" id="{01813B94-394F-3D34-1033-EF04FD61F521}"/>
                </a:ext>
              </a:extLst>
            </p:cNvPr>
            <p:cNvSpPr/>
            <p:nvPr/>
          </p:nvSpPr>
          <p:spPr>
            <a:xfrm>
              <a:off x="4498831" y="3539349"/>
              <a:ext cx="468000" cy="468000"/>
            </a:xfrm>
            <a:prstGeom prst="mathMultiply">
              <a:avLst>
                <a:gd name="adj1" fmla="val 8641"/>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17">
              <a:extLst>
                <a:ext uri="{FF2B5EF4-FFF2-40B4-BE49-F238E27FC236}">
                  <a16:creationId xmlns:a16="http://schemas.microsoft.com/office/drawing/2014/main" id="{A24A2253-0600-3DC6-394A-5480F5FA056B}"/>
                </a:ext>
              </a:extLst>
            </p:cNvPr>
            <p:cNvSpPr/>
            <p:nvPr/>
          </p:nvSpPr>
          <p:spPr>
            <a:xfrm>
              <a:off x="4074747" y="2437274"/>
              <a:ext cx="252000" cy="180000"/>
            </a:xfrm>
            <a:prstGeom prst="rightArrow">
              <a:avLst>
                <a:gd name="adj1" fmla="val 50000"/>
                <a:gd name="adj2" fmla="val 536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C4E4B2D9-5415-6787-060D-20510E6E0182}"/>
                </a:ext>
              </a:extLst>
            </p:cNvPr>
            <p:cNvCxnSpPr>
              <a:cxnSpLocks/>
            </p:cNvCxnSpPr>
            <p:nvPr/>
          </p:nvCxnSpPr>
          <p:spPr>
            <a:xfrm flipV="1">
              <a:off x="953380" y="2237861"/>
              <a:ext cx="4224311" cy="15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4" name="グループ化 23">
              <a:extLst>
                <a:ext uri="{FF2B5EF4-FFF2-40B4-BE49-F238E27FC236}">
                  <a16:creationId xmlns:a16="http://schemas.microsoft.com/office/drawing/2014/main" id="{7C123201-1DF7-F050-F0C5-488A52BF2E0C}"/>
                </a:ext>
              </a:extLst>
            </p:cNvPr>
            <p:cNvGrpSpPr/>
            <p:nvPr/>
          </p:nvGrpSpPr>
          <p:grpSpPr>
            <a:xfrm>
              <a:off x="1080870" y="1786450"/>
              <a:ext cx="2885441" cy="574468"/>
              <a:chOff x="5943600" y="4360429"/>
              <a:chExt cx="2885440" cy="646331"/>
            </a:xfrm>
          </p:grpSpPr>
          <p:sp>
            <p:nvSpPr>
              <p:cNvPr id="22" name="テキスト ボックス 21">
                <a:extLst>
                  <a:ext uri="{FF2B5EF4-FFF2-40B4-BE49-F238E27FC236}">
                    <a16:creationId xmlns:a16="http://schemas.microsoft.com/office/drawing/2014/main" id="{36C892AD-C4C8-2ABC-2A39-E2728CF65B47}"/>
                  </a:ext>
                </a:extLst>
              </p:cNvPr>
              <p:cNvSpPr txBox="1"/>
              <p:nvPr/>
            </p:nvSpPr>
            <p:spPr>
              <a:xfrm>
                <a:off x="5943600" y="4360429"/>
                <a:ext cx="2885440" cy="646331"/>
              </a:xfrm>
              <a:prstGeom prst="rect">
                <a:avLst/>
              </a:prstGeom>
              <a:noFill/>
            </p:spPr>
            <p:txBody>
              <a:bodyPr wrap="square" rtlCol="0">
                <a:spAutoFit/>
              </a:bodyPr>
              <a:lstStyle/>
              <a:p>
                <a:r>
                  <a:rPr lang="ja-JP" altLang="en-US" dirty="0">
                    <a:solidFill>
                      <a:schemeClr val="tx1"/>
                    </a:solidFill>
                    <a:latin typeface="+mn-ea"/>
                  </a:rPr>
                  <a:t>正解  ：「大満足です。」</a:t>
                </a:r>
                <a:endParaRPr lang="en-US" altLang="ja-JP" dirty="0">
                  <a:solidFill>
                    <a:schemeClr val="tx1"/>
                  </a:solidFill>
                  <a:latin typeface="+mn-ea"/>
                </a:endParaRPr>
              </a:p>
              <a:p>
                <a:endParaRPr kumimoji="1" lang="ja-JP" altLang="en-US" dirty="0"/>
              </a:p>
            </p:txBody>
          </p:sp>
          <p:cxnSp>
            <p:nvCxnSpPr>
              <p:cNvPr id="23" name="直線コネクタ 22">
                <a:extLst>
                  <a:ext uri="{FF2B5EF4-FFF2-40B4-BE49-F238E27FC236}">
                    <a16:creationId xmlns:a16="http://schemas.microsoft.com/office/drawing/2014/main" id="{5142816C-83CD-DBC8-4FB9-E6B2F7928E1B}"/>
                  </a:ext>
                </a:extLst>
              </p:cNvPr>
              <p:cNvCxnSpPr>
                <a:cxnSpLocks/>
              </p:cNvCxnSpPr>
              <p:nvPr/>
            </p:nvCxnSpPr>
            <p:spPr>
              <a:xfrm>
                <a:off x="7077610" y="4716297"/>
                <a:ext cx="690880" cy="0"/>
              </a:xfrm>
              <a:prstGeom prst="line">
                <a:avLst/>
              </a:prstGeom>
              <a:noFill/>
              <a:ln w="28575" cap="flat" cmpd="sng" algn="ctr">
                <a:solidFill>
                  <a:srgbClr val="0070C0"/>
                </a:solidFill>
                <a:prstDash val="solid"/>
              </a:ln>
              <a:effectLst/>
            </p:spPr>
          </p:cxnSp>
        </p:grpSp>
        <p:grpSp>
          <p:nvGrpSpPr>
            <p:cNvPr id="38" name="グループ化 37">
              <a:extLst>
                <a:ext uri="{FF2B5EF4-FFF2-40B4-BE49-F238E27FC236}">
                  <a16:creationId xmlns:a16="http://schemas.microsoft.com/office/drawing/2014/main" id="{EA0D0913-8228-217F-066D-AC9AD128BA10}"/>
                </a:ext>
              </a:extLst>
            </p:cNvPr>
            <p:cNvGrpSpPr/>
            <p:nvPr/>
          </p:nvGrpSpPr>
          <p:grpSpPr>
            <a:xfrm>
              <a:off x="1080869" y="2360916"/>
              <a:ext cx="2885441" cy="646331"/>
              <a:chOff x="5943600" y="4360429"/>
              <a:chExt cx="2885440" cy="727184"/>
            </a:xfrm>
          </p:grpSpPr>
          <p:sp>
            <p:nvSpPr>
              <p:cNvPr id="39" name="テキスト ボックス 38">
                <a:extLst>
                  <a:ext uri="{FF2B5EF4-FFF2-40B4-BE49-F238E27FC236}">
                    <a16:creationId xmlns:a16="http://schemas.microsoft.com/office/drawing/2014/main" id="{4CC4EB79-A698-1B81-CAFD-A6E9F7B493AC}"/>
                  </a:ext>
                </a:extLst>
              </p:cNvPr>
              <p:cNvSpPr txBox="1"/>
              <p:nvPr/>
            </p:nvSpPr>
            <p:spPr>
              <a:xfrm>
                <a:off x="5943600" y="4360429"/>
                <a:ext cx="2885440" cy="727184"/>
              </a:xfrm>
              <a:prstGeom prst="rect">
                <a:avLst/>
              </a:prstGeom>
              <a:noFill/>
            </p:spPr>
            <p:txBody>
              <a:bodyPr wrap="square" rtlCol="0">
                <a:spAutoFit/>
              </a:bodyPr>
              <a:lstStyle/>
              <a:p>
                <a:r>
                  <a:rPr lang="ja-JP" altLang="en-US" dirty="0">
                    <a:solidFill>
                      <a:schemeClr val="tx1"/>
                    </a:solidFill>
                    <a:latin typeface="+mn-ea"/>
                  </a:rPr>
                  <a:t>抽出</a:t>
                </a:r>
                <a:r>
                  <a:rPr lang="en-US" altLang="ja-JP" dirty="0">
                    <a:solidFill>
                      <a:schemeClr val="tx1"/>
                    </a:solidFill>
                    <a:latin typeface="+mn-ea"/>
                  </a:rPr>
                  <a:t>1</a:t>
                </a:r>
                <a:r>
                  <a:rPr lang="ja-JP" altLang="en-US" dirty="0">
                    <a:solidFill>
                      <a:schemeClr val="tx1"/>
                    </a:solidFill>
                    <a:latin typeface="+mn-ea"/>
                  </a:rPr>
                  <a:t>：「大満足です。」</a:t>
                </a:r>
                <a:endParaRPr lang="en-US" altLang="ja-JP" dirty="0">
                  <a:solidFill>
                    <a:schemeClr val="tx1"/>
                  </a:solidFill>
                  <a:latin typeface="+mn-ea"/>
                </a:endParaRPr>
              </a:p>
              <a:p>
                <a:endParaRPr kumimoji="1" lang="ja-JP" altLang="en-US" dirty="0"/>
              </a:p>
            </p:txBody>
          </p:sp>
          <p:cxnSp>
            <p:nvCxnSpPr>
              <p:cNvPr id="40" name="直線コネクタ 39">
                <a:extLst>
                  <a:ext uri="{FF2B5EF4-FFF2-40B4-BE49-F238E27FC236}">
                    <a16:creationId xmlns:a16="http://schemas.microsoft.com/office/drawing/2014/main" id="{CEA96E04-2443-BAB4-D81D-AAAB7224D479}"/>
                  </a:ext>
                </a:extLst>
              </p:cNvPr>
              <p:cNvCxnSpPr>
                <a:cxnSpLocks/>
              </p:cNvCxnSpPr>
              <p:nvPr/>
            </p:nvCxnSpPr>
            <p:spPr>
              <a:xfrm>
                <a:off x="7077610" y="4716297"/>
                <a:ext cx="690880" cy="0"/>
              </a:xfrm>
              <a:prstGeom prst="line">
                <a:avLst/>
              </a:prstGeom>
              <a:noFill/>
              <a:ln w="28575" cap="flat" cmpd="sng" algn="ctr">
                <a:solidFill>
                  <a:srgbClr val="0070C0"/>
                </a:solidFill>
                <a:prstDash val="solid"/>
              </a:ln>
              <a:effectLst/>
            </p:spPr>
          </p:cxnSp>
        </p:grpSp>
        <p:grpSp>
          <p:nvGrpSpPr>
            <p:cNvPr id="41" name="グループ化 40">
              <a:extLst>
                <a:ext uri="{FF2B5EF4-FFF2-40B4-BE49-F238E27FC236}">
                  <a16:creationId xmlns:a16="http://schemas.microsoft.com/office/drawing/2014/main" id="{0AAF172D-683D-C7CF-8343-7FCC8AB0FE60}"/>
                </a:ext>
              </a:extLst>
            </p:cNvPr>
            <p:cNvGrpSpPr/>
            <p:nvPr/>
          </p:nvGrpSpPr>
          <p:grpSpPr>
            <a:xfrm>
              <a:off x="1067025" y="2986424"/>
              <a:ext cx="2885441" cy="646331"/>
              <a:chOff x="5943600" y="4360429"/>
              <a:chExt cx="2885440" cy="727184"/>
            </a:xfrm>
          </p:grpSpPr>
          <p:sp>
            <p:nvSpPr>
              <p:cNvPr id="42" name="テキスト ボックス 41">
                <a:extLst>
                  <a:ext uri="{FF2B5EF4-FFF2-40B4-BE49-F238E27FC236}">
                    <a16:creationId xmlns:a16="http://schemas.microsoft.com/office/drawing/2014/main" id="{4604FE6F-3B3E-5FAA-0B07-B264D0667834}"/>
                  </a:ext>
                </a:extLst>
              </p:cNvPr>
              <p:cNvSpPr txBox="1"/>
              <p:nvPr/>
            </p:nvSpPr>
            <p:spPr>
              <a:xfrm>
                <a:off x="5943600" y="4360429"/>
                <a:ext cx="2885440" cy="727184"/>
              </a:xfrm>
              <a:prstGeom prst="rect">
                <a:avLst/>
              </a:prstGeom>
              <a:noFill/>
            </p:spPr>
            <p:txBody>
              <a:bodyPr wrap="square" rtlCol="0">
                <a:spAutoFit/>
              </a:bodyPr>
              <a:lstStyle/>
              <a:p>
                <a:r>
                  <a:rPr lang="ja-JP" altLang="en-US" dirty="0">
                    <a:solidFill>
                      <a:schemeClr val="tx1"/>
                    </a:solidFill>
                    <a:latin typeface="+mn-ea"/>
                  </a:rPr>
                  <a:t>抽出</a:t>
                </a:r>
                <a:r>
                  <a:rPr lang="en-US" altLang="ja-JP" dirty="0">
                    <a:solidFill>
                      <a:schemeClr val="tx1"/>
                    </a:solidFill>
                    <a:latin typeface="+mn-ea"/>
                  </a:rPr>
                  <a:t>2</a:t>
                </a:r>
                <a:r>
                  <a:rPr lang="ja-JP" altLang="en-US" dirty="0">
                    <a:solidFill>
                      <a:schemeClr val="tx1"/>
                    </a:solidFill>
                    <a:latin typeface="+mn-ea"/>
                  </a:rPr>
                  <a:t>：「大満足です。」</a:t>
                </a:r>
                <a:endParaRPr lang="en-US" altLang="ja-JP" dirty="0">
                  <a:solidFill>
                    <a:schemeClr val="tx1"/>
                  </a:solidFill>
                  <a:latin typeface="+mn-ea"/>
                </a:endParaRPr>
              </a:p>
              <a:p>
                <a:endParaRPr kumimoji="1" lang="ja-JP" altLang="en-US" dirty="0"/>
              </a:p>
            </p:txBody>
          </p:sp>
          <p:cxnSp>
            <p:nvCxnSpPr>
              <p:cNvPr id="43" name="直線コネクタ 42">
                <a:extLst>
                  <a:ext uri="{FF2B5EF4-FFF2-40B4-BE49-F238E27FC236}">
                    <a16:creationId xmlns:a16="http://schemas.microsoft.com/office/drawing/2014/main" id="{9BB9F22D-B340-18F4-28F3-B4A13695BC03}"/>
                  </a:ext>
                </a:extLst>
              </p:cNvPr>
              <p:cNvCxnSpPr>
                <a:cxnSpLocks/>
              </p:cNvCxnSpPr>
              <p:nvPr/>
            </p:nvCxnSpPr>
            <p:spPr>
              <a:xfrm>
                <a:off x="7335295" y="4716297"/>
                <a:ext cx="433195" cy="0"/>
              </a:xfrm>
              <a:prstGeom prst="line">
                <a:avLst/>
              </a:prstGeom>
              <a:noFill/>
              <a:ln w="28575" cap="flat" cmpd="sng" algn="ctr">
                <a:solidFill>
                  <a:srgbClr val="0070C0"/>
                </a:solidFill>
                <a:prstDash val="solid"/>
              </a:ln>
              <a:effectLst/>
            </p:spPr>
          </p:cxnSp>
        </p:grpSp>
        <p:grpSp>
          <p:nvGrpSpPr>
            <p:cNvPr id="44" name="グループ化 43">
              <a:extLst>
                <a:ext uri="{FF2B5EF4-FFF2-40B4-BE49-F238E27FC236}">
                  <a16:creationId xmlns:a16="http://schemas.microsoft.com/office/drawing/2014/main" id="{E1346C49-7D41-87D0-191E-B50F9B97BA0F}"/>
                </a:ext>
              </a:extLst>
            </p:cNvPr>
            <p:cNvGrpSpPr/>
            <p:nvPr/>
          </p:nvGrpSpPr>
          <p:grpSpPr>
            <a:xfrm>
              <a:off x="1080868" y="3611930"/>
              <a:ext cx="2885441" cy="646331"/>
              <a:chOff x="5943600" y="4360429"/>
              <a:chExt cx="2885440" cy="727184"/>
            </a:xfrm>
          </p:grpSpPr>
          <p:sp>
            <p:nvSpPr>
              <p:cNvPr id="45" name="テキスト ボックス 44">
                <a:extLst>
                  <a:ext uri="{FF2B5EF4-FFF2-40B4-BE49-F238E27FC236}">
                    <a16:creationId xmlns:a16="http://schemas.microsoft.com/office/drawing/2014/main" id="{903A51D9-86AD-832C-5EC5-77D09E3EC93F}"/>
                  </a:ext>
                </a:extLst>
              </p:cNvPr>
              <p:cNvSpPr txBox="1"/>
              <p:nvPr/>
            </p:nvSpPr>
            <p:spPr>
              <a:xfrm>
                <a:off x="5943600" y="4360429"/>
                <a:ext cx="2885440" cy="727184"/>
              </a:xfrm>
              <a:prstGeom prst="rect">
                <a:avLst/>
              </a:prstGeom>
              <a:noFill/>
            </p:spPr>
            <p:txBody>
              <a:bodyPr wrap="square" rtlCol="0">
                <a:spAutoFit/>
              </a:bodyPr>
              <a:lstStyle/>
              <a:p>
                <a:r>
                  <a:rPr lang="ja-JP" altLang="en-US" dirty="0">
                    <a:solidFill>
                      <a:schemeClr val="tx1"/>
                    </a:solidFill>
                    <a:latin typeface="+mn-ea"/>
                  </a:rPr>
                  <a:t>抽出</a:t>
                </a:r>
                <a:r>
                  <a:rPr lang="en-US" altLang="ja-JP" dirty="0">
                    <a:solidFill>
                      <a:schemeClr val="tx1"/>
                    </a:solidFill>
                    <a:latin typeface="+mn-ea"/>
                  </a:rPr>
                  <a:t>3</a:t>
                </a:r>
                <a:r>
                  <a:rPr lang="ja-JP" altLang="en-US" dirty="0">
                    <a:solidFill>
                      <a:schemeClr val="tx1"/>
                    </a:solidFill>
                    <a:latin typeface="+mn-ea"/>
                  </a:rPr>
                  <a:t>：「大満足です。」</a:t>
                </a:r>
                <a:endParaRPr lang="en-US" altLang="ja-JP" dirty="0">
                  <a:solidFill>
                    <a:schemeClr val="tx1"/>
                  </a:solidFill>
                  <a:latin typeface="+mn-ea"/>
                </a:endParaRPr>
              </a:p>
              <a:p>
                <a:endParaRPr kumimoji="1" lang="ja-JP" altLang="en-US" dirty="0"/>
              </a:p>
            </p:txBody>
          </p:sp>
          <p:cxnSp>
            <p:nvCxnSpPr>
              <p:cNvPr id="46" name="直線コネクタ 45">
                <a:extLst>
                  <a:ext uri="{FF2B5EF4-FFF2-40B4-BE49-F238E27FC236}">
                    <a16:creationId xmlns:a16="http://schemas.microsoft.com/office/drawing/2014/main" id="{89711FEE-F3FD-C28C-8398-63038F9077FE}"/>
                  </a:ext>
                </a:extLst>
              </p:cNvPr>
              <p:cNvCxnSpPr>
                <a:cxnSpLocks/>
              </p:cNvCxnSpPr>
              <p:nvPr/>
            </p:nvCxnSpPr>
            <p:spPr>
              <a:xfrm>
                <a:off x="7321452" y="4716297"/>
                <a:ext cx="894080" cy="0"/>
              </a:xfrm>
              <a:prstGeom prst="line">
                <a:avLst/>
              </a:prstGeom>
              <a:noFill/>
              <a:ln w="28575" cap="flat" cmpd="sng" algn="ctr">
                <a:solidFill>
                  <a:srgbClr val="0070C0"/>
                </a:solidFill>
                <a:prstDash val="solid"/>
              </a:ln>
              <a:effectLst/>
            </p:spPr>
          </p:cxnSp>
        </p:grpSp>
        <p:sp>
          <p:nvSpPr>
            <p:cNvPr id="49" name="矢印: 右 48">
              <a:extLst>
                <a:ext uri="{FF2B5EF4-FFF2-40B4-BE49-F238E27FC236}">
                  <a16:creationId xmlns:a16="http://schemas.microsoft.com/office/drawing/2014/main" id="{507A7A8B-6597-B397-A3C6-439CEA38CCAC}"/>
                </a:ext>
              </a:extLst>
            </p:cNvPr>
            <p:cNvSpPr/>
            <p:nvPr/>
          </p:nvSpPr>
          <p:spPr>
            <a:xfrm>
              <a:off x="4074747" y="3683349"/>
              <a:ext cx="252000" cy="180000"/>
            </a:xfrm>
            <a:prstGeom prst="rightArrow">
              <a:avLst>
                <a:gd name="adj1" fmla="val 50000"/>
                <a:gd name="adj2" fmla="val 536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56229E8A-EC9F-1EDD-9E02-45B453F441A9}"/>
                </a:ext>
              </a:extLst>
            </p:cNvPr>
            <p:cNvSpPr/>
            <p:nvPr/>
          </p:nvSpPr>
          <p:spPr>
            <a:xfrm>
              <a:off x="4074747" y="3061597"/>
              <a:ext cx="252000" cy="180000"/>
            </a:xfrm>
            <a:prstGeom prst="rightArrow">
              <a:avLst>
                <a:gd name="adj1" fmla="val 50000"/>
                <a:gd name="adj2" fmla="val 536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乗算記号 50">
              <a:extLst>
                <a:ext uri="{FF2B5EF4-FFF2-40B4-BE49-F238E27FC236}">
                  <a16:creationId xmlns:a16="http://schemas.microsoft.com/office/drawing/2014/main" id="{AB9A66F1-3431-FCF8-E44B-3559E5C9ABBE}"/>
                </a:ext>
              </a:extLst>
            </p:cNvPr>
            <p:cNvSpPr/>
            <p:nvPr/>
          </p:nvSpPr>
          <p:spPr>
            <a:xfrm>
              <a:off x="4492010" y="2917597"/>
              <a:ext cx="468000" cy="468000"/>
            </a:xfrm>
            <a:prstGeom prst="mathMultiply">
              <a:avLst>
                <a:gd name="adj1" fmla="val 8641"/>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0" name="コンテンツ プレースホルダー 2">
            <a:extLst>
              <a:ext uri="{FF2B5EF4-FFF2-40B4-BE49-F238E27FC236}">
                <a16:creationId xmlns:a16="http://schemas.microsoft.com/office/drawing/2014/main" id="{C852CC3C-ABBD-C1AB-09F4-CC8693A09B71}"/>
              </a:ext>
            </a:extLst>
          </p:cNvPr>
          <p:cNvSpPr txBox="1">
            <a:spLocks/>
          </p:cNvSpPr>
          <p:nvPr/>
        </p:nvSpPr>
        <p:spPr>
          <a:xfrm>
            <a:off x="104918" y="2177142"/>
            <a:ext cx="1901190" cy="4739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完全一致評価</a:t>
            </a:r>
            <a:endParaRPr lang="en-US" altLang="ja-JP" sz="2000" dirty="0"/>
          </a:p>
        </p:txBody>
      </p:sp>
      <p:sp>
        <p:nvSpPr>
          <p:cNvPr id="82" name="コンテンツ プレースホルダー 2">
            <a:extLst>
              <a:ext uri="{FF2B5EF4-FFF2-40B4-BE49-F238E27FC236}">
                <a16:creationId xmlns:a16="http://schemas.microsoft.com/office/drawing/2014/main" id="{660E094C-65D9-EF78-2639-EE6F6694F1C7}"/>
              </a:ext>
            </a:extLst>
          </p:cNvPr>
          <p:cNvSpPr txBox="1">
            <a:spLocks/>
          </p:cNvSpPr>
          <p:nvPr/>
        </p:nvSpPr>
        <p:spPr>
          <a:xfrm>
            <a:off x="4572000" y="2184057"/>
            <a:ext cx="1901190" cy="4739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Segoe UI" panose="020B0502040204020203" pitchFamily="34" charset="0"/>
                <a:ea typeface="游ゴシック Medium" panose="020B0500000000000000" pitchFamily="50" charset="-128"/>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部分一致評価</a:t>
            </a:r>
            <a:endParaRPr lang="en-US" altLang="ja-JP" sz="2000" dirty="0"/>
          </a:p>
        </p:txBody>
      </p:sp>
      <p:grpSp>
        <p:nvGrpSpPr>
          <p:cNvPr id="85" name="グループ化 84">
            <a:extLst>
              <a:ext uri="{FF2B5EF4-FFF2-40B4-BE49-F238E27FC236}">
                <a16:creationId xmlns:a16="http://schemas.microsoft.com/office/drawing/2014/main" id="{21E86464-CD23-AF00-E356-A5058D9E9DC5}"/>
              </a:ext>
            </a:extLst>
          </p:cNvPr>
          <p:cNvGrpSpPr/>
          <p:nvPr/>
        </p:nvGrpSpPr>
        <p:grpSpPr>
          <a:xfrm>
            <a:off x="4675744" y="2671601"/>
            <a:ext cx="4224314" cy="2604528"/>
            <a:chOff x="4645913" y="2671601"/>
            <a:chExt cx="4224314" cy="2604528"/>
          </a:xfrm>
        </p:grpSpPr>
        <p:grpSp>
          <p:nvGrpSpPr>
            <p:cNvPr id="61" name="グループ化 60">
              <a:extLst>
                <a:ext uri="{FF2B5EF4-FFF2-40B4-BE49-F238E27FC236}">
                  <a16:creationId xmlns:a16="http://schemas.microsoft.com/office/drawing/2014/main" id="{F9AC3C48-6FCA-571D-5B71-F12CD6ECC6D7}"/>
                </a:ext>
              </a:extLst>
            </p:cNvPr>
            <p:cNvGrpSpPr/>
            <p:nvPr/>
          </p:nvGrpSpPr>
          <p:grpSpPr>
            <a:xfrm>
              <a:off x="4645913" y="2671601"/>
              <a:ext cx="4224314" cy="2604528"/>
              <a:chOff x="953380" y="1653733"/>
              <a:chExt cx="4224314" cy="2604528"/>
            </a:xfrm>
          </p:grpSpPr>
          <p:sp>
            <p:nvSpPr>
              <p:cNvPr id="62" name="角丸四角形 15">
                <a:extLst>
                  <a:ext uri="{FF2B5EF4-FFF2-40B4-BE49-F238E27FC236}">
                    <a16:creationId xmlns:a16="http://schemas.microsoft.com/office/drawing/2014/main" id="{4EA0F67B-D1C3-8554-A595-98A96D000E79}"/>
                  </a:ext>
                </a:extLst>
              </p:cNvPr>
              <p:cNvSpPr/>
              <p:nvPr/>
            </p:nvSpPr>
            <p:spPr>
              <a:xfrm>
                <a:off x="953382" y="1653733"/>
                <a:ext cx="4224312" cy="2462144"/>
              </a:xfrm>
              <a:prstGeom prst="roundRect">
                <a:avLst>
                  <a:gd name="adj" fmla="val 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endParaRPr lang="en-US" altLang="ja-JP" b="1" dirty="0">
                  <a:solidFill>
                    <a:srgbClr val="FF0000"/>
                  </a:solidFill>
                  <a:latin typeface="+mj-ea"/>
                  <a:ea typeface="+mj-ea"/>
                </a:endParaRPr>
              </a:p>
            </p:txBody>
          </p:sp>
          <p:sp>
            <p:nvSpPr>
              <p:cNvPr id="63" name="円: 塗りつぶしなし 62">
                <a:extLst>
                  <a:ext uri="{FF2B5EF4-FFF2-40B4-BE49-F238E27FC236}">
                    <a16:creationId xmlns:a16="http://schemas.microsoft.com/office/drawing/2014/main" id="{31807750-FDA9-9776-6F11-A83D08421CF9}"/>
                  </a:ext>
                </a:extLst>
              </p:cNvPr>
              <p:cNvSpPr/>
              <p:nvPr/>
            </p:nvSpPr>
            <p:spPr>
              <a:xfrm>
                <a:off x="4564010" y="2365938"/>
                <a:ext cx="324000" cy="324000"/>
              </a:xfrm>
              <a:prstGeom prst="donut">
                <a:avLst>
                  <a:gd name="adj" fmla="val 1065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5" name="矢印: 右 64">
                <a:extLst>
                  <a:ext uri="{FF2B5EF4-FFF2-40B4-BE49-F238E27FC236}">
                    <a16:creationId xmlns:a16="http://schemas.microsoft.com/office/drawing/2014/main" id="{3ED088B6-2812-DB00-2245-64042A51379F}"/>
                  </a:ext>
                </a:extLst>
              </p:cNvPr>
              <p:cNvSpPr/>
              <p:nvPr/>
            </p:nvSpPr>
            <p:spPr>
              <a:xfrm>
                <a:off x="4074747" y="2437274"/>
                <a:ext cx="252000" cy="180000"/>
              </a:xfrm>
              <a:prstGeom prst="rightArrow">
                <a:avLst>
                  <a:gd name="adj1" fmla="val 50000"/>
                  <a:gd name="adj2" fmla="val 536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コネクタ 65">
                <a:extLst>
                  <a:ext uri="{FF2B5EF4-FFF2-40B4-BE49-F238E27FC236}">
                    <a16:creationId xmlns:a16="http://schemas.microsoft.com/office/drawing/2014/main" id="{94A7A9F0-21D7-2254-F745-AFA532CE686F}"/>
                  </a:ext>
                </a:extLst>
              </p:cNvPr>
              <p:cNvCxnSpPr>
                <a:cxnSpLocks/>
              </p:cNvCxnSpPr>
              <p:nvPr/>
            </p:nvCxnSpPr>
            <p:spPr>
              <a:xfrm flipV="1">
                <a:off x="953380" y="2237861"/>
                <a:ext cx="4224311" cy="15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67" name="グループ化 66">
                <a:extLst>
                  <a:ext uri="{FF2B5EF4-FFF2-40B4-BE49-F238E27FC236}">
                    <a16:creationId xmlns:a16="http://schemas.microsoft.com/office/drawing/2014/main" id="{43B1D88B-255E-3D18-FD3E-D8DF6D9DEA79}"/>
                  </a:ext>
                </a:extLst>
              </p:cNvPr>
              <p:cNvGrpSpPr/>
              <p:nvPr/>
            </p:nvGrpSpPr>
            <p:grpSpPr>
              <a:xfrm>
                <a:off x="1080870" y="1786450"/>
                <a:ext cx="2885441" cy="574468"/>
                <a:chOff x="5943600" y="4360429"/>
                <a:chExt cx="2885440" cy="646331"/>
              </a:xfrm>
            </p:grpSpPr>
            <p:sp>
              <p:nvSpPr>
                <p:cNvPr id="80" name="テキスト ボックス 79">
                  <a:extLst>
                    <a:ext uri="{FF2B5EF4-FFF2-40B4-BE49-F238E27FC236}">
                      <a16:creationId xmlns:a16="http://schemas.microsoft.com/office/drawing/2014/main" id="{D560351A-BD65-5981-5D58-5B25BE1D73F3}"/>
                    </a:ext>
                  </a:extLst>
                </p:cNvPr>
                <p:cNvSpPr txBox="1"/>
                <p:nvPr/>
              </p:nvSpPr>
              <p:spPr>
                <a:xfrm>
                  <a:off x="5943600" y="4360429"/>
                  <a:ext cx="2885440" cy="646331"/>
                </a:xfrm>
                <a:prstGeom prst="rect">
                  <a:avLst/>
                </a:prstGeom>
                <a:noFill/>
              </p:spPr>
              <p:txBody>
                <a:bodyPr wrap="square" rtlCol="0">
                  <a:spAutoFit/>
                </a:bodyPr>
                <a:lstStyle/>
                <a:p>
                  <a:r>
                    <a:rPr lang="ja-JP" altLang="en-US" dirty="0">
                      <a:solidFill>
                        <a:schemeClr val="tx1"/>
                      </a:solidFill>
                      <a:latin typeface="+mn-ea"/>
                    </a:rPr>
                    <a:t>正解  ：「大満足です。」</a:t>
                  </a:r>
                  <a:endParaRPr lang="en-US" altLang="ja-JP" dirty="0">
                    <a:solidFill>
                      <a:schemeClr val="tx1"/>
                    </a:solidFill>
                    <a:latin typeface="+mn-ea"/>
                  </a:endParaRPr>
                </a:p>
                <a:p>
                  <a:endParaRPr kumimoji="1" lang="ja-JP" altLang="en-US" dirty="0"/>
                </a:p>
              </p:txBody>
            </p:sp>
            <p:cxnSp>
              <p:nvCxnSpPr>
                <p:cNvPr id="81" name="直線コネクタ 80">
                  <a:extLst>
                    <a:ext uri="{FF2B5EF4-FFF2-40B4-BE49-F238E27FC236}">
                      <a16:creationId xmlns:a16="http://schemas.microsoft.com/office/drawing/2014/main" id="{A9025BFD-7D1E-7430-5C09-CF9450FF8A72}"/>
                    </a:ext>
                  </a:extLst>
                </p:cNvPr>
                <p:cNvCxnSpPr>
                  <a:cxnSpLocks/>
                </p:cNvCxnSpPr>
                <p:nvPr/>
              </p:nvCxnSpPr>
              <p:spPr>
                <a:xfrm>
                  <a:off x="7077610" y="4716297"/>
                  <a:ext cx="690880" cy="0"/>
                </a:xfrm>
                <a:prstGeom prst="line">
                  <a:avLst/>
                </a:prstGeom>
                <a:noFill/>
                <a:ln w="28575" cap="flat" cmpd="sng" algn="ctr">
                  <a:solidFill>
                    <a:srgbClr val="0070C0"/>
                  </a:solidFill>
                  <a:prstDash val="solid"/>
                </a:ln>
                <a:effectLst/>
              </p:spPr>
            </p:cxnSp>
          </p:grpSp>
          <p:grpSp>
            <p:nvGrpSpPr>
              <p:cNvPr id="68" name="グループ化 67">
                <a:extLst>
                  <a:ext uri="{FF2B5EF4-FFF2-40B4-BE49-F238E27FC236}">
                    <a16:creationId xmlns:a16="http://schemas.microsoft.com/office/drawing/2014/main" id="{EC78B9F3-CFF9-0C12-B617-FC538ADACD2C}"/>
                  </a:ext>
                </a:extLst>
              </p:cNvPr>
              <p:cNvGrpSpPr/>
              <p:nvPr/>
            </p:nvGrpSpPr>
            <p:grpSpPr>
              <a:xfrm>
                <a:off x="1080869" y="2360916"/>
                <a:ext cx="2885441" cy="646331"/>
                <a:chOff x="5943600" y="4360429"/>
                <a:chExt cx="2885440" cy="727184"/>
              </a:xfrm>
            </p:grpSpPr>
            <p:sp>
              <p:nvSpPr>
                <p:cNvPr id="78" name="テキスト ボックス 77">
                  <a:extLst>
                    <a:ext uri="{FF2B5EF4-FFF2-40B4-BE49-F238E27FC236}">
                      <a16:creationId xmlns:a16="http://schemas.microsoft.com/office/drawing/2014/main" id="{DF357777-B8A8-066C-BE43-1E69A29A22C3}"/>
                    </a:ext>
                  </a:extLst>
                </p:cNvPr>
                <p:cNvSpPr txBox="1"/>
                <p:nvPr/>
              </p:nvSpPr>
              <p:spPr>
                <a:xfrm>
                  <a:off x="5943600" y="4360429"/>
                  <a:ext cx="2885440" cy="727184"/>
                </a:xfrm>
                <a:prstGeom prst="rect">
                  <a:avLst/>
                </a:prstGeom>
                <a:noFill/>
              </p:spPr>
              <p:txBody>
                <a:bodyPr wrap="square" rtlCol="0">
                  <a:spAutoFit/>
                </a:bodyPr>
                <a:lstStyle/>
                <a:p>
                  <a:r>
                    <a:rPr lang="ja-JP" altLang="en-US" dirty="0">
                      <a:solidFill>
                        <a:schemeClr val="tx1"/>
                      </a:solidFill>
                      <a:latin typeface="+mn-ea"/>
                    </a:rPr>
                    <a:t>抽出</a:t>
                  </a:r>
                  <a:r>
                    <a:rPr lang="en-US" altLang="ja-JP" dirty="0">
                      <a:solidFill>
                        <a:schemeClr val="tx1"/>
                      </a:solidFill>
                      <a:latin typeface="+mn-ea"/>
                    </a:rPr>
                    <a:t>1</a:t>
                  </a:r>
                  <a:r>
                    <a:rPr lang="ja-JP" altLang="en-US" dirty="0">
                      <a:solidFill>
                        <a:schemeClr val="tx1"/>
                      </a:solidFill>
                      <a:latin typeface="+mn-ea"/>
                    </a:rPr>
                    <a:t>：「大満足です。」</a:t>
                  </a:r>
                  <a:endParaRPr lang="en-US" altLang="ja-JP" dirty="0">
                    <a:solidFill>
                      <a:schemeClr val="tx1"/>
                    </a:solidFill>
                    <a:latin typeface="+mn-ea"/>
                  </a:endParaRPr>
                </a:p>
                <a:p>
                  <a:endParaRPr kumimoji="1" lang="ja-JP" altLang="en-US" dirty="0"/>
                </a:p>
              </p:txBody>
            </p:sp>
            <p:cxnSp>
              <p:nvCxnSpPr>
                <p:cNvPr id="79" name="直線コネクタ 78">
                  <a:extLst>
                    <a:ext uri="{FF2B5EF4-FFF2-40B4-BE49-F238E27FC236}">
                      <a16:creationId xmlns:a16="http://schemas.microsoft.com/office/drawing/2014/main" id="{59FF3AB3-EF69-FD08-1B6E-4EEA8324447E}"/>
                    </a:ext>
                  </a:extLst>
                </p:cNvPr>
                <p:cNvCxnSpPr>
                  <a:cxnSpLocks/>
                </p:cNvCxnSpPr>
                <p:nvPr/>
              </p:nvCxnSpPr>
              <p:spPr>
                <a:xfrm>
                  <a:off x="7077610" y="4716297"/>
                  <a:ext cx="690880" cy="0"/>
                </a:xfrm>
                <a:prstGeom prst="line">
                  <a:avLst/>
                </a:prstGeom>
                <a:noFill/>
                <a:ln w="28575" cap="flat" cmpd="sng" algn="ctr">
                  <a:solidFill>
                    <a:srgbClr val="0070C0"/>
                  </a:solidFill>
                  <a:prstDash val="solid"/>
                </a:ln>
                <a:effectLst/>
              </p:spPr>
            </p:cxnSp>
          </p:grpSp>
          <p:grpSp>
            <p:nvGrpSpPr>
              <p:cNvPr id="69" name="グループ化 68">
                <a:extLst>
                  <a:ext uri="{FF2B5EF4-FFF2-40B4-BE49-F238E27FC236}">
                    <a16:creationId xmlns:a16="http://schemas.microsoft.com/office/drawing/2014/main" id="{003B52A9-29AB-A024-56C0-3BB52790D5C9}"/>
                  </a:ext>
                </a:extLst>
              </p:cNvPr>
              <p:cNvGrpSpPr/>
              <p:nvPr/>
            </p:nvGrpSpPr>
            <p:grpSpPr>
              <a:xfrm>
                <a:off x="1067025" y="2986424"/>
                <a:ext cx="2885441" cy="646331"/>
                <a:chOff x="5943600" y="4360429"/>
                <a:chExt cx="2885440" cy="727184"/>
              </a:xfrm>
            </p:grpSpPr>
            <p:sp>
              <p:nvSpPr>
                <p:cNvPr id="76" name="テキスト ボックス 75">
                  <a:extLst>
                    <a:ext uri="{FF2B5EF4-FFF2-40B4-BE49-F238E27FC236}">
                      <a16:creationId xmlns:a16="http://schemas.microsoft.com/office/drawing/2014/main" id="{CA4C48D2-71A1-D2BD-689C-684F101D9CC3}"/>
                    </a:ext>
                  </a:extLst>
                </p:cNvPr>
                <p:cNvSpPr txBox="1"/>
                <p:nvPr/>
              </p:nvSpPr>
              <p:spPr>
                <a:xfrm>
                  <a:off x="5943600" y="4360429"/>
                  <a:ext cx="2885440" cy="727184"/>
                </a:xfrm>
                <a:prstGeom prst="rect">
                  <a:avLst/>
                </a:prstGeom>
                <a:noFill/>
              </p:spPr>
              <p:txBody>
                <a:bodyPr wrap="square" rtlCol="0">
                  <a:spAutoFit/>
                </a:bodyPr>
                <a:lstStyle/>
                <a:p>
                  <a:r>
                    <a:rPr lang="ja-JP" altLang="en-US" dirty="0">
                      <a:solidFill>
                        <a:schemeClr val="tx1"/>
                      </a:solidFill>
                      <a:latin typeface="+mn-ea"/>
                    </a:rPr>
                    <a:t>抽出</a:t>
                  </a:r>
                  <a:r>
                    <a:rPr lang="en-US" altLang="ja-JP" dirty="0">
                      <a:solidFill>
                        <a:schemeClr val="tx1"/>
                      </a:solidFill>
                      <a:latin typeface="+mn-ea"/>
                    </a:rPr>
                    <a:t>2</a:t>
                  </a:r>
                  <a:r>
                    <a:rPr lang="ja-JP" altLang="en-US" dirty="0">
                      <a:solidFill>
                        <a:schemeClr val="tx1"/>
                      </a:solidFill>
                      <a:latin typeface="+mn-ea"/>
                    </a:rPr>
                    <a:t>：「大満足です。」</a:t>
                  </a:r>
                  <a:endParaRPr lang="en-US" altLang="ja-JP" dirty="0">
                    <a:solidFill>
                      <a:schemeClr val="tx1"/>
                    </a:solidFill>
                    <a:latin typeface="+mn-ea"/>
                  </a:endParaRPr>
                </a:p>
                <a:p>
                  <a:endParaRPr kumimoji="1" lang="ja-JP" altLang="en-US" dirty="0"/>
                </a:p>
              </p:txBody>
            </p:sp>
            <p:cxnSp>
              <p:nvCxnSpPr>
                <p:cNvPr id="77" name="直線コネクタ 76">
                  <a:extLst>
                    <a:ext uri="{FF2B5EF4-FFF2-40B4-BE49-F238E27FC236}">
                      <a16:creationId xmlns:a16="http://schemas.microsoft.com/office/drawing/2014/main" id="{3F1D9BCD-F8CB-8A90-507D-451EE91223D3}"/>
                    </a:ext>
                  </a:extLst>
                </p:cNvPr>
                <p:cNvCxnSpPr>
                  <a:cxnSpLocks/>
                </p:cNvCxnSpPr>
                <p:nvPr/>
              </p:nvCxnSpPr>
              <p:spPr>
                <a:xfrm>
                  <a:off x="7335295" y="4716297"/>
                  <a:ext cx="433195" cy="0"/>
                </a:xfrm>
                <a:prstGeom prst="line">
                  <a:avLst/>
                </a:prstGeom>
                <a:noFill/>
                <a:ln w="28575" cap="flat" cmpd="sng" algn="ctr">
                  <a:solidFill>
                    <a:srgbClr val="0070C0"/>
                  </a:solidFill>
                  <a:prstDash val="solid"/>
                </a:ln>
                <a:effectLst/>
              </p:spPr>
            </p:cxnSp>
          </p:grpSp>
          <p:grpSp>
            <p:nvGrpSpPr>
              <p:cNvPr id="70" name="グループ化 69">
                <a:extLst>
                  <a:ext uri="{FF2B5EF4-FFF2-40B4-BE49-F238E27FC236}">
                    <a16:creationId xmlns:a16="http://schemas.microsoft.com/office/drawing/2014/main" id="{80B4F910-A5D2-D9C5-CAB7-5F18A690D331}"/>
                  </a:ext>
                </a:extLst>
              </p:cNvPr>
              <p:cNvGrpSpPr/>
              <p:nvPr/>
            </p:nvGrpSpPr>
            <p:grpSpPr>
              <a:xfrm>
                <a:off x="1080868" y="3611930"/>
                <a:ext cx="2885441" cy="646331"/>
                <a:chOff x="5943600" y="4360429"/>
                <a:chExt cx="2885440" cy="727184"/>
              </a:xfrm>
            </p:grpSpPr>
            <p:sp>
              <p:nvSpPr>
                <p:cNvPr id="74" name="テキスト ボックス 73">
                  <a:extLst>
                    <a:ext uri="{FF2B5EF4-FFF2-40B4-BE49-F238E27FC236}">
                      <a16:creationId xmlns:a16="http://schemas.microsoft.com/office/drawing/2014/main" id="{3D057648-34D7-8878-059D-A2A882C52895}"/>
                    </a:ext>
                  </a:extLst>
                </p:cNvPr>
                <p:cNvSpPr txBox="1"/>
                <p:nvPr/>
              </p:nvSpPr>
              <p:spPr>
                <a:xfrm>
                  <a:off x="5943600" y="4360429"/>
                  <a:ext cx="2885440" cy="727184"/>
                </a:xfrm>
                <a:prstGeom prst="rect">
                  <a:avLst/>
                </a:prstGeom>
                <a:noFill/>
              </p:spPr>
              <p:txBody>
                <a:bodyPr wrap="square" rtlCol="0">
                  <a:spAutoFit/>
                </a:bodyPr>
                <a:lstStyle/>
                <a:p>
                  <a:r>
                    <a:rPr lang="ja-JP" altLang="en-US" dirty="0">
                      <a:solidFill>
                        <a:schemeClr val="tx1"/>
                      </a:solidFill>
                      <a:latin typeface="+mn-ea"/>
                    </a:rPr>
                    <a:t>抽出</a:t>
                  </a:r>
                  <a:r>
                    <a:rPr lang="en-US" altLang="ja-JP" dirty="0">
                      <a:solidFill>
                        <a:schemeClr val="tx1"/>
                      </a:solidFill>
                      <a:latin typeface="+mn-ea"/>
                    </a:rPr>
                    <a:t>3</a:t>
                  </a:r>
                  <a:r>
                    <a:rPr lang="ja-JP" altLang="en-US" dirty="0">
                      <a:solidFill>
                        <a:schemeClr val="tx1"/>
                      </a:solidFill>
                      <a:latin typeface="+mn-ea"/>
                    </a:rPr>
                    <a:t>：「大満足です。」</a:t>
                  </a:r>
                  <a:endParaRPr lang="en-US" altLang="ja-JP" dirty="0">
                    <a:solidFill>
                      <a:schemeClr val="tx1"/>
                    </a:solidFill>
                    <a:latin typeface="+mn-ea"/>
                  </a:endParaRPr>
                </a:p>
                <a:p>
                  <a:endParaRPr kumimoji="1" lang="ja-JP" altLang="en-US" dirty="0"/>
                </a:p>
              </p:txBody>
            </p:sp>
            <p:cxnSp>
              <p:nvCxnSpPr>
                <p:cNvPr id="75" name="直線コネクタ 74">
                  <a:extLst>
                    <a:ext uri="{FF2B5EF4-FFF2-40B4-BE49-F238E27FC236}">
                      <a16:creationId xmlns:a16="http://schemas.microsoft.com/office/drawing/2014/main" id="{4BFA2083-4D00-43BF-B130-2B9511551576}"/>
                    </a:ext>
                  </a:extLst>
                </p:cNvPr>
                <p:cNvCxnSpPr>
                  <a:cxnSpLocks/>
                </p:cNvCxnSpPr>
                <p:nvPr/>
              </p:nvCxnSpPr>
              <p:spPr>
                <a:xfrm>
                  <a:off x="7321452" y="4716297"/>
                  <a:ext cx="894080" cy="0"/>
                </a:xfrm>
                <a:prstGeom prst="line">
                  <a:avLst/>
                </a:prstGeom>
                <a:noFill/>
                <a:ln w="28575" cap="flat" cmpd="sng" algn="ctr">
                  <a:solidFill>
                    <a:srgbClr val="0070C0"/>
                  </a:solidFill>
                  <a:prstDash val="solid"/>
                </a:ln>
                <a:effectLst/>
              </p:spPr>
            </p:cxnSp>
          </p:grpSp>
          <p:sp>
            <p:nvSpPr>
              <p:cNvPr id="71" name="矢印: 右 70">
                <a:extLst>
                  <a:ext uri="{FF2B5EF4-FFF2-40B4-BE49-F238E27FC236}">
                    <a16:creationId xmlns:a16="http://schemas.microsoft.com/office/drawing/2014/main" id="{B453B96C-B5AE-1E74-3EA6-1BB663BFEA26}"/>
                  </a:ext>
                </a:extLst>
              </p:cNvPr>
              <p:cNvSpPr/>
              <p:nvPr/>
            </p:nvSpPr>
            <p:spPr>
              <a:xfrm>
                <a:off x="4074747" y="3683349"/>
                <a:ext cx="252000" cy="180000"/>
              </a:xfrm>
              <a:prstGeom prst="rightArrow">
                <a:avLst>
                  <a:gd name="adj1" fmla="val 50000"/>
                  <a:gd name="adj2" fmla="val 536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矢印: 右 71">
                <a:extLst>
                  <a:ext uri="{FF2B5EF4-FFF2-40B4-BE49-F238E27FC236}">
                    <a16:creationId xmlns:a16="http://schemas.microsoft.com/office/drawing/2014/main" id="{09327733-DBDE-4AB5-46E7-979C39B249C8}"/>
                  </a:ext>
                </a:extLst>
              </p:cNvPr>
              <p:cNvSpPr/>
              <p:nvPr/>
            </p:nvSpPr>
            <p:spPr>
              <a:xfrm>
                <a:off x="4074747" y="3061597"/>
                <a:ext cx="252000" cy="180000"/>
              </a:xfrm>
              <a:prstGeom prst="rightArrow">
                <a:avLst>
                  <a:gd name="adj1" fmla="val 50000"/>
                  <a:gd name="adj2" fmla="val 5362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3" name="円: 塗りつぶしなし 82">
              <a:extLst>
                <a:ext uri="{FF2B5EF4-FFF2-40B4-BE49-F238E27FC236}">
                  <a16:creationId xmlns:a16="http://schemas.microsoft.com/office/drawing/2014/main" id="{B99D240C-EB44-7647-0BAF-534235E074E4}"/>
                </a:ext>
              </a:extLst>
            </p:cNvPr>
            <p:cNvSpPr/>
            <p:nvPr/>
          </p:nvSpPr>
          <p:spPr>
            <a:xfrm>
              <a:off x="8256543" y="4007465"/>
              <a:ext cx="324000" cy="324000"/>
            </a:xfrm>
            <a:prstGeom prst="donut">
              <a:avLst>
                <a:gd name="adj" fmla="val 1065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4" name="円: 塗りつぶしなし 83">
              <a:extLst>
                <a:ext uri="{FF2B5EF4-FFF2-40B4-BE49-F238E27FC236}">
                  <a16:creationId xmlns:a16="http://schemas.microsoft.com/office/drawing/2014/main" id="{966235B1-A11D-B660-B359-19477FC9AFEA}"/>
                </a:ext>
              </a:extLst>
            </p:cNvPr>
            <p:cNvSpPr/>
            <p:nvPr/>
          </p:nvSpPr>
          <p:spPr>
            <a:xfrm>
              <a:off x="8256543" y="4629798"/>
              <a:ext cx="324000" cy="324000"/>
            </a:xfrm>
            <a:prstGeom prst="donut">
              <a:avLst>
                <a:gd name="adj" fmla="val 10653"/>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Tree>
    <p:extLst>
      <p:ext uri="{BB962C8B-B14F-4D97-AF65-F5344CB8AC3E}">
        <p14:creationId xmlns:p14="http://schemas.microsoft.com/office/powerpoint/2010/main" val="264056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F2C123-F406-92B1-B54B-EE23F6350C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7FEC41-12D9-752F-AC82-2E49BE27D9B2}"/>
              </a:ext>
            </a:extLst>
          </p:cNvPr>
          <p:cNvSpPr>
            <a:spLocks noGrp="1"/>
          </p:cNvSpPr>
          <p:nvPr>
            <p:ph type="title"/>
          </p:nvPr>
        </p:nvSpPr>
        <p:spPr/>
        <p:txBody>
          <a:bodyPr/>
          <a:lstStyle/>
          <a:p>
            <a:r>
              <a:rPr kumimoji="1" lang="ja-JP" altLang="en-US" dirty="0"/>
              <a:t>期待の分類</a:t>
            </a:r>
          </a:p>
        </p:txBody>
      </p:sp>
      <p:sp>
        <p:nvSpPr>
          <p:cNvPr id="4" name="スライド番号プレースホルダー 3">
            <a:extLst>
              <a:ext uri="{FF2B5EF4-FFF2-40B4-BE49-F238E27FC236}">
                <a16:creationId xmlns:a16="http://schemas.microsoft.com/office/drawing/2014/main" id="{72519DEC-F3CE-FE2E-73E7-3BD790198476}"/>
              </a:ext>
            </a:extLst>
          </p:cNvPr>
          <p:cNvSpPr>
            <a:spLocks noGrp="1"/>
          </p:cNvSpPr>
          <p:nvPr>
            <p:ph type="sldNum" sz="quarter" idx="12"/>
          </p:nvPr>
        </p:nvSpPr>
        <p:spPr/>
        <p:txBody>
          <a:bodyPr/>
          <a:lstStyle/>
          <a:p>
            <a:fld id="{CF4A8B29-95AB-4EB3-9726-7CF76E557B81}" type="slidenum">
              <a:rPr kumimoji="1" lang="ja-JP" altLang="en-US" smtClean="0"/>
              <a:t>25</a:t>
            </a:fld>
            <a:endParaRPr kumimoji="1" lang="ja-JP" altLang="en-US"/>
          </a:p>
        </p:txBody>
      </p:sp>
      <p:grpSp>
        <p:nvGrpSpPr>
          <p:cNvPr id="9" name="グループ化 8">
            <a:extLst>
              <a:ext uri="{FF2B5EF4-FFF2-40B4-BE49-F238E27FC236}">
                <a16:creationId xmlns:a16="http://schemas.microsoft.com/office/drawing/2014/main" id="{69111568-6C7A-5273-9F13-63080029B53F}"/>
              </a:ext>
            </a:extLst>
          </p:cNvPr>
          <p:cNvGrpSpPr/>
          <p:nvPr/>
        </p:nvGrpSpPr>
        <p:grpSpPr>
          <a:xfrm>
            <a:off x="817393" y="2633508"/>
            <a:ext cx="5481808" cy="641872"/>
            <a:chOff x="817393" y="2633508"/>
            <a:chExt cx="5481808" cy="641872"/>
          </a:xfrm>
        </p:grpSpPr>
        <p:sp>
          <p:nvSpPr>
            <p:cNvPr id="10" name="角丸四角形 15">
              <a:extLst>
                <a:ext uri="{FF2B5EF4-FFF2-40B4-BE49-F238E27FC236}">
                  <a16:creationId xmlns:a16="http://schemas.microsoft.com/office/drawing/2014/main" id="{1B6F5C0D-3925-F9B8-A2F8-3901E3EE038B}"/>
                </a:ext>
              </a:extLst>
            </p:cNvPr>
            <p:cNvSpPr/>
            <p:nvPr/>
          </p:nvSpPr>
          <p:spPr>
            <a:xfrm>
              <a:off x="817393" y="2633508"/>
              <a:ext cx="5481808" cy="64187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lang="ja-JP" altLang="en-US" dirty="0">
                  <a:solidFill>
                    <a:schemeClr val="tx1"/>
                  </a:solidFill>
                </a:rPr>
                <a:t>女性が片手で持てる重さの掃除機が欲しかった。</a:t>
              </a:r>
            </a:p>
          </p:txBody>
        </p:sp>
        <p:cxnSp>
          <p:nvCxnSpPr>
            <p:cNvPr id="22" name="直線コネクタ 21">
              <a:extLst>
                <a:ext uri="{FF2B5EF4-FFF2-40B4-BE49-F238E27FC236}">
                  <a16:creationId xmlns:a16="http://schemas.microsoft.com/office/drawing/2014/main" id="{6E70A8D6-E152-4349-9E21-2E5FFDF8A119}"/>
                </a:ext>
              </a:extLst>
            </p:cNvPr>
            <p:cNvCxnSpPr>
              <a:cxnSpLocks/>
            </p:cNvCxnSpPr>
            <p:nvPr/>
          </p:nvCxnSpPr>
          <p:spPr>
            <a:xfrm>
              <a:off x="922216" y="3104858"/>
              <a:ext cx="2562664" cy="0"/>
            </a:xfrm>
            <a:prstGeom prst="line">
              <a:avLst/>
            </a:prstGeom>
            <a:noFill/>
            <a:ln w="19050" cap="flat" cmpd="sng" algn="ctr">
              <a:solidFill>
                <a:srgbClr val="0070C0"/>
              </a:solidFill>
              <a:prstDash val="solid"/>
            </a:ln>
            <a:effectLst/>
          </p:spPr>
        </p:cxnSp>
      </p:grpSp>
      <p:sp>
        <p:nvSpPr>
          <p:cNvPr id="24" name="テキスト ボックス 23">
            <a:extLst>
              <a:ext uri="{FF2B5EF4-FFF2-40B4-BE49-F238E27FC236}">
                <a16:creationId xmlns:a16="http://schemas.microsoft.com/office/drawing/2014/main" id="{7FC63C24-3774-4750-E617-C538C932B745}"/>
              </a:ext>
            </a:extLst>
          </p:cNvPr>
          <p:cNvSpPr txBox="1"/>
          <p:nvPr/>
        </p:nvSpPr>
        <p:spPr>
          <a:xfrm>
            <a:off x="817393" y="2144101"/>
            <a:ext cx="3017520" cy="369332"/>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t>明示されているもの</a:t>
            </a:r>
          </a:p>
        </p:txBody>
      </p:sp>
      <p:sp>
        <p:nvSpPr>
          <p:cNvPr id="26" name="テキスト ボックス 25">
            <a:extLst>
              <a:ext uri="{FF2B5EF4-FFF2-40B4-BE49-F238E27FC236}">
                <a16:creationId xmlns:a16="http://schemas.microsoft.com/office/drawing/2014/main" id="{2C4E0331-A73D-7858-D3D2-F4BF4CC28C96}"/>
              </a:ext>
            </a:extLst>
          </p:cNvPr>
          <p:cNvSpPr txBox="1"/>
          <p:nvPr/>
        </p:nvSpPr>
        <p:spPr>
          <a:xfrm>
            <a:off x="817393" y="3922482"/>
            <a:ext cx="3017520" cy="369332"/>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t>明示されないもの</a:t>
            </a:r>
          </a:p>
        </p:txBody>
      </p:sp>
      <p:grpSp>
        <p:nvGrpSpPr>
          <p:cNvPr id="12" name="グループ化 11">
            <a:extLst>
              <a:ext uri="{FF2B5EF4-FFF2-40B4-BE49-F238E27FC236}">
                <a16:creationId xmlns:a16="http://schemas.microsoft.com/office/drawing/2014/main" id="{B4F4D29F-CBC1-F79E-EF0D-E81C8714FA0C}"/>
              </a:ext>
            </a:extLst>
          </p:cNvPr>
          <p:cNvGrpSpPr/>
          <p:nvPr/>
        </p:nvGrpSpPr>
        <p:grpSpPr>
          <a:xfrm>
            <a:off x="817393" y="4356991"/>
            <a:ext cx="6203167" cy="1318017"/>
            <a:chOff x="817393" y="4308565"/>
            <a:chExt cx="6203167" cy="1318017"/>
          </a:xfrm>
        </p:grpSpPr>
        <p:grpSp>
          <p:nvGrpSpPr>
            <p:cNvPr id="11" name="グループ化 10">
              <a:extLst>
                <a:ext uri="{FF2B5EF4-FFF2-40B4-BE49-F238E27FC236}">
                  <a16:creationId xmlns:a16="http://schemas.microsoft.com/office/drawing/2014/main" id="{2BEA5B9D-6C6C-42A5-4027-9356703D4C11}"/>
                </a:ext>
              </a:extLst>
            </p:cNvPr>
            <p:cNvGrpSpPr/>
            <p:nvPr/>
          </p:nvGrpSpPr>
          <p:grpSpPr>
            <a:xfrm>
              <a:off x="817393" y="4308565"/>
              <a:ext cx="6203167" cy="1318017"/>
              <a:chOff x="817393" y="4335830"/>
              <a:chExt cx="6203167" cy="1318017"/>
            </a:xfrm>
          </p:grpSpPr>
          <p:sp>
            <p:nvSpPr>
              <p:cNvPr id="17" name="角丸四角形 15">
                <a:extLst>
                  <a:ext uri="{FF2B5EF4-FFF2-40B4-BE49-F238E27FC236}">
                    <a16:creationId xmlns:a16="http://schemas.microsoft.com/office/drawing/2014/main" id="{B0A8B92D-7468-D41D-EBF8-CB8D606F37A3}"/>
                  </a:ext>
                </a:extLst>
              </p:cNvPr>
              <p:cNvSpPr/>
              <p:nvPr/>
            </p:nvSpPr>
            <p:spPr>
              <a:xfrm>
                <a:off x="817393" y="4335830"/>
                <a:ext cx="6203167" cy="829716"/>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ja-JP" altLang="en-US" dirty="0">
                    <a:solidFill>
                      <a:schemeClr val="tx1"/>
                    </a:solidFill>
                  </a:rPr>
                  <a:t>以前のものはすぐバッテリー切れを起こしていたので、その反省を踏まえ今回はこちらの商品を選びました。</a:t>
                </a:r>
              </a:p>
            </p:txBody>
          </p:sp>
          <p:sp>
            <p:nvSpPr>
              <p:cNvPr id="19" name="テキスト ボックス 18">
                <a:extLst>
                  <a:ext uri="{FF2B5EF4-FFF2-40B4-BE49-F238E27FC236}">
                    <a16:creationId xmlns:a16="http://schemas.microsoft.com/office/drawing/2014/main" id="{75040079-A3FF-249D-0E94-F7B7907E3BA4}"/>
                  </a:ext>
                </a:extLst>
              </p:cNvPr>
              <p:cNvSpPr txBox="1"/>
              <p:nvPr/>
            </p:nvSpPr>
            <p:spPr>
              <a:xfrm>
                <a:off x="1645920" y="5284515"/>
                <a:ext cx="3586480" cy="369332"/>
              </a:xfrm>
              <a:prstGeom prst="rect">
                <a:avLst/>
              </a:prstGeom>
              <a:noFill/>
            </p:spPr>
            <p:txBody>
              <a:bodyPr wrap="square" rtlCol="0">
                <a:spAutoFit/>
              </a:bodyPr>
              <a:lstStyle/>
              <a:p>
                <a:r>
                  <a:rPr kumimoji="1" lang="ja-JP" altLang="en-US" dirty="0"/>
                  <a:t>バッテリーが長持ちしてほしい</a:t>
                </a:r>
              </a:p>
            </p:txBody>
          </p:sp>
          <p:sp>
            <p:nvSpPr>
              <p:cNvPr id="27" name="矢印: 上向き折線 26">
                <a:extLst>
                  <a:ext uri="{FF2B5EF4-FFF2-40B4-BE49-F238E27FC236}">
                    <a16:creationId xmlns:a16="http://schemas.microsoft.com/office/drawing/2014/main" id="{233AA1E6-4315-86CF-627B-71690565A19D}"/>
                  </a:ext>
                </a:extLst>
              </p:cNvPr>
              <p:cNvSpPr/>
              <p:nvPr/>
            </p:nvSpPr>
            <p:spPr>
              <a:xfrm rot="5400000">
                <a:off x="1267355" y="5248765"/>
                <a:ext cx="383251" cy="373878"/>
              </a:xfrm>
              <a:prstGeom prst="ben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8" name="直線コネクタ 27">
              <a:extLst>
                <a:ext uri="{FF2B5EF4-FFF2-40B4-BE49-F238E27FC236}">
                  <a16:creationId xmlns:a16="http://schemas.microsoft.com/office/drawing/2014/main" id="{5032ECB6-9C3D-985C-38B0-8D943B6EAF43}"/>
                </a:ext>
              </a:extLst>
            </p:cNvPr>
            <p:cNvCxnSpPr>
              <a:cxnSpLocks/>
            </p:cNvCxnSpPr>
            <p:nvPr/>
          </p:nvCxnSpPr>
          <p:spPr>
            <a:xfrm flipV="1">
              <a:off x="1665068" y="5600065"/>
              <a:ext cx="3333652" cy="4206"/>
            </a:xfrm>
            <a:prstGeom prst="line">
              <a:avLst/>
            </a:prstGeom>
            <a:noFill/>
            <a:ln w="19050" cap="flat" cmpd="sng" algn="ctr">
              <a:solidFill>
                <a:srgbClr val="0070C0"/>
              </a:solidFill>
              <a:prstDash val="solid"/>
            </a:ln>
            <a:effectLst/>
          </p:spPr>
        </p:cxnSp>
      </p:grpSp>
      <p:sp>
        <p:nvSpPr>
          <p:cNvPr id="6" name="テキスト ボックス 5">
            <a:extLst>
              <a:ext uri="{FF2B5EF4-FFF2-40B4-BE49-F238E27FC236}">
                <a16:creationId xmlns:a16="http://schemas.microsoft.com/office/drawing/2014/main" id="{03E11C16-9AAB-58AA-8B0E-401751B3805A}"/>
              </a:ext>
            </a:extLst>
          </p:cNvPr>
          <p:cNvSpPr txBox="1"/>
          <p:nvPr/>
        </p:nvSpPr>
        <p:spPr>
          <a:xfrm>
            <a:off x="457200" y="1324619"/>
            <a:ext cx="6918960" cy="400110"/>
          </a:xfrm>
          <a:prstGeom prst="rect">
            <a:avLst/>
          </a:prstGeom>
          <a:noFill/>
        </p:spPr>
        <p:txBody>
          <a:bodyPr wrap="square" rtlCol="0">
            <a:spAutoFit/>
          </a:bodyPr>
          <a:lstStyle/>
          <a:p>
            <a:r>
              <a:rPr lang="ja-JP" altLang="en-US" sz="2000" dirty="0"/>
              <a:t>○ </a:t>
            </a:r>
            <a:r>
              <a:rPr lang="ja-JP" altLang="en-US" sz="2000" dirty="0">
                <a:latin typeface="+mn-ea"/>
                <a:ea typeface="+mn-ea"/>
              </a:rPr>
              <a:t>期待</a:t>
            </a:r>
            <a:r>
              <a:rPr lang="en-US" altLang="ja-JP" sz="2000" dirty="0">
                <a:latin typeface="+mn-lt"/>
                <a:ea typeface="+mn-ea"/>
              </a:rPr>
              <a:t>(a)</a:t>
            </a:r>
            <a:r>
              <a:rPr lang="ja-JP" altLang="en-US" sz="2000" dirty="0">
                <a:latin typeface="+mn-ea"/>
                <a:ea typeface="+mn-ea"/>
              </a:rPr>
              <a:t>：</a:t>
            </a:r>
            <a:r>
              <a:rPr lang="ja-JP" altLang="en-US" sz="2000" b="1" dirty="0">
                <a:solidFill>
                  <a:srgbClr val="3F82BE"/>
                </a:solidFill>
                <a:latin typeface="+mj-ea"/>
                <a:ea typeface="+mj-ea"/>
              </a:rPr>
              <a:t>購入前の願望や期待</a:t>
            </a:r>
            <a:endParaRPr lang="en-US" altLang="ja-JP" sz="2000" b="1" dirty="0">
              <a:solidFill>
                <a:srgbClr val="3F82BE"/>
              </a:solidFill>
              <a:latin typeface="+mj-ea"/>
              <a:ea typeface="+mj-ea"/>
            </a:endParaRPr>
          </a:p>
        </p:txBody>
      </p:sp>
    </p:spTree>
    <p:extLst>
      <p:ext uri="{BB962C8B-B14F-4D97-AF65-F5344CB8AC3E}">
        <p14:creationId xmlns:p14="http://schemas.microsoft.com/office/powerpoint/2010/main" val="2772732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B5EA07-E874-D4B7-E975-ACC1BD8E4F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546B07-42FD-0D04-D8EF-A45BBA49DEB1}"/>
              </a:ext>
            </a:extLst>
          </p:cNvPr>
          <p:cNvSpPr>
            <a:spLocks noGrp="1"/>
          </p:cNvSpPr>
          <p:nvPr>
            <p:ph type="title"/>
          </p:nvPr>
        </p:nvSpPr>
        <p:spPr/>
        <p:txBody>
          <a:bodyPr/>
          <a:lstStyle/>
          <a:p>
            <a:r>
              <a:rPr kumimoji="1" lang="ja-JP" altLang="en-US" dirty="0"/>
              <a:t>期待の分類</a:t>
            </a:r>
          </a:p>
        </p:txBody>
      </p:sp>
      <p:sp>
        <p:nvSpPr>
          <p:cNvPr id="4" name="スライド番号プレースホルダー 3">
            <a:extLst>
              <a:ext uri="{FF2B5EF4-FFF2-40B4-BE49-F238E27FC236}">
                <a16:creationId xmlns:a16="http://schemas.microsoft.com/office/drawing/2014/main" id="{8F6699D6-03B8-D4A5-71BE-94D8302A0A24}"/>
              </a:ext>
            </a:extLst>
          </p:cNvPr>
          <p:cNvSpPr>
            <a:spLocks noGrp="1"/>
          </p:cNvSpPr>
          <p:nvPr>
            <p:ph type="sldNum" sz="quarter" idx="12"/>
          </p:nvPr>
        </p:nvSpPr>
        <p:spPr/>
        <p:txBody>
          <a:bodyPr/>
          <a:lstStyle/>
          <a:p>
            <a:fld id="{CF4A8B29-95AB-4EB3-9726-7CF76E557B81}" type="slidenum">
              <a:rPr kumimoji="1" lang="ja-JP" altLang="en-US" smtClean="0"/>
              <a:t>26</a:t>
            </a:fld>
            <a:endParaRPr kumimoji="1" lang="ja-JP" altLang="en-US"/>
          </a:p>
        </p:txBody>
      </p:sp>
      <p:sp>
        <p:nvSpPr>
          <p:cNvPr id="7" name="テキスト ボックス 6">
            <a:extLst>
              <a:ext uri="{FF2B5EF4-FFF2-40B4-BE49-F238E27FC236}">
                <a16:creationId xmlns:a16="http://schemas.microsoft.com/office/drawing/2014/main" id="{EF41B275-844F-E2C4-45F9-47C7636AB8F8}"/>
              </a:ext>
            </a:extLst>
          </p:cNvPr>
          <p:cNvSpPr txBox="1"/>
          <p:nvPr/>
        </p:nvSpPr>
        <p:spPr>
          <a:xfrm>
            <a:off x="457200" y="1308261"/>
            <a:ext cx="8686800" cy="400110"/>
          </a:xfrm>
          <a:prstGeom prst="rect">
            <a:avLst/>
          </a:prstGeom>
          <a:noFill/>
        </p:spPr>
        <p:txBody>
          <a:bodyPr wrap="square" rtlCol="0">
            <a:spAutoFit/>
          </a:bodyPr>
          <a:lstStyle/>
          <a:p>
            <a:pPr marL="0" indent="0">
              <a:buNone/>
            </a:pPr>
            <a:r>
              <a:rPr lang="ja-JP" altLang="en-US" sz="2000" dirty="0"/>
              <a:t>○ 期待</a:t>
            </a:r>
            <a:r>
              <a:rPr lang="en-US" altLang="ja-JP" sz="2000" dirty="0"/>
              <a:t>(b)</a:t>
            </a:r>
            <a:r>
              <a:rPr lang="ja-JP" altLang="en-US" sz="2000" dirty="0"/>
              <a:t>：</a:t>
            </a:r>
            <a:r>
              <a:rPr lang="ja-JP" altLang="en-US" sz="2000" b="1" dirty="0">
                <a:solidFill>
                  <a:srgbClr val="3F82BE"/>
                </a:solidFill>
                <a:latin typeface="+mj-ea"/>
                <a:ea typeface="+mj-ea"/>
              </a:rPr>
              <a:t>現状に対する改善点や不満</a:t>
            </a:r>
            <a:endParaRPr lang="en-US" altLang="ja-JP" sz="2000" b="1" dirty="0">
              <a:solidFill>
                <a:srgbClr val="3F82BE"/>
              </a:solidFill>
              <a:latin typeface="+mj-ea"/>
              <a:ea typeface="+mj-ea"/>
            </a:endParaRPr>
          </a:p>
        </p:txBody>
      </p:sp>
      <p:grpSp>
        <p:nvGrpSpPr>
          <p:cNvPr id="3" name="グループ化 2">
            <a:extLst>
              <a:ext uri="{FF2B5EF4-FFF2-40B4-BE49-F238E27FC236}">
                <a16:creationId xmlns:a16="http://schemas.microsoft.com/office/drawing/2014/main" id="{ED4E249C-7873-FE91-F6B7-D484A56047B8}"/>
              </a:ext>
            </a:extLst>
          </p:cNvPr>
          <p:cNvGrpSpPr/>
          <p:nvPr/>
        </p:nvGrpSpPr>
        <p:grpSpPr>
          <a:xfrm>
            <a:off x="817393" y="2633508"/>
            <a:ext cx="5481808" cy="641872"/>
            <a:chOff x="817393" y="2633508"/>
            <a:chExt cx="5481808" cy="641872"/>
          </a:xfrm>
        </p:grpSpPr>
        <p:sp>
          <p:nvSpPr>
            <p:cNvPr id="6" name="角丸四角形 15">
              <a:extLst>
                <a:ext uri="{FF2B5EF4-FFF2-40B4-BE49-F238E27FC236}">
                  <a16:creationId xmlns:a16="http://schemas.microsoft.com/office/drawing/2014/main" id="{32EBC87B-5BB7-F5F4-A4E5-0AD23D0358B4}"/>
                </a:ext>
              </a:extLst>
            </p:cNvPr>
            <p:cNvSpPr/>
            <p:nvPr/>
          </p:nvSpPr>
          <p:spPr>
            <a:xfrm>
              <a:off x="817393" y="2633508"/>
              <a:ext cx="5481808" cy="64187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lang="ja-JP" altLang="en-US" dirty="0">
                  <a:solidFill>
                    <a:schemeClr val="tx1"/>
                  </a:solidFill>
                </a:rPr>
                <a:t>スイッチが手元にあれば更に良いのですが</a:t>
              </a:r>
              <a:r>
                <a:rPr lang="en-US" altLang="ja-JP" dirty="0">
                  <a:solidFill>
                    <a:schemeClr val="tx1"/>
                  </a:solidFill>
                </a:rPr>
                <a:t>…</a:t>
              </a:r>
              <a:endParaRPr lang="ja-JP" altLang="en-US" dirty="0">
                <a:solidFill>
                  <a:schemeClr val="tx1"/>
                </a:solidFill>
              </a:endParaRPr>
            </a:p>
          </p:txBody>
        </p:sp>
        <p:cxnSp>
          <p:nvCxnSpPr>
            <p:cNvPr id="8" name="直線コネクタ 7">
              <a:extLst>
                <a:ext uri="{FF2B5EF4-FFF2-40B4-BE49-F238E27FC236}">
                  <a16:creationId xmlns:a16="http://schemas.microsoft.com/office/drawing/2014/main" id="{51E06868-27B5-C9B6-B51F-0EC5D9FCE270}"/>
                </a:ext>
              </a:extLst>
            </p:cNvPr>
            <p:cNvCxnSpPr>
              <a:cxnSpLocks/>
            </p:cNvCxnSpPr>
            <p:nvPr/>
          </p:nvCxnSpPr>
          <p:spPr>
            <a:xfrm>
              <a:off x="922216" y="3104858"/>
              <a:ext cx="2562664" cy="0"/>
            </a:xfrm>
            <a:prstGeom prst="line">
              <a:avLst/>
            </a:prstGeom>
            <a:noFill/>
            <a:ln w="19050" cap="flat" cmpd="sng" algn="ctr">
              <a:solidFill>
                <a:srgbClr val="0070C0"/>
              </a:solidFill>
              <a:prstDash val="solid"/>
            </a:ln>
            <a:effectLst/>
          </p:spPr>
        </p:cxnSp>
      </p:grpSp>
      <p:sp>
        <p:nvSpPr>
          <p:cNvPr id="9" name="テキスト ボックス 8">
            <a:extLst>
              <a:ext uri="{FF2B5EF4-FFF2-40B4-BE49-F238E27FC236}">
                <a16:creationId xmlns:a16="http://schemas.microsoft.com/office/drawing/2014/main" id="{CE9FD74B-7C52-F9BC-F95F-F88F73C34E62}"/>
              </a:ext>
            </a:extLst>
          </p:cNvPr>
          <p:cNvSpPr txBox="1"/>
          <p:nvPr/>
        </p:nvSpPr>
        <p:spPr>
          <a:xfrm>
            <a:off x="817393" y="2144101"/>
            <a:ext cx="3017520" cy="369332"/>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t>明示されているもの</a:t>
            </a:r>
          </a:p>
        </p:txBody>
      </p:sp>
      <p:sp>
        <p:nvSpPr>
          <p:cNvPr id="10" name="テキスト ボックス 9">
            <a:extLst>
              <a:ext uri="{FF2B5EF4-FFF2-40B4-BE49-F238E27FC236}">
                <a16:creationId xmlns:a16="http://schemas.microsoft.com/office/drawing/2014/main" id="{96C2A5A9-D2F3-0AD3-5EFA-1D878234C888}"/>
              </a:ext>
            </a:extLst>
          </p:cNvPr>
          <p:cNvSpPr txBox="1"/>
          <p:nvPr/>
        </p:nvSpPr>
        <p:spPr>
          <a:xfrm>
            <a:off x="817393" y="3922482"/>
            <a:ext cx="3017520" cy="369332"/>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dirty="0"/>
              <a:t>明示されないもの</a:t>
            </a:r>
          </a:p>
        </p:txBody>
      </p:sp>
      <p:grpSp>
        <p:nvGrpSpPr>
          <p:cNvPr id="11" name="グループ化 10">
            <a:extLst>
              <a:ext uri="{FF2B5EF4-FFF2-40B4-BE49-F238E27FC236}">
                <a16:creationId xmlns:a16="http://schemas.microsoft.com/office/drawing/2014/main" id="{2D9EDB3E-A493-33CA-3540-A9D8B7B61732}"/>
              </a:ext>
            </a:extLst>
          </p:cNvPr>
          <p:cNvGrpSpPr/>
          <p:nvPr/>
        </p:nvGrpSpPr>
        <p:grpSpPr>
          <a:xfrm>
            <a:off x="817393" y="4356991"/>
            <a:ext cx="4681464" cy="1157192"/>
            <a:chOff x="817393" y="4308565"/>
            <a:chExt cx="4681464" cy="1157192"/>
          </a:xfrm>
        </p:grpSpPr>
        <p:grpSp>
          <p:nvGrpSpPr>
            <p:cNvPr id="12" name="グループ化 11">
              <a:extLst>
                <a:ext uri="{FF2B5EF4-FFF2-40B4-BE49-F238E27FC236}">
                  <a16:creationId xmlns:a16="http://schemas.microsoft.com/office/drawing/2014/main" id="{D695D6C9-3414-9849-A0B6-A0FD45A5BA01}"/>
                </a:ext>
              </a:extLst>
            </p:cNvPr>
            <p:cNvGrpSpPr/>
            <p:nvPr/>
          </p:nvGrpSpPr>
          <p:grpSpPr>
            <a:xfrm>
              <a:off x="817393" y="4308565"/>
              <a:ext cx="4681464" cy="1153455"/>
              <a:chOff x="817393" y="4335830"/>
              <a:chExt cx="4681464" cy="1153455"/>
            </a:xfrm>
          </p:grpSpPr>
          <p:sp>
            <p:nvSpPr>
              <p:cNvPr id="14" name="角丸四角形 15">
                <a:extLst>
                  <a:ext uri="{FF2B5EF4-FFF2-40B4-BE49-F238E27FC236}">
                    <a16:creationId xmlns:a16="http://schemas.microsoft.com/office/drawing/2014/main" id="{F2DF3412-4E7F-77AB-5EA6-98DB808832AE}"/>
                  </a:ext>
                </a:extLst>
              </p:cNvPr>
              <p:cNvSpPr/>
              <p:nvPr/>
            </p:nvSpPr>
            <p:spPr>
              <a:xfrm>
                <a:off x="817393" y="4335830"/>
                <a:ext cx="4211807" cy="64187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ja-JP" altLang="en-US" dirty="0">
                    <a:solidFill>
                      <a:schemeClr val="tx1"/>
                    </a:solidFill>
                  </a:rPr>
                  <a:t>吸引力が足りていなかったのが残念</a:t>
                </a:r>
              </a:p>
            </p:txBody>
          </p:sp>
          <p:sp>
            <p:nvSpPr>
              <p:cNvPr id="15" name="テキスト ボックス 14">
                <a:extLst>
                  <a:ext uri="{FF2B5EF4-FFF2-40B4-BE49-F238E27FC236}">
                    <a16:creationId xmlns:a16="http://schemas.microsoft.com/office/drawing/2014/main" id="{389159A3-7723-03FF-BB7C-911F9BFA6BBD}"/>
                  </a:ext>
                </a:extLst>
              </p:cNvPr>
              <p:cNvSpPr txBox="1"/>
              <p:nvPr/>
            </p:nvSpPr>
            <p:spPr>
              <a:xfrm>
                <a:off x="1617737" y="5119953"/>
                <a:ext cx="3881120" cy="369332"/>
              </a:xfrm>
              <a:prstGeom prst="rect">
                <a:avLst/>
              </a:prstGeom>
              <a:noFill/>
            </p:spPr>
            <p:txBody>
              <a:bodyPr wrap="square" rtlCol="0">
                <a:spAutoFit/>
              </a:bodyPr>
              <a:lstStyle/>
              <a:p>
                <a:r>
                  <a:rPr kumimoji="1" lang="ja-JP" altLang="en-US" dirty="0"/>
                  <a:t>吸引力がもっと欲しい</a:t>
                </a:r>
              </a:p>
            </p:txBody>
          </p:sp>
          <p:sp>
            <p:nvSpPr>
              <p:cNvPr id="18" name="矢印: 上向き折線 17">
                <a:extLst>
                  <a:ext uri="{FF2B5EF4-FFF2-40B4-BE49-F238E27FC236}">
                    <a16:creationId xmlns:a16="http://schemas.microsoft.com/office/drawing/2014/main" id="{2CBA0C46-28C8-C935-DBED-D1A479B3834D}"/>
                  </a:ext>
                </a:extLst>
              </p:cNvPr>
              <p:cNvSpPr/>
              <p:nvPr/>
            </p:nvSpPr>
            <p:spPr>
              <a:xfrm rot="5400000">
                <a:off x="1267355" y="5077904"/>
                <a:ext cx="383251" cy="373878"/>
              </a:xfrm>
              <a:prstGeom prst="ben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3" name="直線コネクタ 12">
              <a:extLst>
                <a:ext uri="{FF2B5EF4-FFF2-40B4-BE49-F238E27FC236}">
                  <a16:creationId xmlns:a16="http://schemas.microsoft.com/office/drawing/2014/main" id="{4D371406-7110-7190-2F22-11A78EA45BE5}"/>
                </a:ext>
              </a:extLst>
            </p:cNvPr>
            <p:cNvCxnSpPr>
              <a:cxnSpLocks/>
            </p:cNvCxnSpPr>
            <p:nvPr/>
          </p:nvCxnSpPr>
          <p:spPr>
            <a:xfrm flipV="1">
              <a:off x="1689981" y="5429203"/>
              <a:ext cx="2333379" cy="36554"/>
            </a:xfrm>
            <a:prstGeom prst="line">
              <a:avLst/>
            </a:prstGeom>
            <a:noFill/>
            <a:ln w="19050" cap="flat" cmpd="sng" algn="ctr">
              <a:solidFill>
                <a:srgbClr val="0070C0"/>
              </a:solidFill>
              <a:prstDash val="solid"/>
            </a:ln>
            <a:effectLst/>
          </p:spPr>
        </p:cxnSp>
      </p:grpSp>
    </p:spTree>
    <p:extLst>
      <p:ext uri="{BB962C8B-B14F-4D97-AF65-F5344CB8AC3E}">
        <p14:creationId xmlns:p14="http://schemas.microsoft.com/office/powerpoint/2010/main" val="3337025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9F03079-0114-8D51-1FFB-3ECA45F3D4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915C59-516E-9499-F957-29BA91376C82}"/>
              </a:ext>
            </a:extLst>
          </p:cNvPr>
          <p:cNvSpPr>
            <a:spLocks noGrp="1"/>
          </p:cNvSpPr>
          <p:nvPr>
            <p:ph type="title"/>
          </p:nvPr>
        </p:nvSpPr>
        <p:spPr/>
        <p:txBody>
          <a:bodyPr/>
          <a:lstStyle/>
          <a:p>
            <a:r>
              <a:rPr kumimoji="1" lang="ja-JP" altLang="en-US" dirty="0"/>
              <a:t>実験</a:t>
            </a:r>
            <a:r>
              <a:rPr lang="en-US" altLang="ja-JP" dirty="0"/>
              <a:t>2</a:t>
            </a:r>
            <a:r>
              <a:rPr kumimoji="1" lang="en-US" altLang="ja-JP" dirty="0"/>
              <a:t> </a:t>
            </a:r>
            <a:r>
              <a:rPr kumimoji="1" lang="ja-JP" altLang="en-US" dirty="0"/>
              <a:t>文分類による期待の抽出</a:t>
            </a:r>
          </a:p>
        </p:txBody>
      </p:sp>
      <p:sp>
        <p:nvSpPr>
          <p:cNvPr id="4" name="スライド番号プレースホルダー 3">
            <a:extLst>
              <a:ext uri="{FF2B5EF4-FFF2-40B4-BE49-F238E27FC236}">
                <a16:creationId xmlns:a16="http://schemas.microsoft.com/office/drawing/2014/main" id="{35500DE0-3FDA-2168-1B17-3C60DF5E4CF9}"/>
              </a:ext>
            </a:extLst>
          </p:cNvPr>
          <p:cNvSpPr>
            <a:spLocks noGrp="1"/>
          </p:cNvSpPr>
          <p:nvPr>
            <p:ph type="sldNum" sz="quarter" idx="12"/>
          </p:nvPr>
        </p:nvSpPr>
        <p:spPr/>
        <p:txBody>
          <a:bodyPr/>
          <a:lstStyle/>
          <a:p>
            <a:fld id="{CF4A8B29-95AB-4EB3-9726-7CF76E557B81}" type="slidenum">
              <a:rPr kumimoji="1" lang="ja-JP" altLang="en-US" smtClean="0"/>
              <a:t>27</a:t>
            </a:fld>
            <a:endParaRPr kumimoji="1" lang="ja-JP" altLang="en-US"/>
          </a:p>
        </p:txBody>
      </p:sp>
      <p:graphicFrame>
        <p:nvGraphicFramePr>
          <p:cNvPr id="7" name="表 6">
            <a:extLst>
              <a:ext uri="{FF2B5EF4-FFF2-40B4-BE49-F238E27FC236}">
                <a16:creationId xmlns:a16="http://schemas.microsoft.com/office/drawing/2014/main" id="{A2F5F658-179F-BC11-16AB-3BD5CEB2B867}"/>
              </a:ext>
            </a:extLst>
          </p:cNvPr>
          <p:cNvGraphicFramePr>
            <a:graphicFrameLocks noGrp="1"/>
          </p:cNvGraphicFramePr>
          <p:nvPr>
            <p:extLst>
              <p:ext uri="{D42A27DB-BD31-4B8C-83A1-F6EECF244321}">
                <p14:modId xmlns:p14="http://schemas.microsoft.com/office/powerpoint/2010/main" val="451350542"/>
              </p:ext>
            </p:extLst>
          </p:nvPr>
        </p:nvGraphicFramePr>
        <p:xfrm>
          <a:off x="281265" y="3191929"/>
          <a:ext cx="3726180" cy="1368000"/>
        </p:xfrm>
        <a:graphic>
          <a:graphicData uri="http://schemas.openxmlformats.org/drawingml/2006/table">
            <a:tbl>
              <a:tblPr firstRow="1" bandRow="1">
                <a:tableStyleId>{5940675A-B579-460E-94D1-54222C63F5DA}</a:tableStyleId>
              </a:tblPr>
              <a:tblGrid>
                <a:gridCol w="931545">
                  <a:extLst>
                    <a:ext uri="{9D8B030D-6E8A-4147-A177-3AD203B41FA5}">
                      <a16:colId xmlns:a16="http://schemas.microsoft.com/office/drawing/2014/main" val="2537196469"/>
                    </a:ext>
                  </a:extLst>
                </a:gridCol>
                <a:gridCol w="931545">
                  <a:extLst>
                    <a:ext uri="{9D8B030D-6E8A-4147-A177-3AD203B41FA5}">
                      <a16:colId xmlns:a16="http://schemas.microsoft.com/office/drawing/2014/main" val="2952872454"/>
                    </a:ext>
                  </a:extLst>
                </a:gridCol>
                <a:gridCol w="931545">
                  <a:extLst>
                    <a:ext uri="{9D8B030D-6E8A-4147-A177-3AD203B41FA5}">
                      <a16:colId xmlns:a16="http://schemas.microsoft.com/office/drawing/2014/main" val="3239270041"/>
                    </a:ext>
                  </a:extLst>
                </a:gridCol>
                <a:gridCol w="931545">
                  <a:extLst>
                    <a:ext uri="{9D8B030D-6E8A-4147-A177-3AD203B41FA5}">
                      <a16:colId xmlns:a16="http://schemas.microsoft.com/office/drawing/2014/main" val="2861507564"/>
                    </a:ext>
                  </a:extLst>
                </a:gridCol>
              </a:tblGrid>
              <a:tr h="432000">
                <a:tc>
                  <a:txBody>
                    <a:bodyPr/>
                    <a:lstStyle/>
                    <a:p>
                      <a:pPr algn="ctr"/>
                      <a:endParaRPr kumimoji="1" lang="ja-JP" alt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sz="1600" dirty="0"/>
                        <a:t>適合率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ja-JP" altLang="en-US" sz="1600" dirty="0"/>
                        <a:t>再現率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600" dirty="0"/>
                        <a:t>F</a:t>
                      </a:r>
                      <a:r>
                        <a:rPr kumimoji="1" lang="ja-JP" altLang="en-US" sz="1600" dirty="0"/>
                        <a:t>値</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1557955298"/>
                  </a:ext>
                </a:extLst>
              </a:tr>
              <a:tr h="468000">
                <a:tc>
                  <a:txBody>
                    <a:bodyPr/>
                    <a:lstStyle/>
                    <a:p>
                      <a:pPr algn="ctr"/>
                      <a:r>
                        <a:rPr kumimoji="1" lang="ja-JP" altLang="en-US" sz="1600" dirty="0"/>
                        <a:t>期待</a:t>
                      </a:r>
                      <a:r>
                        <a:rPr kumimoji="1" lang="en-US" altLang="ja-JP" sz="1600" dirty="0"/>
                        <a:t>(a)</a:t>
                      </a:r>
                      <a:endParaRPr kumimoji="1" lang="ja-JP"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ctr"/>
                      <a:r>
                        <a:rPr kumimoji="1" lang="en-US" altLang="ja-JP" sz="1600" b="0" dirty="0"/>
                        <a:t>0.952</a:t>
                      </a:r>
                      <a:endParaRPr kumimoji="1" lang="ja-JP" altLang="en-US" sz="16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600" b="0" dirty="0"/>
                        <a:t>0.857</a:t>
                      </a:r>
                      <a:endParaRPr kumimoji="1" lang="ja-JP" altLang="en-US" sz="16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kumimoji="1" lang="en-US" altLang="ja-JP" sz="1600" b="1" dirty="0"/>
                        <a:t>0.902</a:t>
                      </a:r>
                      <a:endParaRPr kumimoji="1" lang="ja-JP" altLang="en-US" sz="1600" b="1"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896172"/>
                  </a:ext>
                </a:extLst>
              </a:tr>
              <a:tr h="468000">
                <a:tc>
                  <a:txBody>
                    <a:bodyPr/>
                    <a:lstStyle/>
                    <a:p>
                      <a:pPr algn="ctr"/>
                      <a:r>
                        <a:rPr kumimoji="1" lang="ja-JP" altLang="en-US" sz="1600" dirty="0"/>
                        <a:t>期待</a:t>
                      </a:r>
                      <a:r>
                        <a:rPr kumimoji="1" lang="en-US" altLang="ja-JP" sz="1600" dirty="0"/>
                        <a:t>(b)</a:t>
                      </a:r>
                      <a:endParaRPr kumimoji="1" lang="ja-JP"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AED"/>
                    </a:solidFill>
                  </a:tcPr>
                </a:tc>
                <a:tc>
                  <a:txBody>
                    <a:bodyPr/>
                    <a:lstStyle/>
                    <a:p>
                      <a:pPr algn="ctr"/>
                      <a:r>
                        <a:rPr kumimoji="1" lang="en-US" altLang="ja-JP" sz="1600" b="0" dirty="0"/>
                        <a:t>0.831</a:t>
                      </a:r>
                      <a:endParaRPr kumimoji="1" lang="ja-JP" altLang="en-US" sz="16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600" b="0" dirty="0"/>
                        <a:t>0.914</a:t>
                      </a:r>
                      <a:endParaRPr kumimoji="1" lang="ja-JP" altLang="en-US" sz="16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600" b="1" dirty="0"/>
                        <a:t>0.871</a:t>
                      </a:r>
                      <a:endParaRPr kumimoji="1" lang="ja-JP" altLang="en-US" sz="1600" b="1"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9338056"/>
                  </a:ext>
                </a:extLst>
              </a:tr>
            </a:tbl>
          </a:graphicData>
        </a:graphic>
      </p:graphicFrame>
      <p:graphicFrame>
        <p:nvGraphicFramePr>
          <p:cNvPr id="10" name="表 9">
            <a:extLst>
              <a:ext uri="{FF2B5EF4-FFF2-40B4-BE49-F238E27FC236}">
                <a16:creationId xmlns:a16="http://schemas.microsoft.com/office/drawing/2014/main" id="{B3417B44-0635-B3CE-86F8-A3E91B551641}"/>
              </a:ext>
            </a:extLst>
          </p:cNvPr>
          <p:cNvGraphicFramePr>
            <a:graphicFrameLocks noGrp="1"/>
          </p:cNvGraphicFramePr>
          <p:nvPr>
            <p:extLst>
              <p:ext uri="{D42A27DB-BD31-4B8C-83A1-F6EECF244321}">
                <p14:modId xmlns:p14="http://schemas.microsoft.com/office/powerpoint/2010/main" val="1631937516"/>
              </p:ext>
            </p:extLst>
          </p:nvPr>
        </p:nvGraphicFramePr>
        <p:xfrm>
          <a:off x="4400550" y="3191929"/>
          <a:ext cx="4462185" cy="1767840"/>
        </p:xfrm>
        <a:graphic>
          <a:graphicData uri="http://schemas.openxmlformats.org/drawingml/2006/table">
            <a:tbl>
              <a:tblPr firstRow="1" bandRow="1">
                <a:tableStyleId>{5940675A-B579-460E-94D1-54222C63F5DA}</a:tableStyleId>
              </a:tblPr>
              <a:tblGrid>
                <a:gridCol w="430185">
                  <a:extLst>
                    <a:ext uri="{9D8B030D-6E8A-4147-A177-3AD203B41FA5}">
                      <a16:colId xmlns:a16="http://schemas.microsoft.com/office/drawing/2014/main" val="2537196469"/>
                    </a:ext>
                  </a:extLst>
                </a:gridCol>
                <a:gridCol w="1008000">
                  <a:extLst>
                    <a:ext uri="{9D8B030D-6E8A-4147-A177-3AD203B41FA5}">
                      <a16:colId xmlns:a16="http://schemas.microsoft.com/office/drawing/2014/main" val="1265064795"/>
                    </a:ext>
                  </a:extLst>
                </a:gridCol>
                <a:gridCol w="1008000">
                  <a:extLst>
                    <a:ext uri="{9D8B030D-6E8A-4147-A177-3AD203B41FA5}">
                      <a16:colId xmlns:a16="http://schemas.microsoft.com/office/drawing/2014/main" val="2952872454"/>
                    </a:ext>
                  </a:extLst>
                </a:gridCol>
                <a:gridCol w="1008000">
                  <a:extLst>
                    <a:ext uri="{9D8B030D-6E8A-4147-A177-3AD203B41FA5}">
                      <a16:colId xmlns:a16="http://schemas.microsoft.com/office/drawing/2014/main" val="3239270041"/>
                    </a:ext>
                  </a:extLst>
                </a:gridCol>
                <a:gridCol w="1008000">
                  <a:extLst>
                    <a:ext uri="{9D8B030D-6E8A-4147-A177-3AD203B41FA5}">
                      <a16:colId xmlns:a16="http://schemas.microsoft.com/office/drawing/2014/main" val="2861507564"/>
                    </a:ext>
                  </a:extLst>
                </a:gridCol>
              </a:tblGrid>
              <a:tr h="0">
                <a:tc rowSpan="2" gridSpan="2">
                  <a:txBody>
                    <a:bodyPr/>
                    <a:lstStyle/>
                    <a:p>
                      <a:pPr algn="ctr"/>
                      <a:endParaRPr kumimoji="1" lang="ja-JP"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rowSpan="2" hMerge="1">
                  <a:txBody>
                    <a:bodyPr/>
                    <a:lstStyle/>
                    <a:p>
                      <a:endParaRPr kumimoji="1" lang="ja-JP" altLang="en-US"/>
                    </a:p>
                  </a:txBody>
                  <a:tcPr/>
                </a:tc>
                <a:tc gridSpan="3">
                  <a:txBody>
                    <a:bodyPr/>
                    <a:lstStyle/>
                    <a:p>
                      <a:pPr algn="ctr"/>
                      <a:r>
                        <a:rPr kumimoji="1" lang="ja-JP" altLang="en-US" sz="1600" dirty="0"/>
                        <a:t>予測</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hMerge="1">
                  <a:txBody>
                    <a:bodyPr/>
                    <a:lstStyle/>
                    <a:p>
                      <a:pPr algn="ctr"/>
                      <a:endParaRPr kumimoji="1" lang="ja-JP" alt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hMerge="1">
                  <a:txBody>
                    <a:bodyPr/>
                    <a:lstStyle/>
                    <a:p>
                      <a:pPr algn="ctr"/>
                      <a:endParaRPr kumimoji="1" lang="ja-JP" alt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1557955298"/>
                  </a:ext>
                </a:extLst>
              </a:tr>
              <a:tr h="0">
                <a:tc gridSpan="2" vMerge="1">
                  <a:txBody>
                    <a:bodyPr/>
                    <a:lstStyle/>
                    <a:p>
                      <a:endParaRPr kumimoji="1" lang="ja-JP" altLang="en-US"/>
                    </a:p>
                  </a:txBody>
                  <a:tcPr/>
                </a:tc>
                <a:tc hMerge="1"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t>期待</a:t>
                      </a:r>
                      <a:r>
                        <a:rPr kumimoji="1" lang="en-US" altLang="ja-JP" sz="1600" dirty="0"/>
                        <a:t>(a)</a:t>
                      </a:r>
                      <a:endParaRPr kumimoji="1" lang="ja-JP"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t>期待</a:t>
                      </a:r>
                      <a:r>
                        <a:rPr kumimoji="1" lang="en-US" altLang="ja-JP" sz="1600" dirty="0"/>
                        <a:t>(b)</a:t>
                      </a:r>
                      <a:endParaRPr kumimoji="1" lang="ja-JP"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t>期待なし</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extLst>
                  <a:ext uri="{0D108BD9-81ED-4DB2-BD59-A6C34878D82A}">
                    <a16:rowId xmlns:a16="http://schemas.microsoft.com/office/drawing/2014/main" val="2484475549"/>
                  </a:ext>
                </a:extLst>
              </a:tr>
              <a:tr h="324000">
                <a:tc rowSpan="3">
                  <a:txBody>
                    <a:bodyPr/>
                    <a:lstStyle/>
                    <a:p>
                      <a:pPr algn="ctr"/>
                      <a:r>
                        <a:rPr kumimoji="1" lang="ja-JP" altLang="en-US" sz="1600" dirty="0"/>
                        <a:t>正解</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t>期待</a:t>
                      </a:r>
                      <a:r>
                        <a:rPr kumimoji="1" lang="en-US" altLang="ja-JP" sz="1600" dirty="0"/>
                        <a:t>(a)</a:t>
                      </a:r>
                      <a:endParaRPr kumimoji="1" lang="ja-JP"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r"/>
                      <a:r>
                        <a:rPr kumimoji="1" lang="en-US" altLang="ja-JP" sz="1800" b="0" dirty="0"/>
                        <a:t>60</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r>
                        <a:rPr kumimoji="1" lang="en-US" altLang="ja-JP" sz="1800" b="0" dirty="0"/>
                        <a:t>2</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r>
                        <a:rPr kumimoji="1" lang="en-US" altLang="ja-JP" sz="1800" b="0" dirty="0"/>
                        <a:t>8</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896172"/>
                  </a:ext>
                </a:extLst>
              </a:tr>
              <a:tr h="324000">
                <a:tc vMerge="1">
                  <a:txBody>
                    <a:bodyPr/>
                    <a:lstStyle/>
                    <a:p>
                      <a:pPr algn="ctr"/>
                      <a:endParaRPr kumimoji="1" lang="ja-JP" alt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t>期待</a:t>
                      </a:r>
                      <a:r>
                        <a:rPr kumimoji="1" lang="en-US" altLang="ja-JP" sz="1600" dirty="0"/>
                        <a:t>(b)</a:t>
                      </a:r>
                      <a:endParaRPr kumimoji="1" lang="ja-JP"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r"/>
                      <a:r>
                        <a:rPr kumimoji="1" lang="en-US" altLang="ja-JP" sz="1800" b="0" dirty="0"/>
                        <a:t>0</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r>
                        <a:rPr kumimoji="1" lang="en-US" altLang="ja-JP" sz="1800" b="0" dirty="0"/>
                        <a:t>64</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r>
                        <a:rPr kumimoji="1" lang="en-US" altLang="ja-JP" sz="1800" b="0" dirty="0"/>
                        <a:t>6</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9338056"/>
                  </a:ext>
                </a:extLst>
              </a:tr>
              <a:tr h="324000">
                <a:tc vMerge="1">
                  <a:txBody>
                    <a:bodyPr/>
                    <a:lstStyle/>
                    <a:p>
                      <a:pPr algn="ctr"/>
                      <a:endParaRPr kumimoji="1" lang="ja-JP" alt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dirty="0"/>
                        <a:t>期待なし</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AED"/>
                    </a:solidFill>
                  </a:tcPr>
                </a:tc>
                <a:tc>
                  <a:txBody>
                    <a:bodyPr/>
                    <a:lstStyle/>
                    <a:p>
                      <a:pPr algn="r"/>
                      <a:r>
                        <a:rPr kumimoji="1" lang="en-US" altLang="ja-JP" sz="1800" b="0" dirty="0"/>
                        <a:t>3</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r>
                        <a:rPr kumimoji="1" lang="en-US" altLang="ja-JP" sz="1800" b="0" dirty="0"/>
                        <a:t>11</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a:r>
                        <a:rPr kumimoji="1" lang="en-US" altLang="ja-JP" sz="1800" b="0" dirty="0"/>
                        <a:t>126</a:t>
                      </a:r>
                      <a:endParaRPr kumimoji="1" lang="ja-JP" altLang="en-US" sz="1800" b="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6940403"/>
                  </a:ext>
                </a:extLst>
              </a:tr>
            </a:tbl>
          </a:graphicData>
        </a:graphic>
      </p:graphicFrame>
      <p:sp>
        <p:nvSpPr>
          <p:cNvPr id="11" name="テキスト ボックス 10">
            <a:extLst>
              <a:ext uri="{FF2B5EF4-FFF2-40B4-BE49-F238E27FC236}">
                <a16:creationId xmlns:a16="http://schemas.microsoft.com/office/drawing/2014/main" id="{DFC5027D-3DF3-4DE6-1B9E-D82B8D1A90B8}"/>
              </a:ext>
            </a:extLst>
          </p:cNvPr>
          <p:cNvSpPr txBox="1"/>
          <p:nvPr/>
        </p:nvSpPr>
        <p:spPr>
          <a:xfrm>
            <a:off x="547365" y="1935827"/>
            <a:ext cx="2600960" cy="400110"/>
          </a:xfrm>
          <a:prstGeom prst="rect">
            <a:avLst/>
          </a:prstGeom>
          <a:noFill/>
        </p:spPr>
        <p:txBody>
          <a:bodyPr wrap="square" rtlCol="0">
            <a:spAutoFit/>
          </a:bodyPr>
          <a:lstStyle/>
          <a:p>
            <a:r>
              <a:rPr kumimoji="1" lang="ja-JP" altLang="en-US" sz="2000" dirty="0"/>
              <a:t>正解率：</a:t>
            </a:r>
            <a:r>
              <a:rPr kumimoji="1" lang="en-US" altLang="ja-JP" sz="2000" dirty="0"/>
              <a:t>89.3%</a:t>
            </a:r>
            <a:endParaRPr kumimoji="1" lang="ja-JP" altLang="en-US" sz="2000" dirty="0"/>
          </a:p>
        </p:txBody>
      </p:sp>
      <p:sp>
        <p:nvSpPr>
          <p:cNvPr id="5" name="タイトル 1">
            <a:extLst>
              <a:ext uri="{FF2B5EF4-FFF2-40B4-BE49-F238E27FC236}">
                <a16:creationId xmlns:a16="http://schemas.microsoft.com/office/drawing/2014/main" id="{65380322-1326-69F4-3999-192674CE5C7E}"/>
              </a:ext>
            </a:extLst>
          </p:cNvPr>
          <p:cNvSpPr txBox="1">
            <a:spLocks/>
          </p:cNvSpPr>
          <p:nvPr/>
        </p:nvSpPr>
        <p:spPr>
          <a:xfrm>
            <a:off x="457200" y="1332936"/>
            <a:ext cx="5599435" cy="494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200" b="1" kern="1200">
                <a:solidFill>
                  <a:schemeClr val="tx1"/>
                </a:solidFill>
                <a:latin typeface="+mn-ea"/>
                <a:ea typeface="+mn-ea"/>
                <a:cs typeface="+mj-cs"/>
              </a:defRPr>
            </a:lvl1pPr>
          </a:lstStyle>
          <a:p>
            <a:r>
              <a:rPr lang="ja-JP" altLang="en-US" sz="2800" dirty="0">
                <a:latin typeface="+mj-ea"/>
                <a:ea typeface="+mj-ea"/>
              </a:rPr>
              <a:t>実験結果</a:t>
            </a:r>
          </a:p>
        </p:txBody>
      </p:sp>
      <p:sp>
        <p:nvSpPr>
          <p:cNvPr id="3" name="テキスト ボックス 2">
            <a:extLst>
              <a:ext uri="{FF2B5EF4-FFF2-40B4-BE49-F238E27FC236}">
                <a16:creationId xmlns:a16="http://schemas.microsoft.com/office/drawing/2014/main" id="{6A57484C-3A0C-93D4-9163-03F967028BAB}"/>
              </a:ext>
            </a:extLst>
          </p:cNvPr>
          <p:cNvSpPr txBox="1"/>
          <p:nvPr/>
        </p:nvSpPr>
        <p:spPr>
          <a:xfrm>
            <a:off x="281265" y="2683508"/>
            <a:ext cx="2600960" cy="400110"/>
          </a:xfrm>
          <a:prstGeom prst="rect">
            <a:avLst/>
          </a:prstGeom>
          <a:noFill/>
        </p:spPr>
        <p:txBody>
          <a:bodyPr wrap="square" rtlCol="0">
            <a:spAutoFit/>
          </a:bodyPr>
          <a:lstStyle/>
          <a:p>
            <a:r>
              <a:rPr kumimoji="1" lang="ja-JP" altLang="en-US" sz="2000" dirty="0"/>
              <a:t>精度</a:t>
            </a:r>
          </a:p>
        </p:txBody>
      </p:sp>
      <p:sp>
        <p:nvSpPr>
          <p:cNvPr id="6" name="テキスト ボックス 5">
            <a:extLst>
              <a:ext uri="{FF2B5EF4-FFF2-40B4-BE49-F238E27FC236}">
                <a16:creationId xmlns:a16="http://schemas.microsoft.com/office/drawing/2014/main" id="{1E6F8A6B-A771-16A1-0AB5-2B481DE3E813}"/>
              </a:ext>
            </a:extLst>
          </p:cNvPr>
          <p:cNvSpPr txBox="1"/>
          <p:nvPr/>
        </p:nvSpPr>
        <p:spPr>
          <a:xfrm>
            <a:off x="4400550" y="2683508"/>
            <a:ext cx="3347136" cy="400110"/>
          </a:xfrm>
          <a:prstGeom prst="rect">
            <a:avLst/>
          </a:prstGeom>
          <a:noFill/>
        </p:spPr>
        <p:txBody>
          <a:bodyPr wrap="square" rtlCol="0">
            <a:spAutoFit/>
          </a:bodyPr>
          <a:lstStyle/>
          <a:p>
            <a:r>
              <a:rPr kumimoji="1" lang="ja-JP" altLang="en-US" sz="2000" dirty="0"/>
              <a:t>予測と正解の組み分け</a:t>
            </a:r>
          </a:p>
        </p:txBody>
      </p:sp>
    </p:spTree>
    <p:extLst>
      <p:ext uri="{BB962C8B-B14F-4D97-AF65-F5344CB8AC3E}">
        <p14:creationId xmlns:p14="http://schemas.microsoft.com/office/powerpoint/2010/main" val="3678241982"/>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
      <a:majorFont>
        <a:latin typeface="Segoe UI"/>
        <a:ea typeface="游ゴシック"/>
        <a:cs typeface=""/>
      </a:majorFont>
      <a:minorFont>
        <a:latin typeface="Segoe UI"/>
        <a:ea typeface="游ゴシック Medium"/>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5716</TotalTime>
  <Words>3748</Words>
  <Application>Microsoft Macintosh PowerPoint</Application>
  <PresentationFormat>画面に合わせる (4:3)</PresentationFormat>
  <Paragraphs>419</Paragraphs>
  <Slides>28</Slides>
  <Notes>24</Notes>
  <HiddenSlides>5</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28</vt:i4>
      </vt:variant>
    </vt:vector>
  </HeadingPairs>
  <TitlesOfParts>
    <vt:vector size="34" baseType="lpstr">
      <vt:lpstr>NotoSansJP</vt:lpstr>
      <vt:lpstr>游ゴシック</vt:lpstr>
      <vt:lpstr>游ゴシック Medium</vt:lpstr>
      <vt:lpstr>Arial</vt:lpstr>
      <vt:lpstr>Segoe UI</vt:lpstr>
      <vt:lpstr>Office テーマ</vt:lpstr>
      <vt:lpstr>期待表現に着目した レビュー文章からの評判情報抽出に 関する研究</vt:lpstr>
      <vt:lpstr>研究背景</vt:lpstr>
      <vt:lpstr>研究背景</vt:lpstr>
      <vt:lpstr>関連研究</vt:lpstr>
      <vt:lpstr>関連研究</vt:lpstr>
      <vt:lpstr>関連研究</vt:lpstr>
      <vt:lpstr>関連研究</vt:lpstr>
      <vt:lpstr>研究目的</vt:lpstr>
      <vt:lpstr>手法</vt:lpstr>
      <vt:lpstr>実験1 系列ラベリングによる抽出</vt:lpstr>
      <vt:lpstr>実験1 系列ラベリングによる抽出</vt:lpstr>
      <vt:lpstr>実験1 系列ラベリングによる抽出</vt:lpstr>
      <vt:lpstr>実験1 系列ラベリングによる抽出</vt:lpstr>
      <vt:lpstr>実験1 系列ラベリングによる抽出</vt:lpstr>
      <vt:lpstr>実験1 系列ラベリングによる抽出</vt:lpstr>
      <vt:lpstr>実験2 文分類による期待の抽出</vt:lpstr>
      <vt:lpstr>実験2 文分類による期待の抽出</vt:lpstr>
      <vt:lpstr>実験2 文分類による期待の抽出</vt:lpstr>
      <vt:lpstr>実験2 文分類による期待の抽出</vt:lpstr>
      <vt:lpstr>実験2 文分類による期待の抽出</vt:lpstr>
      <vt:lpstr>まとめ</vt:lpstr>
      <vt:lpstr>今後の課題</vt:lpstr>
      <vt:lpstr>参考文献</vt:lpstr>
      <vt:lpstr>期待の現れ方</vt:lpstr>
      <vt:lpstr>系列ラベリングの評価指標</vt:lpstr>
      <vt:lpstr>期待の分類</vt:lpstr>
      <vt:lpstr>期待の分類</vt:lpstr>
      <vt:lpstr>実験2 文分類による期待の抽出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期待表現に着目したレビュー文章からの評判情報抽出に関する研究</dc:title>
  <dc:creator>Tsukada Shuhei</dc:creator>
  <cp:lastModifiedBy>Shimmura Shuru</cp:lastModifiedBy>
  <cp:revision>40</cp:revision>
  <dcterms:created xsi:type="dcterms:W3CDTF">2024-01-20T02:37:16Z</dcterms:created>
  <dcterms:modified xsi:type="dcterms:W3CDTF">2025-01-26T07:15:58Z</dcterms:modified>
</cp:coreProperties>
</file>