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5"/>
  </p:notesMasterIdLst>
  <p:sldIdLst>
    <p:sldId id="256" r:id="rId2"/>
    <p:sldId id="257" r:id="rId3"/>
    <p:sldId id="258" r:id="rId4"/>
    <p:sldId id="259" r:id="rId5"/>
    <p:sldId id="261" r:id="rId6"/>
    <p:sldId id="260" r:id="rId7"/>
    <p:sldId id="277" r:id="rId8"/>
    <p:sldId id="263" r:id="rId9"/>
    <p:sldId id="262" r:id="rId10"/>
    <p:sldId id="264" r:id="rId11"/>
    <p:sldId id="265" r:id="rId12"/>
    <p:sldId id="267" r:id="rId13"/>
    <p:sldId id="278" r:id="rId14"/>
    <p:sldId id="268" r:id="rId15"/>
    <p:sldId id="270" r:id="rId16"/>
    <p:sldId id="271" r:id="rId17"/>
    <p:sldId id="272" r:id="rId18"/>
    <p:sldId id="273" r:id="rId19"/>
    <p:sldId id="279" r:id="rId20"/>
    <p:sldId id="280" r:id="rId21"/>
    <p:sldId id="274" r:id="rId22"/>
    <p:sldId id="275" r:id="rId23"/>
    <p:sldId id="276"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淡色スタイル 2 - アクセント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08"/>
    <p:restoredTop sz="80117"/>
  </p:normalViewPr>
  <p:slideViewPr>
    <p:cSldViewPr snapToGrid="0">
      <p:cViewPr>
        <p:scale>
          <a:sx n="105" d="100"/>
          <a:sy n="105" d="100"/>
        </p:scale>
        <p:origin x="2288" y="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C54BAB-784E-FC4D-81AD-7CE66906772C}" type="datetimeFigureOut">
              <a:rPr kumimoji="1" lang="ja-JP" altLang="en-US" smtClean="0"/>
              <a:t>2025/1/24</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049665-1117-4B43-AF8F-91F94646FBBB}" type="slidenum">
              <a:rPr kumimoji="1" lang="ja-JP" altLang="en-US" smtClean="0"/>
              <a:t>‹#›</a:t>
            </a:fld>
            <a:endParaRPr kumimoji="1" lang="ja-JP" altLang="en-US"/>
          </a:p>
        </p:txBody>
      </p:sp>
    </p:spTree>
    <p:extLst>
      <p:ext uri="{BB962C8B-B14F-4D97-AF65-F5344CB8AC3E}">
        <p14:creationId xmlns:p14="http://schemas.microsoft.com/office/powerpoint/2010/main" val="12852226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これらの作業を同時に行うことは、提案者にとって大きな負担となり、対応の質やスピードに影響を与える可能性がある。</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2</a:t>
            </a:fld>
            <a:endParaRPr kumimoji="1" lang="ja-JP" altLang="en-US"/>
          </a:p>
        </p:txBody>
      </p:sp>
    </p:spTree>
    <p:extLst>
      <p:ext uri="{BB962C8B-B14F-4D97-AF65-F5344CB8AC3E}">
        <p14:creationId xmlns:p14="http://schemas.microsoft.com/office/powerpoint/2010/main" val="14918547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4</a:t>
            </a:fld>
            <a:endParaRPr kumimoji="1" lang="ja-JP" altLang="en-US"/>
          </a:p>
        </p:txBody>
      </p:sp>
    </p:spTree>
    <p:extLst>
      <p:ext uri="{BB962C8B-B14F-4D97-AF65-F5344CB8AC3E}">
        <p14:creationId xmlns:p14="http://schemas.microsoft.com/office/powerpoint/2010/main" val="2408486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5</a:t>
            </a:fld>
            <a:endParaRPr kumimoji="1" lang="ja-JP" altLang="en-US"/>
          </a:p>
        </p:txBody>
      </p:sp>
    </p:spTree>
    <p:extLst>
      <p:ext uri="{BB962C8B-B14F-4D97-AF65-F5344CB8AC3E}">
        <p14:creationId xmlns:p14="http://schemas.microsoft.com/office/powerpoint/2010/main" val="29059467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pPr>
              <a:lnSpc>
                <a:spcPct val="120000"/>
              </a:lnSpc>
            </a:pPr>
            <a:r>
              <a:rPr kumimoji="1" lang="ja-JP" altLang="en-US"/>
              <a:t>伊藤らの課題を踏まえ、塚田の研究では、</a:t>
            </a:r>
            <a:r>
              <a:rPr kumimoji="1" lang="ja-JP" altLang="en-US" sz="1200"/>
              <a:t>期待</a:t>
            </a:r>
            <a:r>
              <a:rPr lang="ja-JP" altLang="en-US" sz="1200"/>
              <a:t>を</a:t>
            </a:r>
            <a:r>
              <a:rPr kumimoji="1" lang="ja-JP" altLang="en-US" sz="1200"/>
              <a:t>高い精度で抽出することと明示的に現れない期待の抽出を目的としました。</a:t>
            </a:r>
            <a:endParaRPr kumimoji="1" lang="en-US" altLang="ja-JP" sz="1200"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実際には</a:t>
            </a:r>
            <a:r>
              <a:rPr kumimoji="1" lang="en-US" altLang="ja-JP" dirty="0"/>
              <a:t>2</a:t>
            </a:r>
            <a:r>
              <a:rPr kumimoji="1" lang="ja-JP" altLang="en-US"/>
              <a:t>つの実験を行っていて、</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1</a:t>
            </a:r>
            <a:r>
              <a:rPr kumimoji="1" lang="ja-JP" altLang="en-US"/>
              <a:t>つ目の実験は、「</a:t>
            </a:r>
            <a:r>
              <a:rPr kumimoji="1" lang="ja-JP" altLang="en-US" sz="1200" b="0">
                <a:latin typeface="+mj-ea"/>
                <a:ea typeface="+mj-ea"/>
              </a:rPr>
              <a:t>系列ラベリングによる期待を含めた</a:t>
            </a:r>
            <a:r>
              <a:rPr kumimoji="1" lang="en-US" altLang="ja-JP" sz="1200" b="0" dirty="0">
                <a:latin typeface="+mj-ea"/>
                <a:ea typeface="+mj-ea"/>
              </a:rPr>
              <a:t>4</a:t>
            </a:r>
            <a:r>
              <a:rPr kumimoji="1" lang="ja-JP" altLang="en-US" sz="1200" b="0">
                <a:latin typeface="+mj-ea"/>
                <a:ea typeface="+mj-ea"/>
              </a:rPr>
              <a:t>項組の抽出」です。トークン単位での分類により、レビューから、各項目に対応する文字列を抽出します。</a:t>
            </a:r>
            <a:endParaRPr kumimoji="1" lang="en-US" altLang="ja-JP" sz="1200" b="0" dirty="0">
              <a:latin typeface="+mj-ea"/>
              <a:ea typeface="+mj-ea"/>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dirty="0">
                <a:latin typeface="+mj-ea"/>
                <a:ea typeface="+mj-ea"/>
              </a:rPr>
              <a:t>2</a:t>
            </a:r>
            <a:r>
              <a:rPr kumimoji="1" lang="ja-JP" altLang="en-US" sz="1200" b="0">
                <a:latin typeface="+mj-ea"/>
                <a:ea typeface="+mj-ea"/>
              </a:rPr>
              <a:t>つ目は、「文分類による期待の抽出」です。こちらは文単位なので、明示的に現れない期待も扱えます。</a:t>
            </a:r>
            <a:endParaRPr kumimoji="1" lang="en-US" altLang="ja-JP" sz="1200" b="0" dirty="0">
              <a:latin typeface="+mj-ea"/>
              <a:ea typeface="+mj-ea"/>
            </a:endParaRPr>
          </a:p>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6</a:t>
            </a:fld>
            <a:endParaRPr kumimoji="1" lang="ja-JP" altLang="en-US"/>
          </a:p>
        </p:txBody>
      </p:sp>
    </p:spTree>
    <p:extLst>
      <p:ext uri="{BB962C8B-B14F-4D97-AF65-F5344CB8AC3E}">
        <p14:creationId xmlns:p14="http://schemas.microsoft.com/office/powerpoint/2010/main" val="18876144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7</a:t>
            </a:fld>
            <a:endParaRPr kumimoji="1" lang="ja-JP" altLang="en-US"/>
          </a:p>
        </p:txBody>
      </p:sp>
    </p:spTree>
    <p:extLst>
      <p:ext uri="{BB962C8B-B14F-4D97-AF65-F5344CB8AC3E}">
        <p14:creationId xmlns:p14="http://schemas.microsoft.com/office/powerpoint/2010/main" val="2981222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8</a:t>
            </a:fld>
            <a:endParaRPr kumimoji="1" lang="ja-JP" altLang="en-US"/>
          </a:p>
        </p:txBody>
      </p:sp>
    </p:spTree>
    <p:extLst>
      <p:ext uri="{BB962C8B-B14F-4D97-AF65-F5344CB8AC3E}">
        <p14:creationId xmlns:p14="http://schemas.microsoft.com/office/powerpoint/2010/main" val="2293164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sz="1200"/>
              <a:t>データセットは以下の表１のとおりに用意した</a:t>
            </a:r>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12</a:t>
            </a:fld>
            <a:endParaRPr kumimoji="1" lang="ja-JP" altLang="en-US"/>
          </a:p>
        </p:txBody>
      </p:sp>
    </p:spTree>
    <p:extLst>
      <p:ext uri="{BB962C8B-B14F-4D97-AF65-F5344CB8AC3E}">
        <p14:creationId xmlns:p14="http://schemas.microsoft.com/office/powerpoint/2010/main" val="2916061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64C62-5465-B725-9A8E-E9873D57C7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EAA75A-D40F-3E87-38F9-48C09B2BA06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97EB23-8690-5F63-BA98-B31561E6CC28}"/>
              </a:ext>
            </a:extLst>
          </p:cNvPr>
          <p:cNvSpPr>
            <a:spLocks noGrp="1"/>
          </p:cNvSpPr>
          <p:nvPr>
            <p:ph type="body" idx="1"/>
          </p:nvPr>
        </p:nvSpPr>
        <p:spPr/>
        <p:txBody>
          <a:bodyPr/>
          <a:lstStyle/>
          <a:p>
            <a:r>
              <a:rPr lang="ja-JP" altLang="en-US" sz="1200"/>
              <a:t>データセットは以下の表１のとおりに用意した</a:t>
            </a:r>
            <a:endParaRPr kumimoji="1" lang="ja-JP" altLang="en-US"/>
          </a:p>
        </p:txBody>
      </p:sp>
      <p:sp>
        <p:nvSpPr>
          <p:cNvPr id="4" name="スライド番号プレースホルダー 3">
            <a:extLst>
              <a:ext uri="{FF2B5EF4-FFF2-40B4-BE49-F238E27FC236}">
                <a16:creationId xmlns:a16="http://schemas.microsoft.com/office/drawing/2014/main" id="{5897F60A-F26B-6CC9-5B11-E0F33FE06E8E}"/>
              </a:ext>
            </a:extLst>
          </p:cNvPr>
          <p:cNvSpPr>
            <a:spLocks noGrp="1"/>
          </p:cNvSpPr>
          <p:nvPr>
            <p:ph type="sldNum" sz="quarter" idx="5"/>
          </p:nvPr>
        </p:nvSpPr>
        <p:spPr/>
        <p:txBody>
          <a:bodyPr/>
          <a:lstStyle/>
          <a:p>
            <a:fld id="{CE049665-1117-4B43-AF8F-91F94646FBBB}" type="slidenum">
              <a:rPr kumimoji="1" lang="ja-JP" altLang="en-US" smtClean="0"/>
              <a:t>13</a:t>
            </a:fld>
            <a:endParaRPr kumimoji="1" lang="ja-JP" altLang="en-US"/>
          </a:p>
        </p:txBody>
      </p:sp>
    </p:spTree>
    <p:extLst>
      <p:ext uri="{BB962C8B-B14F-4D97-AF65-F5344CB8AC3E}">
        <p14:creationId xmlns:p14="http://schemas.microsoft.com/office/powerpoint/2010/main" val="3634068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情報が極端に少なく、単語単位での意図判別が難しい場合や期待を表しているが、長距離依存や省略の影響で曖昧な意味合いの場合は一文単位でも対話対単位でも抽出が難しかった。</a:t>
            </a:r>
            <a:endParaRPr lang="en-US" altLang="ja-JP" dirty="0"/>
          </a:p>
          <a:p>
            <a:r>
              <a:rPr kumimoji="1" lang="ja-JP" altLang="en-US"/>
              <a:t>これは対話文章ならではの特徴と言える。</a:t>
            </a:r>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15</a:t>
            </a:fld>
            <a:endParaRPr kumimoji="1" lang="ja-JP" altLang="en-US"/>
          </a:p>
        </p:txBody>
      </p:sp>
    </p:spTree>
    <p:extLst>
      <p:ext uri="{BB962C8B-B14F-4D97-AF65-F5344CB8AC3E}">
        <p14:creationId xmlns:p14="http://schemas.microsoft.com/office/powerpoint/2010/main" val="3739343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371600" y="1143000"/>
            <a:ext cx="4114800" cy="30861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a:t>「期待文のみ」モデルでのみで誤分類した</a:t>
            </a:r>
            <a:r>
              <a:rPr kumimoji="1" lang="ja-JP" altLang="en-US"/>
              <a:t>ケースは、</a:t>
            </a:r>
            <a:r>
              <a:rPr lang="ja-JP" altLang="en-US"/>
              <a:t>カスタマーの期待が質問形で現れる場合や受動的な場合の誤分類が際立って目立ちました。</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b="0">
                <a:solidFill>
                  <a:srgbClr val="CE9178"/>
                </a:solidFill>
                <a:effectLst/>
                <a:latin typeface="Menlo" panose="020B0609030804020204" pitchFamily="49" charset="0"/>
              </a:rPr>
              <a:t>実際には</a:t>
            </a:r>
            <a:r>
              <a:rPr lang="ja-JP" altLang="en-US"/>
              <a:t>「期待文のみ」</a:t>
            </a:r>
            <a:r>
              <a:rPr lang="ja-JP" altLang="en-US" b="0">
                <a:solidFill>
                  <a:srgbClr val="CE9178"/>
                </a:solidFill>
                <a:effectLst/>
                <a:latin typeface="Menlo" panose="020B0609030804020204" pitchFamily="49" charset="0"/>
              </a:rPr>
              <a:t>モデルにはオペレーターの発話は学習させてないが、ここに</a:t>
            </a:r>
            <a:r>
              <a:rPr kumimoji="1" lang="ja-JP" altLang="en-US" sz="12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対話対分類</a:t>
            </a:r>
            <a:r>
              <a:rPr lang="ja-JP" altLang="en-US"/>
              <a:t>モデルで学習させた対話対を示します。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a:t>このようにオペレーターの質問が学習対象に含まれるため、</a:t>
            </a:r>
            <a:r>
              <a:rPr kumimoji="1" lang="ja-JP" altLang="en-US" sz="12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対話対分類</a:t>
            </a:r>
            <a:r>
              <a:rPr lang="ja-JP" altLang="en-US"/>
              <a:t>では学習できたと考えられます。</a:t>
            </a:r>
            <a:endParaRPr lang="en-US" altLang="ja-JP" b="0" dirty="0">
              <a:solidFill>
                <a:srgbClr val="CE9178"/>
              </a:solidFill>
              <a:effectLst/>
              <a:latin typeface="Menlo" panose="020B060903080402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b="0" dirty="0">
              <a:solidFill>
                <a:srgbClr val="CE9178"/>
              </a:solidFill>
              <a:effectLst/>
              <a:latin typeface="Menlo" panose="020B0609030804020204" pitchFamily="49" charset="0"/>
            </a:endParaRPr>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16</a:t>
            </a:fld>
            <a:endParaRPr kumimoji="1" lang="ja-JP" altLang="en-US"/>
          </a:p>
        </p:txBody>
      </p:sp>
    </p:spTree>
    <p:extLst>
      <p:ext uri="{BB962C8B-B14F-4D97-AF65-F5344CB8AC3E}">
        <p14:creationId xmlns:p14="http://schemas.microsoft.com/office/powerpoint/2010/main" val="14641628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対話対分類</a:t>
            </a:r>
            <a:r>
              <a:rPr lang="ja-JP" altLang="en-US"/>
              <a:t>モデルでは、オペレーターの発話があることで、逆に「期待が暗示的になっている」パターンが多く見られました。</a:t>
            </a:r>
            <a:endParaRPr lang="en-US" altLang="ja-JP" dirty="0"/>
          </a:p>
          <a:p>
            <a:r>
              <a:rPr lang="ja-JP" altLang="en-US"/>
              <a:t>具体的には期待の意図が弱まったり、単なる会話の流れとして処理されやすくなるパターンです。</a:t>
            </a:r>
            <a:endParaRPr lang="en-US" altLang="ja-JP" dirty="0"/>
          </a:p>
          <a:p>
            <a:r>
              <a:rPr lang="ja-JP" altLang="en-US"/>
              <a:t>伊香保温泉に興味があり、旅行に求める期待である取りれるが、オペレーターの発話を含むことで単なる話題提供や話を広げただけのようにも見える。</a:t>
            </a:r>
            <a:endParaRPr lang="en-US" altLang="ja-JP" dirty="0"/>
          </a:p>
          <a:p>
            <a:r>
              <a:rPr kumimoji="1" lang="ja-JP" altLang="en-US"/>
              <a:t>（この後のオペレーターの対応が重要）</a:t>
            </a:r>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17</a:t>
            </a:fld>
            <a:endParaRPr kumimoji="1" lang="ja-JP" altLang="en-US"/>
          </a:p>
        </p:txBody>
      </p:sp>
    </p:spTree>
    <p:extLst>
      <p:ext uri="{BB962C8B-B14F-4D97-AF65-F5344CB8AC3E}">
        <p14:creationId xmlns:p14="http://schemas.microsoft.com/office/powerpoint/2010/main" val="33063721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indent="0">
              <a:buNone/>
            </a:pPr>
            <a:r>
              <a:rPr kumimoji="1" lang="ja-JP" altLang="en-US"/>
              <a:t>次に期待なしの文を期待ありと判定してしまった例について見ていく。</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a:t>最初に両モデルとも</a:t>
            </a:r>
            <a:r>
              <a:rPr kumimoji="1" lang="ja-JP" altLang="en-US"/>
              <a:t>期待なしの文を期待ありと判定してしまった例であるが、全ての誤分類されたパターンでこの例が一番少なかった。</a:t>
            </a:r>
            <a:endParaRPr kumimoji="1" lang="en-US" altLang="ja-JP" dirty="0"/>
          </a:p>
          <a:p>
            <a:r>
              <a:rPr kumimoji="1" lang="ja-JP" altLang="en-US"/>
              <a:t>この例を見てもわかるように、人によっては期待とも取れるような表現が多くあった。</a:t>
            </a:r>
            <a:endParaRPr kumimoji="1" lang="en-US" altLang="ja-JP" dirty="0"/>
          </a:p>
          <a:p>
            <a:r>
              <a:rPr kumimoji="1" lang="ja-JP" altLang="en-US"/>
              <a:t>特に場所について聞く発話や、自分ではない第三者のことを話す発話では誤分類していることがわかった。</a:t>
            </a:r>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18</a:t>
            </a:fld>
            <a:endParaRPr kumimoji="1" lang="ja-JP" altLang="en-US"/>
          </a:p>
        </p:txBody>
      </p:sp>
    </p:spTree>
    <p:extLst>
      <p:ext uri="{BB962C8B-B14F-4D97-AF65-F5344CB8AC3E}">
        <p14:creationId xmlns:p14="http://schemas.microsoft.com/office/powerpoint/2010/main" val="18583423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次に</a:t>
            </a:r>
            <a:r>
              <a:rPr lang="ja-JP" altLang="en-US"/>
              <a:t>対話対分類モデルでのみ、</a:t>
            </a:r>
            <a:r>
              <a:rPr kumimoji="1" lang="ja-JP" altLang="en-US"/>
              <a:t>期待なしの文を期待ありと判定してしまった例です。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a:t>このようなオペレーターの発話に対して、「いいですね」「○○が好き」といった好意的な反応が、期待の表明と誤認された。</a:t>
            </a:r>
          </a:p>
          <a:p>
            <a:endParaRPr kumimoji="1" lang="ja-JP" altLang="en-US"/>
          </a:p>
        </p:txBody>
      </p:sp>
      <p:sp>
        <p:nvSpPr>
          <p:cNvPr id="4" name="スライド番号プレースホルダー 3"/>
          <p:cNvSpPr>
            <a:spLocks noGrp="1"/>
          </p:cNvSpPr>
          <p:nvPr>
            <p:ph type="sldNum" sz="quarter" idx="5"/>
          </p:nvPr>
        </p:nvSpPr>
        <p:spPr/>
        <p:txBody>
          <a:bodyPr/>
          <a:lstStyle/>
          <a:p>
            <a:fld id="{CE049665-1117-4B43-AF8F-91F94646FBBB}" type="slidenum">
              <a:rPr kumimoji="1" lang="ja-JP" altLang="en-US" smtClean="0"/>
              <a:t>20</a:t>
            </a:fld>
            <a:endParaRPr kumimoji="1" lang="ja-JP" altLang="en-US"/>
          </a:p>
        </p:txBody>
      </p:sp>
    </p:spTree>
    <p:extLst>
      <p:ext uri="{BB962C8B-B14F-4D97-AF65-F5344CB8AC3E}">
        <p14:creationId xmlns:p14="http://schemas.microsoft.com/office/powerpoint/2010/main" val="79431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3555920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2020618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82860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462494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29842" y="2505075"/>
            <a:ext cx="3868340"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4629150" y="2505075"/>
            <a:ext cx="3887391"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3597942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3082845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18588669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1628913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14275973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40146747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408012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3E7AAA-6D55-7B45-9415-DB6816205813}" type="datetimeFigureOut">
              <a:rPr kumimoji="1" lang="ja-JP" altLang="en-US" smtClean="0"/>
              <a:t>2025/1/24</a:t>
            </a:fld>
            <a:endParaRPr kumimoji="1" lang="ja-JP" alt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20C0F37-2064-1644-956F-38420264F42F}" type="slidenum">
              <a:rPr kumimoji="1" lang="ja-JP" altLang="en-US" smtClean="0"/>
              <a:t>‹#›</a:t>
            </a:fld>
            <a:endParaRPr kumimoji="1" lang="ja-JP" altLang="en-US"/>
          </a:p>
        </p:txBody>
      </p:sp>
    </p:spTree>
    <p:extLst>
      <p:ext uri="{BB962C8B-B14F-4D97-AF65-F5344CB8AC3E}">
        <p14:creationId xmlns:p14="http://schemas.microsoft.com/office/powerpoint/2010/main" val="246809485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C30D27-C9E1-EEB7-12B6-9C5F7E3CD979}"/>
              </a:ext>
            </a:extLst>
          </p:cNvPr>
          <p:cNvSpPr>
            <a:spLocks noGrp="1"/>
          </p:cNvSpPr>
          <p:nvPr>
            <p:ph type="ctrTitle"/>
          </p:nvPr>
        </p:nvSpPr>
        <p:spPr/>
        <p:txBody>
          <a:bodyPr anchor="ctr">
            <a:normAutofit/>
          </a:bodyPr>
          <a:lstStyle/>
          <a:p>
            <a:pPr>
              <a:lnSpc>
                <a:spcPct val="107000"/>
              </a:lnSpc>
              <a:spcAft>
                <a:spcPts val="600"/>
              </a:spcAft>
            </a:pPr>
            <a:r>
              <a:rPr lang="ja-JP" altLang="ja-JP" sz="3600" kern="100">
                <a:latin typeface="+mj-ea"/>
                <a:cs typeface="Times New Roman" panose="02020603050405020304" pitchFamily="18" charset="0"/>
              </a:rPr>
              <a:t>旅行代理店対話データを用いた顧客期待の抽出に関する研究</a:t>
            </a:r>
          </a:p>
        </p:txBody>
      </p:sp>
      <p:sp>
        <p:nvSpPr>
          <p:cNvPr id="3" name="字幕 2">
            <a:extLst>
              <a:ext uri="{FF2B5EF4-FFF2-40B4-BE49-F238E27FC236}">
                <a16:creationId xmlns:a16="http://schemas.microsoft.com/office/drawing/2014/main" id="{422C1E29-BFF1-A260-EA43-E005E582508E}"/>
              </a:ext>
            </a:extLst>
          </p:cNvPr>
          <p:cNvSpPr>
            <a:spLocks noGrp="1"/>
          </p:cNvSpPr>
          <p:nvPr>
            <p:ph type="subTitle" idx="1"/>
          </p:nvPr>
        </p:nvSpPr>
        <p:spPr>
          <a:xfrm>
            <a:off x="1143000" y="3686369"/>
            <a:ext cx="6858000" cy="1241822"/>
          </a:xfrm>
        </p:spPr>
        <p:txBody>
          <a:bodyPr>
            <a:normAutofit fontScale="70000" lnSpcReduction="20000"/>
          </a:bodyPr>
          <a:lstStyle/>
          <a:p>
            <a:r>
              <a:rPr lang="en-US" altLang="ja-JP" dirty="0"/>
              <a:t>2024</a:t>
            </a:r>
            <a:r>
              <a:rPr lang="ja-JP" altLang="en-US"/>
              <a:t>年</a:t>
            </a:r>
            <a:r>
              <a:rPr lang="en-US" altLang="ja-JP" dirty="0"/>
              <a:t> 2</a:t>
            </a:r>
            <a:r>
              <a:rPr lang="ja-JP" altLang="en-US"/>
              <a:t>月</a:t>
            </a:r>
            <a:r>
              <a:rPr kumimoji="1" lang="ja-JP" altLang="en-US"/>
              <a:t>　</a:t>
            </a:r>
            <a:r>
              <a:rPr lang="ja-JP" altLang="en-US"/>
              <a:t>日</a:t>
            </a:r>
            <a:endParaRPr lang="en-US" altLang="ja-JP" dirty="0"/>
          </a:p>
          <a:p>
            <a:r>
              <a:rPr lang="ja-JP" altLang="en-US"/>
              <a:t>横浜国立大学 理工学部 数物・電子情報系学科 情報工学</a:t>
            </a:r>
            <a:r>
              <a:rPr lang="en-US" altLang="ja-JP" dirty="0"/>
              <a:t>EP</a:t>
            </a:r>
          </a:p>
          <a:p>
            <a:pPr>
              <a:lnSpc>
                <a:spcPct val="100000"/>
              </a:lnSpc>
            </a:pPr>
            <a:r>
              <a:rPr lang="ja-JP" altLang="en-US"/>
              <a:t>森研究室 </a:t>
            </a:r>
            <a:r>
              <a:rPr lang="en-US" altLang="ja-JP" dirty="0"/>
              <a:t>4</a:t>
            </a:r>
            <a:r>
              <a:rPr lang="ja-JP" altLang="en-US"/>
              <a:t>年</a:t>
            </a:r>
            <a:endParaRPr lang="en-US" altLang="ja-JP" dirty="0"/>
          </a:p>
          <a:p>
            <a:r>
              <a:rPr lang="en-US" altLang="ja-JP" dirty="0"/>
              <a:t>2164130 </a:t>
            </a:r>
            <a:r>
              <a:rPr lang="ja-JP" altLang="en-US"/>
              <a:t>新村柊月</a:t>
            </a:r>
          </a:p>
        </p:txBody>
      </p:sp>
    </p:spTree>
    <p:extLst>
      <p:ext uri="{BB962C8B-B14F-4D97-AF65-F5344CB8AC3E}">
        <p14:creationId xmlns:p14="http://schemas.microsoft.com/office/powerpoint/2010/main" val="9364223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A404AE-4636-4AC1-C578-09D51A8195BE}"/>
              </a:ext>
            </a:extLst>
          </p:cNvPr>
          <p:cNvSpPr>
            <a:spLocks noGrp="1"/>
          </p:cNvSpPr>
          <p:nvPr>
            <p:ph type="title"/>
          </p:nvPr>
        </p:nvSpPr>
        <p:spPr/>
        <p:txBody>
          <a:bodyPr/>
          <a:lstStyle/>
          <a:p>
            <a:r>
              <a:rPr kumimoji="1" lang="ja-JP" altLang="en-US"/>
              <a:t>研究背景</a:t>
            </a:r>
          </a:p>
        </p:txBody>
      </p:sp>
      <p:sp>
        <p:nvSpPr>
          <p:cNvPr id="3" name="コンテンツ プレースホルダー 2">
            <a:extLst>
              <a:ext uri="{FF2B5EF4-FFF2-40B4-BE49-F238E27FC236}">
                <a16:creationId xmlns:a16="http://schemas.microsoft.com/office/drawing/2014/main" id="{660C60BC-B26A-3129-9D07-DFC95B949ED3}"/>
              </a:ext>
            </a:extLst>
          </p:cNvPr>
          <p:cNvSpPr>
            <a:spLocks noGrp="1"/>
          </p:cNvSpPr>
          <p:nvPr>
            <p:ph idx="1"/>
          </p:nvPr>
        </p:nvSpPr>
        <p:spPr/>
        <p:txBody>
          <a:bodyPr/>
          <a:lstStyle/>
          <a:p>
            <a:r>
              <a:rPr lang="ja-JP" altLang="en-US" sz="2400">
                <a:latin typeface="+mn-ea"/>
              </a:rPr>
              <a:t>旅行客の旅行に対する希望は多様化しつつある。</a:t>
            </a:r>
            <a:endParaRPr lang="en-US" altLang="ja-JP" sz="2400" dirty="0">
              <a:latin typeface="+mn-ea"/>
            </a:endParaRPr>
          </a:p>
          <a:p>
            <a:pPr marL="0" indent="0">
              <a:buNone/>
            </a:pPr>
            <a:endParaRPr lang="en-US" altLang="ja-JP" sz="2400" dirty="0">
              <a:latin typeface="+mn-ea"/>
            </a:endParaRPr>
          </a:p>
          <a:p>
            <a:r>
              <a:rPr lang="ja-JP" altLang="en-US" sz="2400">
                <a:latin typeface="+mn-ea"/>
              </a:rPr>
              <a:t>多様化する顧客の希望を適切に汲み取ることが旅行代理店では重要である。</a:t>
            </a:r>
            <a:endParaRPr lang="en-US" altLang="ja-JP" sz="2400" dirty="0">
              <a:latin typeface="+mn-ea"/>
            </a:endParaRPr>
          </a:p>
          <a:p>
            <a:endParaRPr lang="en-US" altLang="ja-JP" sz="2400" dirty="0">
              <a:latin typeface="+mn-ea"/>
            </a:endParaRPr>
          </a:p>
          <a:p>
            <a:pPr marL="0" indent="0">
              <a:buNone/>
            </a:pPr>
            <a:endParaRPr lang="en-US" altLang="ja-JP" sz="2400" dirty="0">
              <a:latin typeface="+mn-ea"/>
            </a:endParaRPr>
          </a:p>
          <a:p>
            <a:pPr marL="0" indent="0">
              <a:buNone/>
            </a:pPr>
            <a:r>
              <a:rPr lang="ja-JP" altLang="en-US" sz="2400">
                <a:latin typeface="+mn-ea"/>
              </a:rPr>
              <a:t>しかし、旅行代理店スタッフは顧客の旅行の目的を的確に汲み取る、旅行先の情報を調べる、旅行プランの作成を行うといったマルチタスクをこなす必要がある。</a:t>
            </a:r>
            <a:endParaRPr lang="en-US" altLang="ja-JP" sz="2400" dirty="0">
              <a:latin typeface="+mn-ea"/>
            </a:endParaRPr>
          </a:p>
          <a:p>
            <a:endParaRPr lang="en-US" altLang="ja-JP" dirty="0">
              <a:latin typeface="+mn-ea"/>
            </a:endParaRPr>
          </a:p>
          <a:p>
            <a:endParaRPr kumimoji="1" lang="ja-JP" altLang="en-US"/>
          </a:p>
        </p:txBody>
      </p:sp>
    </p:spTree>
    <p:extLst>
      <p:ext uri="{BB962C8B-B14F-4D97-AF65-F5344CB8AC3E}">
        <p14:creationId xmlns:p14="http://schemas.microsoft.com/office/powerpoint/2010/main" val="37499004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76032C-8436-327A-0E70-51087ED37E82}"/>
              </a:ext>
            </a:extLst>
          </p:cNvPr>
          <p:cNvSpPr>
            <a:spLocks noGrp="1"/>
          </p:cNvSpPr>
          <p:nvPr>
            <p:ph type="title"/>
          </p:nvPr>
        </p:nvSpPr>
        <p:spPr/>
        <p:txBody>
          <a:bodyPr/>
          <a:lstStyle/>
          <a:p>
            <a:r>
              <a:rPr kumimoji="1" lang="ja-JP" altLang="en-US"/>
              <a:t>研究背景</a:t>
            </a:r>
          </a:p>
        </p:txBody>
      </p:sp>
      <p:sp>
        <p:nvSpPr>
          <p:cNvPr id="3" name="コンテンツ プレースホルダー 2">
            <a:extLst>
              <a:ext uri="{FF2B5EF4-FFF2-40B4-BE49-F238E27FC236}">
                <a16:creationId xmlns:a16="http://schemas.microsoft.com/office/drawing/2014/main" id="{4FB7BB7E-8212-3894-65F1-882879E5BCC6}"/>
              </a:ext>
            </a:extLst>
          </p:cNvPr>
          <p:cNvSpPr>
            <a:spLocks noGrp="1"/>
          </p:cNvSpPr>
          <p:nvPr>
            <p:ph idx="1"/>
          </p:nvPr>
        </p:nvSpPr>
        <p:spPr/>
        <p:txBody>
          <a:bodyPr>
            <a:normAutofit/>
          </a:bodyPr>
          <a:lstStyle/>
          <a:p>
            <a:pPr marL="0" indent="0">
              <a:buNone/>
            </a:pPr>
            <a:r>
              <a:rPr lang="ja-JP" altLang="en-US" sz="2400">
                <a:latin typeface="+mn-ea"/>
              </a:rPr>
              <a:t>したがって、</a:t>
            </a:r>
            <a:endParaRPr lang="en-US" altLang="ja-JP" sz="2400" dirty="0">
              <a:latin typeface="+mn-ea"/>
            </a:endParaRPr>
          </a:p>
          <a:p>
            <a:pPr marL="0" indent="0">
              <a:buNone/>
            </a:pPr>
            <a:r>
              <a:rPr lang="ja-JP" altLang="en-US" sz="2400">
                <a:latin typeface="+mn-ea"/>
              </a:rPr>
              <a:t>　旅行代理店スタッフの負担を軽減する仕組みを整えることでさらなる顧客対応の効率化や顧客満足度の向上に直結すると考えられる。</a:t>
            </a:r>
            <a:endParaRPr lang="en-US" altLang="ja-JP" sz="2400" dirty="0">
              <a:latin typeface="+mn-ea"/>
            </a:endParaRPr>
          </a:p>
          <a:p>
            <a:pPr marL="0" indent="0">
              <a:buNone/>
            </a:pPr>
            <a:endParaRPr lang="en-US" altLang="ja-JP" sz="2400" dirty="0">
              <a:latin typeface="+mn-ea"/>
            </a:endParaRPr>
          </a:p>
          <a:p>
            <a:pPr marL="0" indent="0">
              <a:buNone/>
            </a:pPr>
            <a:r>
              <a:rPr lang="ja-JP" altLang="en-US" sz="2400">
                <a:latin typeface="+mn-ea"/>
              </a:rPr>
              <a:t>顧客の旅行に対する期待を適切に汲み取るタスクの自動化を目指す。</a:t>
            </a:r>
            <a:endParaRPr lang="en-US" altLang="ja-JP" sz="2400" dirty="0">
              <a:latin typeface="+mn-ea"/>
            </a:endParaRPr>
          </a:p>
          <a:p>
            <a:pPr marL="0" indent="0">
              <a:buNone/>
            </a:pPr>
            <a:endParaRPr lang="en-US" altLang="ja-JP" dirty="0">
              <a:latin typeface="+mn-ea"/>
            </a:endParaRPr>
          </a:p>
          <a:p>
            <a:pPr marL="0" indent="0">
              <a:buNone/>
            </a:pPr>
            <a:endParaRPr lang="en-US" altLang="ja-JP" dirty="0"/>
          </a:p>
          <a:p>
            <a:pPr marL="0" indent="0">
              <a:buNone/>
            </a:pPr>
            <a:endParaRPr kumimoji="1" lang="en-US" altLang="ja-JP" dirty="0"/>
          </a:p>
          <a:p>
            <a:pPr marL="0" indent="0">
              <a:buNone/>
            </a:pPr>
            <a:endParaRPr kumimoji="1" lang="en-US" altLang="ja-JP" dirty="0"/>
          </a:p>
        </p:txBody>
      </p:sp>
    </p:spTree>
    <p:extLst>
      <p:ext uri="{BB962C8B-B14F-4D97-AF65-F5344CB8AC3E}">
        <p14:creationId xmlns:p14="http://schemas.microsoft.com/office/powerpoint/2010/main" val="22896759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791683-A93D-10F2-4F80-7DDD92980196}"/>
              </a:ext>
            </a:extLst>
          </p:cNvPr>
          <p:cNvSpPr>
            <a:spLocks noGrp="1"/>
          </p:cNvSpPr>
          <p:nvPr>
            <p:ph type="title"/>
          </p:nvPr>
        </p:nvSpPr>
        <p:spPr/>
        <p:txBody>
          <a:bodyPr/>
          <a:lstStyle/>
          <a:p>
            <a:r>
              <a:rPr kumimoji="1" lang="ja-JP" altLang="en-US"/>
              <a:t>関連研究</a:t>
            </a:r>
          </a:p>
        </p:txBody>
      </p:sp>
      <p:sp>
        <p:nvSpPr>
          <p:cNvPr id="3" name="コンテンツ プレースホルダー 2">
            <a:extLst>
              <a:ext uri="{FF2B5EF4-FFF2-40B4-BE49-F238E27FC236}">
                <a16:creationId xmlns:a16="http://schemas.microsoft.com/office/drawing/2014/main" id="{88156428-AF0B-44AB-99CE-647887A2363D}"/>
              </a:ext>
            </a:extLst>
          </p:cNvPr>
          <p:cNvSpPr>
            <a:spLocks noGrp="1"/>
          </p:cNvSpPr>
          <p:nvPr>
            <p:ph idx="1"/>
          </p:nvPr>
        </p:nvSpPr>
        <p:spPr>
          <a:xfrm>
            <a:off x="628650" y="1690689"/>
            <a:ext cx="7886700" cy="3263504"/>
          </a:xfrm>
        </p:spPr>
        <p:txBody>
          <a:bodyPr>
            <a:normAutofit/>
          </a:bodyPr>
          <a:lstStyle/>
          <a:p>
            <a:pPr marL="0" indent="0">
              <a:buNone/>
            </a:pPr>
            <a:r>
              <a:rPr lang="ja-JP" altLang="en-US" sz="2400">
                <a:latin typeface="+mn-ea"/>
              </a:rPr>
              <a:t>評判情報抽出</a:t>
            </a:r>
            <a:endParaRPr lang="en-US" altLang="ja-JP" sz="2400" dirty="0">
              <a:latin typeface="+mn-ea"/>
            </a:endParaRPr>
          </a:p>
          <a:p>
            <a:pPr marL="0" indent="0">
              <a:buNone/>
            </a:pPr>
            <a:r>
              <a:rPr lang="ja-JP" altLang="en-US" sz="2000" dirty="0">
                <a:latin typeface="+mn-ea"/>
              </a:rPr>
              <a:t>　</a:t>
            </a:r>
            <a:r>
              <a:rPr lang="ja-JP" altLang="en-US" sz="2000">
                <a:latin typeface="+mn-ea"/>
              </a:rPr>
              <a:t>特定の商品やサービスに対する意見をその根拠とともに抽出する技術</a:t>
            </a:r>
            <a:endParaRPr lang="en-US" altLang="ja-JP" sz="2000" dirty="0">
              <a:latin typeface="+mn-ea"/>
            </a:endParaRPr>
          </a:p>
          <a:p>
            <a:pPr marL="135731" indent="0">
              <a:buNone/>
            </a:pPr>
            <a:r>
              <a:rPr lang="en-US" altLang="ja-JP" sz="900" b="1" dirty="0">
                <a:latin typeface="+mn-ea"/>
              </a:rPr>
              <a:t> </a:t>
            </a:r>
          </a:p>
          <a:p>
            <a:pPr marL="0" indent="0">
              <a:buNone/>
            </a:pPr>
            <a:r>
              <a:rPr kumimoji="1" lang="ja-JP" altLang="en-US" sz="2400">
                <a:latin typeface="+mn-ea"/>
              </a:rPr>
              <a:t>伊藤ら</a:t>
            </a:r>
            <a:r>
              <a:rPr kumimoji="1" lang="en-US" altLang="ja-JP" sz="2400" dirty="0">
                <a:latin typeface="+mn-ea"/>
              </a:rPr>
              <a:t>[1]</a:t>
            </a:r>
            <a:r>
              <a:rPr kumimoji="1" lang="ja-JP" altLang="en-US" sz="2400">
                <a:latin typeface="+mn-ea"/>
              </a:rPr>
              <a:t>の研究</a:t>
            </a:r>
            <a:endParaRPr lang="en-US" altLang="ja-JP" sz="2400" dirty="0">
              <a:solidFill>
                <a:srgbClr val="FF0000"/>
              </a:solidFill>
              <a:latin typeface="+mn-ea"/>
            </a:endParaRPr>
          </a:p>
          <a:p>
            <a:pPr marL="0" indent="0">
              <a:lnSpc>
                <a:spcPct val="120000"/>
              </a:lnSpc>
              <a:buNone/>
            </a:pPr>
            <a:r>
              <a:rPr lang="ja-JP" altLang="en-US" sz="1800">
                <a:latin typeface="+mn-ea"/>
              </a:rPr>
              <a:t>　</a:t>
            </a:r>
            <a:r>
              <a:rPr lang="ja-JP" altLang="en-US" sz="2000">
                <a:latin typeface="+mn-ea"/>
              </a:rPr>
              <a:t>期待と現状の差分が評価につながるとみなし、</a:t>
            </a:r>
            <a:br>
              <a:rPr lang="en-US" altLang="ja-JP" sz="2000" dirty="0">
                <a:latin typeface="+mn-ea"/>
              </a:rPr>
            </a:br>
            <a:r>
              <a:rPr lang="ja-JP" altLang="en-US" sz="2000">
                <a:latin typeface="+mn-ea"/>
              </a:rPr>
              <a:t>　評判情報は｛観点</a:t>
            </a:r>
            <a:r>
              <a:rPr lang="en-US" altLang="ja-JP" sz="2000" dirty="0">
                <a:latin typeface="+mn-ea"/>
              </a:rPr>
              <a:t>, </a:t>
            </a:r>
            <a:r>
              <a:rPr lang="ja-JP" altLang="en-US" sz="2000" b="1">
                <a:latin typeface="+mn-ea"/>
              </a:rPr>
              <a:t>期待</a:t>
            </a:r>
            <a:r>
              <a:rPr lang="en-US" altLang="ja-JP" sz="2000" dirty="0">
                <a:latin typeface="+mn-ea"/>
              </a:rPr>
              <a:t>, </a:t>
            </a:r>
            <a:r>
              <a:rPr lang="ja-JP" altLang="en-US" sz="2000">
                <a:latin typeface="+mn-ea"/>
              </a:rPr>
              <a:t>現状</a:t>
            </a:r>
            <a:r>
              <a:rPr lang="en-US" altLang="ja-JP" sz="2000" dirty="0">
                <a:latin typeface="+mn-ea"/>
              </a:rPr>
              <a:t>, </a:t>
            </a:r>
            <a:r>
              <a:rPr lang="ja-JP" altLang="en-US" sz="2000">
                <a:latin typeface="+mn-ea"/>
              </a:rPr>
              <a:t>評価｝から構成されると定義した。</a:t>
            </a:r>
            <a:endParaRPr lang="en-US" altLang="ja-JP" sz="2000" dirty="0">
              <a:latin typeface="+mn-ea"/>
            </a:endParaRPr>
          </a:p>
          <a:p>
            <a:pPr marL="0" indent="0">
              <a:buNone/>
            </a:pPr>
            <a:r>
              <a:rPr lang="en-US" altLang="ja-JP" sz="150" dirty="0">
                <a:latin typeface="+mn-ea"/>
              </a:rPr>
              <a:t> </a:t>
            </a:r>
          </a:p>
          <a:p>
            <a:pPr marL="0" indent="0">
              <a:buNone/>
            </a:pPr>
            <a:r>
              <a:rPr lang="ja-JP" altLang="en-US" sz="2000">
                <a:latin typeface="+mn-ea"/>
              </a:rPr>
              <a:t>　例</a:t>
            </a:r>
            <a:endParaRPr lang="en-US" altLang="ja-JP" sz="2000" dirty="0">
              <a:latin typeface="+mn-ea"/>
            </a:endParaRPr>
          </a:p>
        </p:txBody>
      </p:sp>
      <p:grpSp>
        <p:nvGrpSpPr>
          <p:cNvPr id="33" name="グループ化 32">
            <a:extLst>
              <a:ext uri="{FF2B5EF4-FFF2-40B4-BE49-F238E27FC236}">
                <a16:creationId xmlns:a16="http://schemas.microsoft.com/office/drawing/2014/main" id="{154F2FE2-BE77-DE74-452E-46E1DD505A14}"/>
              </a:ext>
            </a:extLst>
          </p:cNvPr>
          <p:cNvGrpSpPr/>
          <p:nvPr/>
        </p:nvGrpSpPr>
        <p:grpSpPr>
          <a:xfrm>
            <a:off x="807400" y="4810974"/>
            <a:ext cx="7707950" cy="1562813"/>
            <a:chOff x="1124698" y="4487614"/>
            <a:chExt cx="10105605" cy="2014068"/>
          </a:xfrm>
        </p:grpSpPr>
        <p:sp>
          <p:nvSpPr>
            <p:cNvPr id="8" name="テキスト ボックス 7">
              <a:extLst>
                <a:ext uri="{FF2B5EF4-FFF2-40B4-BE49-F238E27FC236}">
                  <a16:creationId xmlns:a16="http://schemas.microsoft.com/office/drawing/2014/main" id="{10B846A7-B034-C6E3-3395-D12E4C55DC44}"/>
                </a:ext>
              </a:extLst>
            </p:cNvPr>
            <p:cNvSpPr txBox="1"/>
            <p:nvPr/>
          </p:nvSpPr>
          <p:spPr>
            <a:xfrm>
              <a:off x="1124698" y="4762353"/>
              <a:ext cx="10105605" cy="1139860"/>
            </a:xfrm>
            <a:prstGeom prst="rect">
              <a:avLst/>
            </a:prstGeom>
            <a:noFill/>
          </p:spPr>
          <p:txBody>
            <a:bodyPr wrap="square" rtlCol="0">
              <a:spAutoFit/>
            </a:bodyPr>
            <a:lstStyle/>
            <a:p>
              <a:pPr>
                <a:lnSpc>
                  <a:spcPct val="150000"/>
                </a:lnSpc>
              </a:pPr>
              <a:r>
                <a:rPr lang="ja-JP" altLang="en-US"/>
                <a:t>「思っていたよりも濃い色でした。ピンクにすればよかったと少し後悔。</a:t>
              </a:r>
              <a:endParaRPr lang="en-US" altLang="ja-JP" dirty="0"/>
            </a:p>
            <a:p>
              <a:pPr>
                <a:lnSpc>
                  <a:spcPct val="150000"/>
                </a:lnSpc>
              </a:pPr>
              <a:r>
                <a:rPr lang="ja-JP" altLang="en-US"/>
                <a:t>もう少し明るめかと思った」</a:t>
              </a:r>
              <a:endParaRPr lang="en-US" altLang="ja-JP" dirty="0"/>
            </a:p>
          </p:txBody>
        </p:sp>
        <p:sp>
          <p:nvSpPr>
            <p:cNvPr id="12" name="テキスト ボックス 11">
              <a:extLst>
                <a:ext uri="{FF2B5EF4-FFF2-40B4-BE49-F238E27FC236}">
                  <a16:creationId xmlns:a16="http://schemas.microsoft.com/office/drawing/2014/main" id="{052E2B23-19A1-A210-8AE9-7D00AF3D2336}"/>
                </a:ext>
              </a:extLst>
            </p:cNvPr>
            <p:cNvSpPr txBox="1"/>
            <p:nvPr/>
          </p:nvSpPr>
          <p:spPr>
            <a:xfrm>
              <a:off x="3829566" y="4487614"/>
              <a:ext cx="1260239" cy="475975"/>
            </a:xfrm>
            <a:prstGeom prst="rect">
              <a:avLst/>
            </a:prstGeom>
            <a:noFill/>
          </p:spPr>
          <p:txBody>
            <a:bodyPr wrap="square" rtlCol="0">
              <a:spAutoFit/>
            </a:bodyPr>
            <a:lstStyle/>
            <a:p>
              <a:pPr algn="ctr"/>
              <a:r>
                <a:rPr lang="ja-JP" altLang="en-US">
                  <a:solidFill>
                    <a:srgbClr val="0070C0"/>
                  </a:solidFill>
                </a:rPr>
                <a:t>現状</a:t>
              </a:r>
              <a:endParaRPr lang="ja-JP" altLang="en-US" sz="1350" dirty="0">
                <a:solidFill>
                  <a:srgbClr val="0070C0"/>
                </a:solidFill>
              </a:endParaRPr>
            </a:p>
          </p:txBody>
        </p:sp>
        <p:sp>
          <p:nvSpPr>
            <p:cNvPr id="13" name="テキスト ボックス 12">
              <a:extLst>
                <a:ext uri="{FF2B5EF4-FFF2-40B4-BE49-F238E27FC236}">
                  <a16:creationId xmlns:a16="http://schemas.microsoft.com/office/drawing/2014/main" id="{210796CF-C177-9A8D-9669-19B3935E2166}"/>
                </a:ext>
              </a:extLst>
            </p:cNvPr>
            <p:cNvSpPr txBox="1"/>
            <p:nvPr/>
          </p:nvSpPr>
          <p:spPr>
            <a:xfrm>
              <a:off x="9864774" y="4501758"/>
              <a:ext cx="1160785" cy="475975"/>
            </a:xfrm>
            <a:prstGeom prst="rect">
              <a:avLst/>
            </a:prstGeom>
            <a:noFill/>
          </p:spPr>
          <p:txBody>
            <a:bodyPr wrap="square" rtlCol="0">
              <a:spAutoFit/>
            </a:bodyPr>
            <a:lstStyle/>
            <a:p>
              <a:pPr algn="ctr"/>
              <a:r>
                <a:rPr lang="ja-JP" altLang="en-US" dirty="0">
                  <a:solidFill>
                    <a:srgbClr val="0070C0"/>
                  </a:solidFill>
                </a:rPr>
                <a:t>評価</a:t>
              </a:r>
              <a:endParaRPr lang="ja-JP" altLang="en-US" sz="1350" dirty="0">
                <a:solidFill>
                  <a:srgbClr val="0070C0"/>
                </a:solidFill>
              </a:endParaRPr>
            </a:p>
          </p:txBody>
        </p:sp>
        <p:sp>
          <p:nvSpPr>
            <p:cNvPr id="22" name="テキスト ボックス 21">
              <a:extLst>
                <a:ext uri="{FF2B5EF4-FFF2-40B4-BE49-F238E27FC236}">
                  <a16:creationId xmlns:a16="http://schemas.microsoft.com/office/drawing/2014/main" id="{3168B794-57EE-9C5C-FBD1-355A7D61F278}"/>
                </a:ext>
              </a:extLst>
            </p:cNvPr>
            <p:cNvSpPr txBox="1"/>
            <p:nvPr/>
          </p:nvSpPr>
          <p:spPr>
            <a:xfrm>
              <a:off x="1599099" y="6025707"/>
              <a:ext cx="1380538" cy="475975"/>
            </a:xfrm>
            <a:prstGeom prst="rect">
              <a:avLst/>
            </a:prstGeom>
            <a:noFill/>
          </p:spPr>
          <p:txBody>
            <a:bodyPr wrap="square" rtlCol="0">
              <a:spAutoFit/>
            </a:bodyPr>
            <a:lstStyle/>
            <a:p>
              <a:pPr algn="ctr"/>
              <a:r>
                <a:rPr lang="ja-JP" altLang="en-US">
                  <a:solidFill>
                    <a:srgbClr val="0070C0"/>
                  </a:solidFill>
                </a:rPr>
                <a:t>期待</a:t>
              </a:r>
              <a:endParaRPr lang="ja-JP" altLang="en-US" sz="1500" dirty="0">
                <a:solidFill>
                  <a:srgbClr val="0070C0"/>
                </a:solidFill>
              </a:endParaRPr>
            </a:p>
          </p:txBody>
        </p:sp>
        <p:cxnSp>
          <p:nvCxnSpPr>
            <p:cNvPr id="7" name="直線コネクタ 6">
              <a:extLst>
                <a:ext uri="{FF2B5EF4-FFF2-40B4-BE49-F238E27FC236}">
                  <a16:creationId xmlns:a16="http://schemas.microsoft.com/office/drawing/2014/main" id="{59BACA49-53E0-4D6B-CFF4-BB4A154019D1}"/>
                </a:ext>
              </a:extLst>
            </p:cNvPr>
            <p:cNvCxnSpPr>
              <a:cxnSpLocks/>
            </p:cNvCxnSpPr>
            <p:nvPr/>
          </p:nvCxnSpPr>
          <p:spPr>
            <a:xfrm>
              <a:off x="1281994" y="5910873"/>
              <a:ext cx="2014750"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A4AEC110-27D1-397C-8535-058E5929E568}"/>
                </a:ext>
              </a:extLst>
            </p:cNvPr>
            <p:cNvCxnSpPr>
              <a:cxnSpLocks/>
            </p:cNvCxnSpPr>
            <p:nvPr/>
          </p:nvCxnSpPr>
          <p:spPr>
            <a:xfrm>
              <a:off x="3780312" y="5336613"/>
              <a:ext cx="1284208"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6A05C13-FABE-58E0-9993-840035822BD2}"/>
                </a:ext>
              </a:extLst>
            </p:cNvPr>
            <p:cNvCxnSpPr>
              <a:cxnSpLocks/>
            </p:cNvCxnSpPr>
            <p:nvPr/>
          </p:nvCxnSpPr>
          <p:spPr>
            <a:xfrm>
              <a:off x="9803063" y="5336613"/>
              <a:ext cx="1284208"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6524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D352AB-E183-F780-3FB7-19B687413F90}"/>
              </a:ext>
            </a:extLst>
          </p:cNvPr>
          <p:cNvSpPr>
            <a:spLocks noGrp="1"/>
          </p:cNvSpPr>
          <p:nvPr>
            <p:ph type="title"/>
          </p:nvPr>
        </p:nvSpPr>
        <p:spPr/>
        <p:txBody>
          <a:bodyPr/>
          <a:lstStyle/>
          <a:p>
            <a:r>
              <a:rPr kumimoji="1" lang="ja-JP" altLang="en-US"/>
              <a:t>関連研究</a:t>
            </a:r>
          </a:p>
        </p:txBody>
      </p:sp>
      <p:sp>
        <p:nvSpPr>
          <p:cNvPr id="3" name="コンテンツ プレースホルダー 2">
            <a:extLst>
              <a:ext uri="{FF2B5EF4-FFF2-40B4-BE49-F238E27FC236}">
                <a16:creationId xmlns:a16="http://schemas.microsoft.com/office/drawing/2014/main" id="{D6882675-2812-D518-AA32-D3F807B50F04}"/>
              </a:ext>
            </a:extLst>
          </p:cNvPr>
          <p:cNvSpPr>
            <a:spLocks noGrp="1"/>
          </p:cNvSpPr>
          <p:nvPr>
            <p:ph idx="1"/>
          </p:nvPr>
        </p:nvSpPr>
        <p:spPr>
          <a:xfrm>
            <a:off x="628650" y="1690689"/>
            <a:ext cx="7886700" cy="4294433"/>
          </a:xfrm>
        </p:spPr>
        <p:txBody>
          <a:bodyPr>
            <a:normAutofit fontScale="85000" lnSpcReduction="10000"/>
          </a:bodyPr>
          <a:lstStyle/>
          <a:p>
            <a:pPr marL="0" indent="0">
              <a:lnSpc>
                <a:spcPct val="130000"/>
              </a:lnSpc>
              <a:buNone/>
            </a:pPr>
            <a:r>
              <a:rPr lang="ja-JP" altLang="en-US">
                <a:latin typeface="+mn-ea"/>
              </a:rPr>
              <a:t>塚田</a:t>
            </a:r>
            <a:r>
              <a:rPr lang="en-US" altLang="ja-JP" dirty="0">
                <a:latin typeface="+mn-ea"/>
              </a:rPr>
              <a:t>[2]</a:t>
            </a:r>
            <a:r>
              <a:rPr lang="ja-JP" altLang="en-US">
                <a:latin typeface="+mn-ea"/>
              </a:rPr>
              <a:t>の研究</a:t>
            </a:r>
            <a:endParaRPr lang="en-US" altLang="ja-JP" sz="1050" dirty="0">
              <a:ea typeface="+mj-ea"/>
            </a:endParaRPr>
          </a:p>
          <a:p>
            <a:pPr marL="0" indent="0">
              <a:lnSpc>
                <a:spcPct val="130000"/>
              </a:lnSpc>
              <a:buNone/>
            </a:pPr>
            <a:r>
              <a:rPr lang="ja-JP" altLang="en-US">
                <a:latin typeface="+mn-ea"/>
              </a:rPr>
              <a:t>研究結果</a:t>
            </a:r>
            <a:endParaRPr lang="en-US" altLang="ja-JP" dirty="0">
              <a:latin typeface="+mn-ea"/>
            </a:endParaRPr>
          </a:p>
          <a:p>
            <a:pPr marL="0" indent="0">
              <a:lnSpc>
                <a:spcPct val="130000"/>
              </a:lnSpc>
              <a:buNone/>
            </a:pPr>
            <a:r>
              <a:rPr lang="ja-JP" altLang="en-US" sz="1950"/>
              <a:t>　</a:t>
            </a:r>
            <a:r>
              <a:rPr lang="en-US" altLang="ja-JP" sz="2400" dirty="0"/>
              <a:t>SVM</a:t>
            </a:r>
            <a:r>
              <a:rPr lang="ja-JP" altLang="en-US" sz="2400"/>
              <a:t>を用いて各項目を文単位で抽出を行った。</a:t>
            </a:r>
            <a:endParaRPr lang="en-US" altLang="ja-JP" sz="2400" dirty="0"/>
          </a:p>
          <a:p>
            <a:pPr marL="0" indent="0">
              <a:lnSpc>
                <a:spcPct val="130000"/>
              </a:lnSpc>
              <a:buNone/>
            </a:pPr>
            <a:r>
              <a:rPr lang="ja-JP" altLang="en-US" sz="2400"/>
              <a:t>　期待の</a:t>
            </a:r>
            <a:r>
              <a:rPr lang="en-US" altLang="ja-JP" sz="2400" dirty="0"/>
              <a:t>F</a:t>
            </a:r>
            <a:r>
              <a:rPr lang="ja-JP" altLang="en-US" sz="2400"/>
              <a:t>値は </a:t>
            </a:r>
            <a:r>
              <a:rPr lang="en-US" altLang="ja-JP" sz="2400" dirty="0"/>
              <a:t>0.38 </a:t>
            </a:r>
            <a:r>
              <a:rPr lang="ja-JP" altLang="en-US" sz="2400"/>
              <a:t>という結果となった。</a:t>
            </a:r>
            <a:endParaRPr lang="en-US" altLang="ja-JP" sz="2400" dirty="0"/>
          </a:p>
          <a:p>
            <a:pPr marL="0" indent="0">
              <a:lnSpc>
                <a:spcPct val="130000"/>
              </a:lnSpc>
              <a:buNone/>
            </a:pPr>
            <a:r>
              <a:rPr lang="en-US" altLang="ja-JP" sz="900" dirty="0"/>
              <a:t> </a:t>
            </a:r>
          </a:p>
          <a:p>
            <a:pPr marL="0" indent="0">
              <a:lnSpc>
                <a:spcPct val="130000"/>
              </a:lnSpc>
              <a:buNone/>
            </a:pPr>
            <a:r>
              <a:rPr lang="ja-JP" altLang="en-US"/>
              <a:t>課題</a:t>
            </a:r>
            <a:endParaRPr lang="en-US" altLang="ja-JP" dirty="0"/>
          </a:p>
          <a:p>
            <a:pPr marL="0" indent="0">
              <a:lnSpc>
                <a:spcPct val="130000"/>
              </a:lnSpc>
              <a:buNone/>
            </a:pPr>
            <a:r>
              <a:rPr lang="ja-JP" altLang="en-US" sz="2600"/>
              <a:t>・</a:t>
            </a:r>
            <a:r>
              <a:rPr lang="ja-JP" altLang="en-US" sz="2400"/>
              <a:t>精度に改善の余地が見られた。</a:t>
            </a:r>
            <a:endParaRPr lang="en-US" altLang="ja-JP" sz="2400" dirty="0"/>
          </a:p>
          <a:p>
            <a:pPr marL="0" indent="0">
              <a:lnSpc>
                <a:spcPct val="130000"/>
              </a:lnSpc>
              <a:buNone/>
            </a:pPr>
            <a:r>
              <a:rPr lang="ja-JP" altLang="en-US" sz="2400"/>
              <a:t>・明示的に現れない期待を抽出できないという課題を残したした。</a:t>
            </a:r>
            <a:endParaRPr lang="en-US" altLang="ja-JP" sz="2400" dirty="0"/>
          </a:p>
          <a:p>
            <a:endParaRPr kumimoji="1" lang="ja-JP" altLang="en-US"/>
          </a:p>
        </p:txBody>
      </p:sp>
    </p:spTree>
    <p:extLst>
      <p:ext uri="{BB962C8B-B14F-4D97-AF65-F5344CB8AC3E}">
        <p14:creationId xmlns:p14="http://schemas.microsoft.com/office/powerpoint/2010/main" val="25214997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66FDAD-85E1-3380-8263-720315539995}"/>
              </a:ext>
            </a:extLst>
          </p:cNvPr>
          <p:cNvSpPr>
            <a:spLocks noGrp="1"/>
          </p:cNvSpPr>
          <p:nvPr>
            <p:ph type="title"/>
          </p:nvPr>
        </p:nvSpPr>
        <p:spPr/>
        <p:txBody>
          <a:bodyPr/>
          <a:lstStyle/>
          <a:p>
            <a:r>
              <a:rPr kumimoji="1" lang="ja-JP" altLang="en-US"/>
              <a:t>関連研究</a:t>
            </a:r>
          </a:p>
        </p:txBody>
      </p:sp>
      <p:sp>
        <p:nvSpPr>
          <p:cNvPr id="3" name="コンテンツ プレースホルダー 2">
            <a:extLst>
              <a:ext uri="{FF2B5EF4-FFF2-40B4-BE49-F238E27FC236}">
                <a16:creationId xmlns:a16="http://schemas.microsoft.com/office/drawing/2014/main" id="{D0907A70-47AC-9389-FA23-6A70F7152C9F}"/>
              </a:ext>
            </a:extLst>
          </p:cNvPr>
          <p:cNvSpPr>
            <a:spLocks noGrp="1"/>
          </p:cNvSpPr>
          <p:nvPr>
            <p:ph idx="1"/>
          </p:nvPr>
        </p:nvSpPr>
        <p:spPr>
          <a:xfrm>
            <a:off x="628650" y="1690688"/>
            <a:ext cx="7886700" cy="4802185"/>
          </a:xfrm>
          <a:ln>
            <a:noFill/>
          </a:ln>
        </p:spPr>
        <p:txBody>
          <a:bodyPr>
            <a:normAutofit/>
          </a:bodyPr>
          <a:lstStyle/>
          <a:p>
            <a:pPr marL="0" indent="0">
              <a:buNone/>
            </a:pPr>
            <a:r>
              <a:rPr kumimoji="1" lang="ja-JP" altLang="en-US" sz="2400"/>
              <a:t>塚田</a:t>
            </a:r>
            <a:r>
              <a:rPr kumimoji="1" lang="en-US" altLang="ja-JP" sz="2400" dirty="0"/>
              <a:t>[2]</a:t>
            </a:r>
            <a:r>
              <a:rPr kumimoji="1" lang="ja-JP" altLang="en-US" sz="2400"/>
              <a:t>の研究</a:t>
            </a:r>
            <a:endParaRPr kumimoji="1" lang="en-US" altLang="ja-JP" sz="2400" dirty="0"/>
          </a:p>
          <a:p>
            <a:pPr marL="0" indent="0">
              <a:buNone/>
            </a:pPr>
            <a:r>
              <a:rPr lang="en-US" altLang="ja-JP" sz="900" dirty="0"/>
              <a:t> </a:t>
            </a:r>
          </a:p>
          <a:p>
            <a:pPr marL="0" indent="0">
              <a:buNone/>
            </a:pPr>
            <a:r>
              <a:rPr lang="ja-JP" altLang="en-US" sz="2400"/>
              <a:t>研究目的</a:t>
            </a:r>
            <a:endParaRPr lang="en-US" altLang="ja-JP" sz="2400" dirty="0"/>
          </a:p>
          <a:p>
            <a:pPr>
              <a:lnSpc>
                <a:spcPct val="120000"/>
              </a:lnSpc>
            </a:pPr>
            <a:r>
              <a:rPr lang="ja-JP" altLang="en-US" sz="2000"/>
              <a:t>期待を高い精度で抽出すること。</a:t>
            </a:r>
            <a:endParaRPr lang="en-US" altLang="ja-JP" sz="2000" dirty="0"/>
          </a:p>
          <a:p>
            <a:pPr>
              <a:lnSpc>
                <a:spcPct val="120000"/>
              </a:lnSpc>
            </a:pPr>
            <a:r>
              <a:rPr lang="ja-JP" altLang="en-US" sz="2000"/>
              <a:t>明示的に現れない期待の抽出。</a:t>
            </a:r>
            <a:endParaRPr lang="en-US" altLang="ja-JP" sz="2000" dirty="0"/>
          </a:p>
          <a:p>
            <a:pPr marL="0" indent="0">
              <a:lnSpc>
                <a:spcPct val="120000"/>
              </a:lnSpc>
              <a:buNone/>
            </a:pPr>
            <a:r>
              <a:rPr lang="en-US" altLang="ja-JP" sz="900" dirty="0"/>
              <a:t> </a:t>
            </a:r>
          </a:p>
          <a:p>
            <a:pPr marL="0" indent="0">
              <a:buNone/>
              <a:defRPr/>
            </a:pPr>
            <a:r>
              <a:rPr lang="ja-JP" altLang="en-US" sz="2400">
                <a:solidFill>
                  <a:prstClr val="black"/>
                </a:solidFill>
                <a:latin typeface="+mn-ea"/>
              </a:rPr>
              <a:t>実験内容</a:t>
            </a:r>
            <a:endParaRPr lang="en-US" altLang="ja-JP" sz="2400" dirty="0">
              <a:latin typeface="+mn-ea"/>
            </a:endParaRPr>
          </a:p>
          <a:p>
            <a:pPr marL="342900" indent="-342900">
              <a:buAutoNum type="arabicPeriod"/>
            </a:pPr>
            <a:r>
              <a:rPr lang="ja-JP" altLang="en-US" sz="2000">
                <a:ea typeface="+mj-ea"/>
              </a:rPr>
              <a:t>系列ラベリングによる期待を含む</a:t>
            </a:r>
            <a:r>
              <a:rPr lang="en-US" altLang="ja-JP" sz="2000" dirty="0">
                <a:ea typeface="+mj-ea"/>
              </a:rPr>
              <a:t>4</a:t>
            </a:r>
            <a:r>
              <a:rPr lang="ja-JP" altLang="en-US" sz="2000">
                <a:ea typeface="+mj-ea"/>
              </a:rPr>
              <a:t>項組の抽出</a:t>
            </a:r>
            <a:endParaRPr lang="en-US" altLang="ja-JP" sz="2000" dirty="0"/>
          </a:p>
          <a:p>
            <a:pPr marL="342900" indent="-342900">
              <a:buAutoNum type="arabicPeriod"/>
            </a:pPr>
            <a:r>
              <a:rPr lang="ja-JP" altLang="en-US" sz="2000">
                <a:ea typeface="+mj-ea"/>
              </a:rPr>
              <a:t>文分類による期待の抽出</a:t>
            </a:r>
            <a:r>
              <a:rPr kumimoji="1" lang="en-US" altLang="ja-JP" dirty="0">
                <a:ea typeface="+mj-ea"/>
              </a:rPr>
              <a:t>	</a:t>
            </a:r>
          </a:p>
        </p:txBody>
      </p:sp>
    </p:spTree>
    <p:extLst>
      <p:ext uri="{BB962C8B-B14F-4D97-AF65-F5344CB8AC3E}">
        <p14:creationId xmlns:p14="http://schemas.microsoft.com/office/powerpoint/2010/main" val="23393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9A1966-EB64-85D0-E4DF-64BAA913F3AA}"/>
              </a:ext>
            </a:extLst>
          </p:cNvPr>
          <p:cNvSpPr>
            <a:spLocks noGrp="1"/>
          </p:cNvSpPr>
          <p:nvPr>
            <p:ph type="title"/>
          </p:nvPr>
        </p:nvSpPr>
        <p:spPr/>
        <p:txBody>
          <a:bodyPr/>
          <a:lstStyle/>
          <a:p>
            <a:r>
              <a:rPr kumimoji="1" lang="ja-JP" altLang="en-US"/>
              <a:t>関連研究</a:t>
            </a:r>
          </a:p>
        </p:txBody>
      </p:sp>
      <p:sp>
        <p:nvSpPr>
          <p:cNvPr id="3" name="コンテンツ プレースホルダー 2">
            <a:extLst>
              <a:ext uri="{FF2B5EF4-FFF2-40B4-BE49-F238E27FC236}">
                <a16:creationId xmlns:a16="http://schemas.microsoft.com/office/drawing/2014/main" id="{C20EB58E-D239-3203-3A5E-6A40B5692BAA}"/>
              </a:ext>
            </a:extLst>
          </p:cNvPr>
          <p:cNvSpPr>
            <a:spLocks noGrp="1"/>
          </p:cNvSpPr>
          <p:nvPr>
            <p:ph idx="1"/>
          </p:nvPr>
        </p:nvSpPr>
        <p:spPr>
          <a:xfrm>
            <a:off x="628650" y="1825625"/>
            <a:ext cx="7886700" cy="4586192"/>
          </a:xfrm>
        </p:spPr>
        <p:txBody>
          <a:bodyPr>
            <a:normAutofit/>
          </a:bodyPr>
          <a:lstStyle/>
          <a:p>
            <a:pPr marL="0" indent="0">
              <a:buNone/>
            </a:pPr>
            <a:r>
              <a:rPr kumimoji="1" lang="ja-JP" altLang="en-US" sz="2400"/>
              <a:t>塚田の研究結果</a:t>
            </a:r>
            <a:endParaRPr kumimoji="1" lang="en-US" altLang="ja-JP" sz="2400" dirty="0"/>
          </a:p>
          <a:p>
            <a:pPr marL="0" indent="0">
              <a:buNone/>
            </a:pPr>
            <a:endParaRPr lang="en-US" altLang="ja-JP" sz="100" dirty="0"/>
          </a:p>
          <a:p>
            <a:pPr marL="0" indent="0">
              <a:buNone/>
            </a:pPr>
            <a:r>
              <a:rPr lang="ja-JP" altLang="en-US" sz="1800"/>
              <a:t>　</a:t>
            </a:r>
            <a:r>
              <a:rPr lang="ja-JP" altLang="en-US" sz="2000"/>
              <a:t>実験１：期待の完全一致による評価は、</a:t>
            </a:r>
            <a:r>
              <a:rPr lang="en" altLang="ja-JP" sz="2000" dirty="0"/>
              <a:t>F</a:t>
            </a:r>
            <a:r>
              <a:rPr lang="ja-JP" altLang="en-US" sz="2000"/>
              <a:t>値が</a:t>
            </a:r>
            <a:r>
              <a:rPr lang="en-US" altLang="ja-JP" sz="2000" dirty="0"/>
              <a:t>0.467</a:t>
            </a:r>
          </a:p>
          <a:p>
            <a:pPr marL="0" indent="0">
              <a:buNone/>
            </a:pPr>
            <a:r>
              <a:rPr lang="en-US" altLang="ja-JP" sz="2000" dirty="0"/>
              <a:t>	</a:t>
            </a:r>
            <a:r>
              <a:rPr lang="ja-JP" altLang="en-US" sz="2000"/>
              <a:t>　</a:t>
            </a:r>
            <a:r>
              <a:rPr lang="en-US" altLang="ja-JP" sz="2000" dirty="0"/>
              <a:t> </a:t>
            </a:r>
            <a:r>
              <a:rPr lang="ja-JP" altLang="en-US" sz="2000"/>
              <a:t>部分一致による評価では</a:t>
            </a:r>
            <a:r>
              <a:rPr lang="en" altLang="ja-JP" sz="2000" dirty="0"/>
              <a:t>F</a:t>
            </a:r>
            <a:r>
              <a:rPr lang="ja-JP" altLang="en-US" sz="2000"/>
              <a:t>値が</a:t>
            </a:r>
            <a:r>
              <a:rPr lang="en-US" altLang="ja-JP" sz="2000" dirty="0"/>
              <a:t>0.705</a:t>
            </a:r>
            <a:endParaRPr lang="en-US" altLang="ja-JP" sz="100" dirty="0"/>
          </a:p>
          <a:p>
            <a:pPr marL="0" indent="0">
              <a:buNone/>
            </a:pPr>
            <a:r>
              <a:rPr lang="ja-JP" altLang="en-US" sz="2000">
                <a:latin typeface="+mn-ea"/>
              </a:rPr>
              <a:t>　実験２：正解率が</a:t>
            </a:r>
            <a:r>
              <a:rPr lang="en-US" altLang="ja-JP" sz="2000" dirty="0">
                <a:latin typeface="+mn-ea"/>
              </a:rPr>
              <a:t>89.3%</a:t>
            </a:r>
          </a:p>
          <a:p>
            <a:pPr marL="0" indent="0">
              <a:buNone/>
            </a:pPr>
            <a:endParaRPr lang="en-US" altLang="ja-JP" sz="900" dirty="0"/>
          </a:p>
          <a:p>
            <a:pPr marL="0" indent="0">
              <a:buNone/>
            </a:pPr>
            <a:r>
              <a:rPr lang="ja-JP" altLang="en-US" sz="2000"/>
              <a:t>系列ラベリングでは、期待は他の項目よりも精度が低く厳密な完全一致での抽出が困難であったが、文分類では、明示的に現れない期待を含めある程度高い精度で抽出が行えた。</a:t>
            </a:r>
            <a:endParaRPr lang="en-US" altLang="ja-JP" sz="2000" dirty="0"/>
          </a:p>
          <a:p>
            <a:pPr marL="0" indent="0">
              <a:buNone/>
            </a:pPr>
            <a:endParaRPr lang="en-US" altLang="ja-JP" sz="2000" dirty="0"/>
          </a:p>
          <a:p>
            <a:pPr marL="0" indent="0">
              <a:buNone/>
            </a:pPr>
            <a:endParaRPr lang="en-US" altLang="ja-JP" sz="2000" dirty="0"/>
          </a:p>
          <a:p>
            <a:pPr marL="0" indent="0" algn="ctr">
              <a:buNone/>
            </a:pPr>
            <a:r>
              <a:rPr kumimoji="1" lang="ja-JP" altLang="en-US" sz="2400"/>
              <a:t>本研究では文分類手法を用いて期待の抽出を行う。</a:t>
            </a:r>
          </a:p>
        </p:txBody>
      </p:sp>
    </p:spTree>
    <p:extLst>
      <p:ext uri="{BB962C8B-B14F-4D97-AF65-F5344CB8AC3E}">
        <p14:creationId xmlns:p14="http://schemas.microsoft.com/office/powerpoint/2010/main" val="11569419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E71943-A042-9DF1-3BA5-10949F6E2FBF}"/>
              </a:ext>
            </a:extLst>
          </p:cNvPr>
          <p:cNvSpPr>
            <a:spLocks noGrp="1"/>
          </p:cNvSpPr>
          <p:nvPr>
            <p:ph type="title"/>
          </p:nvPr>
        </p:nvSpPr>
        <p:spPr/>
        <p:txBody>
          <a:bodyPr/>
          <a:lstStyle/>
          <a:p>
            <a:r>
              <a:rPr kumimoji="1" lang="ja-JP" altLang="en-US"/>
              <a:t>本研究の位置づけ</a:t>
            </a:r>
          </a:p>
        </p:txBody>
      </p:sp>
      <p:sp>
        <p:nvSpPr>
          <p:cNvPr id="3" name="コンテンツ プレースホルダー 2">
            <a:extLst>
              <a:ext uri="{FF2B5EF4-FFF2-40B4-BE49-F238E27FC236}">
                <a16:creationId xmlns:a16="http://schemas.microsoft.com/office/drawing/2014/main" id="{F7869D9D-E9C8-D717-85B1-6C1FDB5C24C0}"/>
              </a:ext>
            </a:extLst>
          </p:cNvPr>
          <p:cNvSpPr>
            <a:spLocks noGrp="1"/>
          </p:cNvSpPr>
          <p:nvPr>
            <p:ph idx="1"/>
          </p:nvPr>
        </p:nvSpPr>
        <p:spPr/>
        <p:txBody>
          <a:bodyPr>
            <a:normAutofit lnSpcReduction="10000"/>
          </a:bodyPr>
          <a:lstStyle/>
          <a:p>
            <a:r>
              <a:rPr kumimoji="1" lang="ja-JP" altLang="en-US" sz="2000">
                <a:latin typeface="+mn-ea"/>
              </a:rPr>
              <a:t>期待を「顧客の旅行に対しての要望」と定義する。</a:t>
            </a:r>
            <a:endParaRPr kumimoji="1" lang="en-US" altLang="ja-JP" sz="2000" dirty="0">
              <a:latin typeface="+mn-ea"/>
            </a:endParaRPr>
          </a:p>
          <a:p>
            <a:pPr marL="0" indent="0">
              <a:buNone/>
            </a:pPr>
            <a:r>
              <a:rPr lang="ja-JP" altLang="en-US" sz="2000">
                <a:latin typeface="+mn-ea"/>
              </a:rPr>
              <a:t>　　</a:t>
            </a:r>
            <a:r>
              <a:rPr kumimoji="1" lang="ja-JP" altLang="en-US" sz="2000">
                <a:latin typeface="+mn-ea"/>
              </a:rPr>
              <a:t>例</a:t>
            </a:r>
            <a:r>
              <a:rPr kumimoji="1" lang="en-US" altLang="ja-JP" sz="2000" dirty="0">
                <a:latin typeface="+mn-ea"/>
              </a:rPr>
              <a:t>1-1.</a:t>
            </a:r>
            <a:r>
              <a:rPr lang="ja-JP" altLang="en-US" sz="2000">
                <a:latin typeface="+mn-ea"/>
              </a:rPr>
              <a:t>　</a:t>
            </a:r>
            <a:r>
              <a:rPr kumimoji="1" lang="ja-JP" altLang="en-US" sz="2000">
                <a:latin typeface="+mn-ea"/>
              </a:rPr>
              <a:t>顧客</a:t>
            </a:r>
            <a:r>
              <a:rPr lang="ja-JP" altLang="en-US" sz="2000">
                <a:latin typeface="+mn-ea"/>
              </a:rPr>
              <a:t>：</a:t>
            </a:r>
            <a:r>
              <a:rPr kumimoji="1" lang="ja-JP" altLang="en-US" sz="2000">
                <a:latin typeface="+mn-ea"/>
              </a:rPr>
              <a:t>沖縄料理が食べたいです。</a:t>
            </a:r>
            <a:endParaRPr kumimoji="1" lang="en-US" altLang="ja-JP" sz="2000" dirty="0">
              <a:latin typeface="+mn-ea"/>
            </a:endParaRPr>
          </a:p>
          <a:p>
            <a:pPr marL="0" indent="0">
              <a:buNone/>
            </a:pPr>
            <a:r>
              <a:rPr lang="ja-JP" altLang="en-US" sz="2000">
                <a:latin typeface="+mn-ea"/>
              </a:rPr>
              <a:t>　　例</a:t>
            </a:r>
            <a:r>
              <a:rPr lang="en-US" altLang="ja-JP" sz="2000" dirty="0">
                <a:latin typeface="+mn-ea"/>
              </a:rPr>
              <a:t>1-2.</a:t>
            </a:r>
            <a:r>
              <a:rPr lang="ja-JP" altLang="en-US" sz="2000">
                <a:latin typeface="+mn-ea"/>
              </a:rPr>
              <a:t>　</a:t>
            </a:r>
            <a:r>
              <a:rPr kumimoji="1" lang="ja-JP" altLang="en-US" sz="2000">
                <a:latin typeface="+mn-ea"/>
              </a:rPr>
              <a:t>顧客</a:t>
            </a:r>
            <a:r>
              <a:rPr lang="ja-JP" altLang="en-US" sz="2000">
                <a:latin typeface="+mn-ea"/>
              </a:rPr>
              <a:t>：</a:t>
            </a:r>
            <a:r>
              <a:rPr kumimoji="1" lang="ja-JP" altLang="en-US" sz="2000">
                <a:latin typeface="+mn-ea"/>
              </a:rPr>
              <a:t>北海道に行こうと思ってます。</a:t>
            </a:r>
            <a:r>
              <a:rPr kumimoji="1" lang="en-US" altLang="ja-JP" sz="2000" dirty="0">
                <a:latin typeface="+mn-ea"/>
              </a:rPr>
              <a:t>	</a:t>
            </a:r>
          </a:p>
          <a:p>
            <a:pPr marL="0" indent="0">
              <a:buNone/>
            </a:pPr>
            <a:endParaRPr kumimoji="1" lang="en-US" altLang="ja-JP" sz="2000" dirty="0">
              <a:latin typeface="+mn-ea"/>
            </a:endParaRPr>
          </a:p>
          <a:p>
            <a:r>
              <a:rPr kumimoji="1" lang="ja-JP" altLang="en-US" sz="2000">
                <a:latin typeface="+mn-ea"/>
              </a:rPr>
              <a:t>また、対話文章では以下のような期待が考えられる。</a:t>
            </a:r>
            <a:endParaRPr kumimoji="1" lang="en-US" altLang="ja-JP" sz="2000" dirty="0">
              <a:latin typeface="+mn-ea"/>
            </a:endParaRPr>
          </a:p>
          <a:p>
            <a:pPr marL="0" indent="0">
              <a:buNone/>
            </a:pPr>
            <a:r>
              <a:rPr lang="ja-JP" altLang="en-US" sz="2000">
                <a:latin typeface="+mn-ea"/>
              </a:rPr>
              <a:t>　</a:t>
            </a:r>
            <a:r>
              <a:rPr kumimoji="1" lang="ja-JP" altLang="en-US" sz="2000">
                <a:latin typeface="+mn-ea"/>
              </a:rPr>
              <a:t>例</a:t>
            </a:r>
            <a:r>
              <a:rPr kumimoji="1" lang="en-US" altLang="ja-JP" sz="2000" dirty="0">
                <a:latin typeface="+mn-ea"/>
              </a:rPr>
              <a:t>2-1.</a:t>
            </a:r>
            <a:endParaRPr lang="en-US" altLang="ja-JP" sz="2000" dirty="0">
              <a:latin typeface="+mn-ea"/>
            </a:endParaRPr>
          </a:p>
          <a:p>
            <a:pPr marL="0" indent="0">
              <a:buNone/>
            </a:pPr>
            <a:r>
              <a:rPr lang="en-US" altLang="ja-JP" sz="2000" dirty="0">
                <a:latin typeface="+mn-ea"/>
              </a:rPr>
              <a:t>	</a:t>
            </a:r>
            <a:r>
              <a:rPr lang="ja-JP" altLang="en-US" sz="2000">
                <a:latin typeface="+mn-ea"/>
              </a:rPr>
              <a:t>スタッフ：お昼は海鮮とかどうですか？</a:t>
            </a:r>
            <a:endParaRPr lang="en-US" altLang="ja-JP" sz="2000" dirty="0">
              <a:latin typeface="+mn-ea"/>
            </a:endParaRPr>
          </a:p>
          <a:p>
            <a:pPr marL="0" indent="0">
              <a:buNone/>
            </a:pPr>
            <a:r>
              <a:rPr kumimoji="1" lang="en-US" altLang="ja-JP" sz="2000" dirty="0">
                <a:latin typeface="+mn-ea"/>
              </a:rPr>
              <a:t>	</a:t>
            </a:r>
            <a:r>
              <a:rPr kumimoji="1" lang="ja-JP" altLang="en-US" sz="2000">
                <a:latin typeface="+mn-ea"/>
              </a:rPr>
              <a:t>顧客</a:t>
            </a:r>
            <a:r>
              <a:rPr lang="ja-JP" altLang="en-US" sz="2000">
                <a:latin typeface="+mn-ea"/>
              </a:rPr>
              <a:t>：いいですね。</a:t>
            </a:r>
            <a:br>
              <a:rPr lang="en-US" altLang="ja-JP" sz="2000" dirty="0">
                <a:latin typeface="+mn-ea"/>
              </a:rPr>
            </a:br>
            <a:endParaRPr lang="en-US" altLang="ja-JP" sz="2000" dirty="0">
              <a:latin typeface="+mn-ea"/>
            </a:endParaRPr>
          </a:p>
          <a:p>
            <a:pPr marL="0" indent="0">
              <a:buNone/>
            </a:pPr>
            <a:r>
              <a:rPr kumimoji="1" lang="ja-JP" altLang="en-US" sz="2000">
                <a:latin typeface="+mn-ea"/>
              </a:rPr>
              <a:t>　このような</a:t>
            </a:r>
            <a:r>
              <a:rPr lang="ja-JP" altLang="en-US" sz="2000">
                <a:latin typeface="+mn-ea"/>
              </a:rPr>
              <a:t>スタッフの提案に対して、</a:t>
            </a:r>
            <a:r>
              <a:rPr kumimoji="1" lang="ja-JP" altLang="en-US" sz="2000">
                <a:latin typeface="+mn-ea"/>
              </a:rPr>
              <a:t>顧客が反応する形で現れる</a:t>
            </a:r>
            <a:br>
              <a:rPr kumimoji="1" lang="en-US" altLang="ja-JP" sz="2000" dirty="0">
                <a:latin typeface="+mn-ea"/>
              </a:rPr>
            </a:br>
            <a:r>
              <a:rPr kumimoji="1" lang="ja-JP" altLang="en-US" sz="2000">
                <a:latin typeface="+mn-ea"/>
              </a:rPr>
              <a:t>　期待</a:t>
            </a:r>
            <a:r>
              <a:rPr lang="ja-JP" altLang="en-US" sz="2000">
                <a:latin typeface="+mn-ea"/>
              </a:rPr>
              <a:t>が存在するため、</a:t>
            </a:r>
            <a:r>
              <a:rPr kumimoji="1" lang="ja-JP" altLang="en-US" sz="2000">
                <a:latin typeface="+mn-ea"/>
              </a:rPr>
              <a:t>対話文章において対話対の利用が有用ではないか。</a:t>
            </a:r>
          </a:p>
        </p:txBody>
      </p:sp>
    </p:spTree>
    <p:extLst>
      <p:ext uri="{BB962C8B-B14F-4D97-AF65-F5344CB8AC3E}">
        <p14:creationId xmlns:p14="http://schemas.microsoft.com/office/powerpoint/2010/main" val="39616603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56A1E-11F7-7031-2E07-C06265758686}"/>
              </a:ext>
            </a:extLst>
          </p:cNvPr>
          <p:cNvSpPr>
            <a:spLocks noGrp="1"/>
          </p:cNvSpPr>
          <p:nvPr>
            <p:ph type="title"/>
          </p:nvPr>
        </p:nvSpPr>
        <p:spPr/>
        <p:txBody>
          <a:bodyPr/>
          <a:lstStyle/>
          <a:p>
            <a:r>
              <a:rPr kumimoji="1" lang="ja-JP" altLang="en-US"/>
              <a:t>研究目的</a:t>
            </a:r>
          </a:p>
        </p:txBody>
      </p:sp>
      <p:sp>
        <p:nvSpPr>
          <p:cNvPr id="3" name="コンテンツ プレースホルダー 2">
            <a:extLst>
              <a:ext uri="{FF2B5EF4-FFF2-40B4-BE49-F238E27FC236}">
                <a16:creationId xmlns:a16="http://schemas.microsoft.com/office/drawing/2014/main" id="{32B3693F-A4AC-5BBA-2156-192DC83C150E}"/>
              </a:ext>
            </a:extLst>
          </p:cNvPr>
          <p:cNvSpPr>
            <a:spLocks noGrp="1"/>
          </p:cNvSpPr>
          <p:nvPr>
            <p:ph idx="1"/>
          </p:nvPr>
        </p:nvSpPr>
        <p:spPr/>
        <p:txBody>
          <a:bodyPr>
            <a:normAutofit/>
          </a:bodyPr>
          <a:lstStyle/>
          <a:p>
            <a:pPr marL="0" indent="0">
              <a:buNone/>
            </a:pPr>
            <a:endParaRPr lang="en-US" altLang="ja-JP" sz="2400" dirty="0"/>
          </a:p>
          <a:p>
            <a:r>
              <a:rPr lang="ja-JP" altLang="en-US" sz="2400"/>
              <a:t>対話文章での期待抽出精度を向上させる。</a:t>
            </a:r>
            <a:endParaRPr lang="en-US" altLang="ja-JP" sz="2400" dirty="0"/>
          </a:p>
          <a:p>
            <a:endParaRPr lang="en-US" altLang="ja-JP" sz="2400" dirty="0"/>
          </a:p>
          <a:p>
            <a:r>
              <a:rPr lang="ja-JP" altLang="en-US" sz="2400"/>
              <a:t>文単位での分類手法と対話対単位での分類を行う。</a:t>
            </a:r>
            <a:endParaRPr lang="en-US" altLang="ja-JP" sz="2400" dirty="0"/>
          </a:p>
        </p:txBody>
      </p:sp>
    </p:spTree>
    <p:extLst>
      <p:ext uri="{BB962C8B-B14F-4D97-AF65-F5344CB8AC3E}">
        <p14:creationId xmlns:p14="http://schemas.microsoft.com/office/powerpoint/2010/main" val="13732434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9C51C4-F686-D79F-DC54-A62915555712}"/>
              </a:ext>
            </a:extLst>
          </p:cNvPr>
          <p:cNvSpPr>
            <a:spLocks noGrp="1"/>
          </p:cNvSpPr>
          <p:nvPr>
            <p:ph type="title"/>
          </p:nvPr>
        </p:nvSpPr>
        <p:spPr/>
        <p:txBody>
          <a:bodyPr>
            <a:normAutofit/>
          </a:bodyPr>
          <a:lstStyle/>
          <a:p>
            <a:r>
              <a:rPr lang="ja-JP" altLang="en-US" sz="3400" b="1">
                <a:latin typeface="+mj-ea"/>
              </a:rPr>
              <a:t>期待文の文分類と対話対分類実験</a:t>
            </a:r>
            <a:endParaRPr lang="en-US" altLang="ja-JP" sz="3400" b="1" dirty="0">
              <a:latin typeface="+mj-ea"/>
            </a:endParaRPr>
          </a:p>
        </p:txBody>
      </p:sp>
      <p:sp>
        <p:nvSpPr>
          <p:cNvPr id="3" name="コンテンツ プレースホルダー 2">
            <a:extLst>
              <a:ext uri="{FF2B5EF4-FFF2-40B4-BE49-F238E27FC236}">
                <a16:creationId xmlns:a16="http://schemas.microsoft.com/office/drawing/2014/main" id="{1C16979B-7172-6532-7C47-1F8424B47C8C}"/>
              </a:ext>
            </a:extLst>
          </p:cNvPr>
          <p:cNvSpPr>
            <a:spLocks noGrp="1"/>
          </p:cNvSpPr>
          <p:nvPr>
            <p:ph idx="1"/>
          </p:nvPr>
        </p:nvSpPr>
        <p:spPr/>
        <p:txBody>
          <a:bodyPr/>
          <a:lstStyle/>
          <a:p>
            <a:pPr marL="0" indent="0">
              <a:buNone/>
            </a:pPr>
            <a:r>
              <a:rPr lang="ja-JP" altLang="en-US" b="1">
                <a:latin typeface="+mj-ea"/>
                <a:ea typeface="+mj-ea"/>
              </a:rPr>
              <a:t>方針</a:t>
            </a:r>
            <a:endParaRPr lang="en-US" altLang="ja-JP" b="1" dirty="0">
              <a:latin typeface="+mj-ea"/>
              <a:ea typeface="+mj-ea"/>
            </a:endParaRPr>
          </a:p>
          <a:p>
            <a:r>
              <a:rPr lang="ja-JP" altLang="en-US" sz="2400">
                <a:latin typeface="+mn-ea"/>
              </a:rPr>
              <a:t>期待の有無は文単位で決めるものとする。</a:t>
            </a:r>
            <a:endParaRPr lang="en-US" altLang="ja-JP" b="1" dirty="0">
              <a:latin typeface="+mn-ea"/>
            </a:endParaRPr>
          </a:p>
          <a:p>
            <a:r>
              <a:rPr kumimoji="1" lang="ja-JP" altLang="en-US" sz="2400">
                <a:latin typeface="+mn-ea"/>
              </a:rPr>
              <a:t>以下の２つの単位で期待の有無の分類実験を行う。</a:t>
            </a:r>
            <a:endParaRPr lang="en-US" altLang="ja-JP" sz="2400" dirty="0">
              <a:latin typeface="+mn-ea"/>
            </a:endParaRPr>
          </a:p>
          <a:p>
            <a:pPr lvl="1">
              <a:buSzPct val="60000"/>
              <a:buFont typeface="Wingdings" pitchFamily="2" charset="2"/>
              <a:buChar char="n"/>
            </a:pPr>
            <a:r>
              <a:rPr lang="ja-JP" altLang="en-US">
                <a:latin typeface="+mn-ea"/>
              </a:rPr>
              <a:t>一文単位</a:t>
            </a:r>
            <a:endParaRPr lang="en-US" altLang="ja-JP" sz="2800" dirty="0">
              <a:latin typeface="+mn-ea"/>
            </a:endParaRPr>
          </a:p>
          <a:p>
            <a:pPr lvl="1">
              <a:buSzPct val="60000"/>
              <a:buFont typeface="Wingdings" pitchFamily="2" charset="2"/>
              <a:buChar char="n"/>
            </a:pPr>
            <a:r>
              <a:rPr lang="ja-JP" altLang="en-US">
                <a:latin typeface="+mn-ea"/>
              </a:rPr>
              <a:t>スタッフと顧客との対話対単位</a:t>
            </a:r>
            <a:endParaRPr lang="en-US" altLang="ja-JP" dirty="0">
              <a:latin typeface="+mn-ea"/>
            </a:endParaRPr>
          </a:p>
          <a:p>
            <a:pPr>
              <a:buSzPct val="100000"/>
            </a:pPr>
            <a:endParaRPr lang="en-US" altLang="ja-JP" dirty="0">
              <a:latin typeface="+mn-ea"/>
            </a:endParaRPr>
          </a:p>
          <a:p>
            <a:pPr marL="0" indent="0">
              <a:buNone/>
            </a:pPr>
            <a:endParaRPr lang="en-US" altLang="ja-JP" sz="2400" dirty="0">
              <a:latin typeface="+mn-ea"/>
            </a:endParaRPr>
          </a:p>
          <a:p>
            <a:pPr marL="0" indent="0">
              <a:buNone/>
            </a:pPr>
            <a:r>
              <a:rPr lang="ja-JP" altLang="en-US" sz="2000">
                <a:latin typeface="+mn-ea"/>
              </a:rPr>
              <a:t>　</a:t>
            </a:r>
            <a:endParaRPr lang="en-US" altLang="ja-JP" sz="2000" dirty="0">
              <a:latin typeface="+mn-ea"/>
            </a:endParaRPr>
          </a:p>
        </p:txBody>
      </p:sp>
    </p:spTree>
    <p:extLst>
      <p:ext uri="{BB962C8B-B14F-4D97-AF65-F5344CB8AC3E}">
        <p14:creationId xmlns:p14="http://schemas.microsoft.com/office/powerpoint/2010/main" val="3628866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EC719E-8B33-8E31-1271-BE970BD00D71}"/>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ECD12795-6E05-A47B-7879-9FF1385DB179}"/>
              </a:ext>
            </a:extLst>
          </p:cNvPr>
          <p:cNvSpPr>
            <a:spLocks noGrp="1"/>
          </p:cNvSpPr>
          <p:nvPr>
            <p:ph idx="1"/>
          </p:nvPr>
        </p:nvSpPr>
        <p:spPr>
          <a:xfrm>
            <a:off x="628650" y="1690689"/>
            <a:ext cx="7886700" cy="4351338"/>
          </a:xfrm>
        </p:spPr>
        <p:txBody>
          <a:bodyPr/>
          <a:lstStyle/>
          <a:p>
            <a:pPr marL="0" indent="0">
              <a:buNone/>
            </a:pPr>
            <a:r>
              <a:rPr lang="ja-JP" altLang="en-US">
                <a:latin typeface="+mn-ea"/>
              </a:rPr>
              <a:t>実験設定</a:t>
            </a:r>
            <a:endParaRPr lang="en-US" altLang="ja-JP" dirty="0">
              <a:latin typeface="+mn-ea"/>
            </a:endParaRPr>
          </a:p>
          <a:p>
            <a:pPr marL="0" indent="0">
              <a:buNone/>
            </a:pPr>
            <a:r>
              <a:rPr lang="ja-JP" altLang="en-US"/>
              <a:t>期待文のラベル付け</a:t>
            </a:r>
            <a:endParaRPr lang="en-US" altLang="ja-JP" dirty="0"/>
          </a:p>
          <a:p>
            <a:pPr marL="0" indent="0">
              <a:buNone/>
            </a:pPr>
            <a:endParaRPr lang="en-US" altLang="ja-JP" sz="1200" dirty="0"/>
          </a:p>
          <a:p>
            <a:pPr marL="0" indent="0">
              <a:buNone/>
            </a:pPr>
            <a:r>
              <a:rPr lang="ja-JP" altLang="en-US" sz="2400">
                <a:latin typeface="+mn-ea"/>
              </a:rPr>
              <a:t>・データセットにセグメント単位で人手によってつけられたよってアノテーションデータを用いる。</a:t>
            </a:r>
            <a:endParaRPr lang="en-US" altLang="ja-JP" sz="2400" dirty="0">
              <a:latin typeface="+mn-ea"/>
            </a:endParaRPr>
          </a:p>
          <a:p>
            <a:pPr marL="0" indent="0">
              <a:buNone/>
            </a:pPr>
            <a:r>
              <a:rPr lang="ja-JP" altLang="en-US" sz="2400" kern="0">
                <a:effectLst/>
                <a:latin typeface="+mn-ea"/>
                <a:cs typeface="ＭＳ Ｐゴシック" panose="020B0600070205080204" pitchFamily="34" charset="-128"/>
              </a:rPr>
              <a:t>・</a:t>
            </a:r>
            <a:r>
              <a:rPr lang="en-US" altLang="ja-JP" sz="2400" kern="0" dirty="0" err="1">
                <a:effectLst/>
                <a:latin typeface="+mn-ea"/>
                <a:cs typeface="ＭＳ Ｐゴシック" panose="020B0600070205080204" pitchFamily="34" charset="-128"/>
              </a:rPr>
              <a:t>SpotRequirement</a:t>
            </a:r>
            <a:r>
              <a:rPr lang="ja-JP" altLang="en-US" sz="2400">
                <a:latin typeface="+mn-ea"/>
              </a:rPr>
              <a:t>タグ</a:t>
            </a:r>
            <a:r>
              <a:rPr lang="ja-JP" altLang="en-US" sz="2400" kern="0">
                <a:effectLst/>
                <a:latin typeface="+mn-ea"/>
                <a:cs typeface="ＭＳ Ｐゴシック" panose="020B0600070205080204" pitchFamily="34" charset="-128"/>
              </a:rPr>
              <a:t>がつけられた</a:t>
            </a:r>
            <a:r>
              <a:rPr lang="ja-JP" altLang="en-US" sz="2400">
                <a:latin typeface="+mn-ea"/>
              </a:rPr>
              <a:t>セグメントを含む一文を期待文と定義する。</a:t>
            </a:r>
            <a:endParaRPr lang="en-US" altLang="ja-JP" sz="2400" dirty="0">
              <a:latin typeface="+mn-ea"/>
            </a:endParaRPr>
          </a:p>
          <a:p>
            <a:pPr marL="0" indent="0">
              <a:buNone/>
            </a:pPr>
            <a:r>
              <a:rPr lang="ja-JP" altLang="en-US" sz="2400"/>
              <a:t>・</a:t>
            </a:r>
            <a:r>
              <a:rPr lang="en-US" altLang="ja-JP" sz="2400" kern="0" dirty="0">
                <a:effectLst/>
                <a:latin typeface="+mn-ea"/>
                <a:cs typeface="ＭＳ Ｐゴシック" panose="020B0600070205080204" pitchFamily="34" charset="-128"/>
              </a:rPr>
              <a:t> </a:t>
            </a:r>
            <a:r>
              <a:rPr lang="en-US" altLang="ja-JP" sz="2400" kern="0" dirty="0" err="1">
                <a:effectLst/>
                <a:latin typeface="+mn-ea"/>
                <a:cs typeface="ＭＳ Ｐゴシック" panose="020B0600070205080204" pitchFamily="34" charset="-128"/>
              </a:rPr>
              <a:t>SpotRequirement</a:t>
            </a:r>
            <a:r>
              <a:rPr lang="ja-JP" altLang="en-US" sz="2400" kern="0">
                <a:effectLst/>
                <a:latin typeface="+mn-ea"/>
                <a:cs typeface="ＭＳ Ｐゴシック" panose="020B0600070205080204" pitchFamily="34" charset="-128"/>
              </a:rPr>
              <a:t>タグは以下のように定義され、これは今回の期待の定義と一致する。</a:t>
            </a:r>
            <a:endParaRPr lang="en-US" altLang="ja-JP" sz="2400" dirty="0"/>
          </a:p>
        </p:txBody>
      </p:sp>
    </p:spTree>
    <p:extLst>
      <p:ext uri="{BB962C8B-B14F-4D97-AF65-F5344CB8AC3E}">
        <p14:creationId xmlns:p14="http://schemas.microsoft.com/office/powerpoint/2010/main" val="13778313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3FF8F4-1467-4082-B8F6-0721441A8AB6}"/>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92E2A51A-C124-53A0-AF84-8EA01CB6C14E}"/>
              </a:ext>
            </a:extLst>
          </p:cNvPr>
          <p:cNvSpPr>
            <a:spLocks noGrp="1"/>
          </p:cNvSpPr>
          <p:nvPr>
            <p:ph idx="1"/>
          </p:nvPr>
        </p:nvSpPr>
        <p:spPr>
          <a:xfrm>
            <a:off x="628650" y="1690688"/>
            <a:ext cx="7886700" cy="5075871"/>
          </a:xfrm>
        </p:spPr>
        <p:txBody>
          <a:bodyPr>
            <a:normAutofit/>
          </a:bodyPr>
          <a:lstStyle/>
          <a:p>
            <a:pPr marL="0" indent="0">
              <a:buNone/>
            </a:pPr>
            <a:r>
              <a:rPr lang="ja-JP" altLang="en-US">
                <a:latin typeface="+mn-ea"/>
              </a:rPr>
              <a:t>実験設定</a:t>
            </a:r>
            <a:endParaRPr lang="en-US" altLang="ja-JP" dirty="0">
              <a:latin typeface="+mn-ea"/>
            </a:endParaRPr>
          </a:p>
          <a:p>
            <a:pPr marL="0" indent="0">
              <a:buNone/>
            </a:pPr>
            <a:r>
              <a:rPr lang="ja-JP" altLang="en-US" sz="2800"/>
              <a:t>データセット</a:t>
            </a:r>
            <a:endParaRPr lang="en-US" altLang="ja-JP" sz="2800" dirty="0"/>
          </a:p>
          <a:p>
            <a:pPr marL="0" indent="0">
              <a:buNone/>
            </a:pPr>
            <a:endParaRPr lang="en-US" altLang="ja-JP" sz="1100" dirty="0"/>
          </a:p>
          <a:p>
            <a:r>
              <a:rPr lang="ja-JP" altLang="en-US" sz="2400"/>
              <a:t>文単位分類モデルは対話対単位分類モデルで用意した対話対から顧客の発話のみを抽出したものとした。</a:t>
            </a:r>
            <a:endParaRPr lang="en-US" altLang="ja-JP" dirty="0"/>
          </a:p>
          <a:p>
            <a:r>
              <a:rPr kumimoji="1" lang="ja-JP" altLang="en-US" sz="2400" b="0" i="0" u="none" strike="noStrike" kern="1200" cap="none" spc="0" normalizeH="0" baseline="0" noProof="0">
                <a:ln>
                  <a:noFill/>
                </a:ln>
                <a:solidFill>
                  <a:prstClr val="black"/>
                </a:solidFill>
                <a:effectLst/>
                <a:uLnTx/>
                <a:uFillTx/>
                <a:latin typeface="+mn-ea"/>
                <a:cs typeface="Segoe UI" panose="020B0502040204020203" pitchFamily="34" charset="0"/>
              </a:rPr>
              <a:t>学習用</a:t>
            </a:r>
            <a:r>
              <a:rPr kumimoji="1" lang="en-US" altLang="ja-JP" sz="2400" b="0" i="0" u="none" strike="noStrike" kern="1200" cap="none" spc="0" normalizeH="0" baseline="0" noProof="0" dirty="0">
                <a:ln>
                  <a:noFill/>
                </a:ln>
                <a:solidFill>
                  <a:prstClr val="black"/>
                </a:solidFill>
                <a:effectLst/>
                <a:uLnTx/>
                <a:uFillTx/>
                <a:latin typeface="+mn-ea"/>
                <a:cs typeface="Segoe UI" panose="020B0502040204020203" pitchFamily="34" charset="0"/>
              </a:rPr>
              <a:t>60%, </a:t>
            </a:r>
            <a:r>
              <a:rPr kumimoji="1" lang="ja-JP" altLang="en-US" sz="2400" b="0" i="0" u="none" strike="noStrike" kern="1200" cap="none" spc="0" normalizeH="0" baseline="0" noProof="0">
                <a:ln>
                  <a:noFill/>
                </a:ln>
                <a:solidFill>
                  <a:prstClr val="black"/>
                </a:solidFill>
                <a:effectLst/>
                <a:uLnTx/>
                <a:uFillTx/>
                <a:latin typeface="+mn-ea"/>
                <a:cs typeface="Segoe UI" panose="020B0502040204020203" pitchFamily="34" charset="0"/>
              </a:rPr>
              <a:t>検証用</a:t>
            </a:r>
            <a:r>
              <a:rPr kumimoji="1" lang="en-US" altLang="ja-JP" sz="2400" b="0" i="0" u="none" strike="noStrike" kern="1200" cap="none" spc="0" normalizeH="0" baseline="0" noProof="0" dirty="0">
                <a:ln>
                  <a:noFill/>
                </a:ln>
                <a:solidFill>
                  <a:prstClr val="black"/>
                </a:solidFill>
                <a:effectLst/>
                <a:uLnTx/>
                <a:uFillTx/>
                <a:latin typeface="+mn-ea"/>
                <a:cs typeface="Segoe UI" panose="020B0502040204020203" pitchFamily="34" charset="0"/>
              </a:rPr>
              <a:t>20%, </a:t>
            </a:r>
            <a:r>
              <a:rPr kumimoji="1" lang="ja-JP" altLang="en-US" sz="2400" b="0" i="0" u="none" strike="noStrike" kern="1200" cap="none" spc="0" normalizeH="0" baseline="0" noProof="0">
                <a:ln>
                  <a:noFill/>
                </a:ln>
                <a:solidFill>
                  <a:prstClr val="black"/>
                </a:solidFill>
                <a:effectLst/>
                <a:uLnTx/>
                <a:uFillTx/>
                <a:latin typeface="+mn-ea"/>
                <a:cs typeface="Segoe UI" panose="020B0502040204020203" pitchFamily="34" charset="0"/>
              </a:rPr>
              <a:t>テスト用</a:t>
            </a:r>
            <a:r>
              <a:rPr kumimoji="1" lang="en-US" altLang="ja-JP" sz="2400" b="0" i="0" u="none" strike="noStrike" kern="1200" cap="none" spc="0" normalizeH="0" baseline="0" noProof="0" dirty="0">
                <a:ln>
                  <a:noFill/>
                </a:ln>
                <a:solidFill>
                  <a:prstClr val="black"/>
                </a:solidFill>
                <a:effectLst/>
                <a:uLnTx/>
                <a:uFillTx/>
                <a:latin typeface="+mn-ea"/>
                <a:cs typeface="Segoe UI" panose="020B0502040204020203" pitchFamily="34" charset="0"/>
              </a:rPr>
              <a:t>20%</a:t>
            </a:r>
            <a:r>
              <a:rPr kumimoji="1" lang="ja-JP" altLang="en-US" sz="2400" b="0" i="0" u="none" strike="noStrike" kern="1200" cap="none" spc="0" normalizeH="0" baseline="0" noProof="0">
                <a:ln>
                  <a:noFill/>
                </a:ln>
                <a:solidFill>
                  <a:prstClr val="black"/>
                </a:solidFill>
                <a:effectLst/>
                <a:uLnTx/>
                <a:uFillTx/>
                <a:latin typeface="+mn-ea"/>
                <a:cs typeface="Segoe UI" panose="020B0502040204020203" pitchFamily="34" charset="0"/>
              </a:rPr>
              <a:t>に分割した。</a:t>
            </a:r>
            <a:endParaRPr kumimoji="1" lang="en-US" altLang="ja-JP" sz="2400" b="0" i="0" u="none" strike="noStrike" kern="1200" cap="none" spc="0" normalizeH="0" baseline="0" noProof="0" dirty="0">
              <a:ln>
                <a:noFill/>
              </a:ln>
              <a:solidFill>
                <a:prstClr val="black"/>
              </a:solidFill>
              <a:effectLst/>
              <a:uLnTx/>
              <a:uFillTx/>
              <a:latin typeface="+mn-ea"/>
              <a:cs typeface="Segoe UI" panose="020B0502040204020203" pitchFamily="34" charset="0"/>
            </a:endParaRPr>
          </a:p>
          <a:p>
            <a:endParaRPr kumimoji="1" lang="en-US" altLang="ja-JP" sz="2400" b="0" i="0" u="none" strike="noStrike" kern="1200" cap="none" spc="0" normalizeH="0" baseline="0" noProof="0" dirty="0">
              <a:ln>
                <a:noFill/>
              </a:ln>
              <a:solidFill>
                <a:prstClr val="black"/>
              </a:solidFill>
              <a:effectLst/>
              <a:uLnTx/>
              <a:uFillTx/>
              <a:latin typeface="+mn-ea"/>
              <a:cs typeface="Segoe UI" panose="020B0502040204020203" pitchFamily="34" charset="0"/>
            </a:endParaRPr>
          </a:p>
          <a:p>
            <a:pPr marL="0" indent="0">
              <a:buNone/>
            </a:pPr>
            <a:endParaRPr lang="en-US" altLang="ja-JP" dirty="0"/>
          </a:p>
        </p:txBody>
      </p:sp>
      <p:graphicFrame>
        <p:nvGraphicFramePr>
          <p:cNvPr id="4" name="表 3">
            <a:extLst>
              <a:ext uri="{FF2B5EF4-FFF2-40B4-BE49-F238E27FC236}">
                <a16:creationId xmlns:a16="http://schemas.microsoft.com/office/drawing/2014/main" id="{3C7399FD-5D2C-CEB0-E4B6-56711C743946}"/>
              </a:ext>
            </a:extLst>
          </p:cNvPr>
          <p:cNvGraphicFramePr>
            <a:graphicFrameLocks noGrp="1"/>
          </p:cNvGraphicFramePr>
          <p:nvPr>
            <p:extLst>
              <p:ext uri="{D42A27DB-BD31-4B8C-83A1-F6EECF244321}">
                <p14:modId xmlns:p14="http://schemas.microsoft.com/office/powerpoint/2010/main" val="3486778665"/>
              </p:ext>
            </p:extLst>
          </p:nvPr>
        </p:nvGraphicFramePr>
        <p:xfrm>
          <a:off x="1020428" y="4636064"/>
          <a:ext cx="7103144" cy="1307536"/>
        </p:xfrm>
        <a:graphic>
          <a:graphicData uri="http://schemas.openxmlformats.org/drawingml/2006/table">
            <a:tbl>
              <a:tblPr firstRow="1" bandRow="1">
                <a:tableStyleId>{5940675A-B579-460E-94D1-54222C63F5DA}</a:tableStyleId>
              </a:tblPr>
              <a:tblGrid>
                <a:gridCol w="2722516">
                  <a:extLst>
                    <a:ext uri="{9D8B030D-6E8A-4147-A177-3AD203B41FA5}">
                      <a16:colId xmlns:a16="http://schemas.microsoft.com/office/drawing/2014/main" val="4006301354"/>
                    </a:ext>
                  </a:extLst>
                </a:gridCol>
                <a:gridCol w="2133600">
                  <a:extLst>
                    <a:ext uri="{9D8B030D-6E8A-4147-A177-3AD203B41FA5}">
                      <a16:colId xmlns:a16="http://schemas.microsoft.com/office/drawing/2014/main" val="396819951"/>
                    </a:ext>
                  </a:extLst>
                </a:gridCol>
                <a:gridCol w="2247028">
                  <a:extLst>
                    <a:ext uri="{9D8B030D-6E8A-4147-A177-3AD203B41FA5}">
                      <a16:colId xmlns:a16="http://schemas.microsoft.com/office/drawing/2014/main" val="1524326336"/>
                    </a:ext>
                  </a:extLst>
                </a:gridCol>
              </a:tblGrid>
              <a:tr h="398442">
                <a:tc>
                  <a:txBody>
                    <a:bodyPr/>
                    <a:lstStyle/>
                    <a:p>
                      <a:endParaRPr kumimoji="1" lang="ja-JP" altLang="en-US" sz="2000" b="1"/>
                    </a:p>
                  </a:txBody>
                  <a:tcPr marL="68580" marR="68580" marT="34290" marB="34290">
                    <a:solidFill>
                      <a:schemeClr val="bg2"/>
                    </a:solidFill>
                  </a:tcPr>
                </a:tc>
                <a:tc>
                  <a:txBody>
                    <a:bodyPr/>
                    <a:lstStyle/>
                    <a:p>
                      <a:r>
                        <a:rPr kumimoji="1" lang="ja-JP" altLang="en-US" sz="2000" b="0"/>
                        <a:t>期待あり</a:t>
                      </a:r>
                    </a:p>
                  </a:txBody>
                  <a:tcPr marL="68580" marR="68580" marT="34290" marB="34290">
                    <a:solidFill>
                      <a:schemeClr val="bg2"/>
                    </a:solidFill>
                  </a:tcPr>
                </a:tc>
                <a:tc>
                  <a:txBody>
                    <a:bodyPr/>
                    <a:lstStyle/>
                    <a:p>
                      <a:r>
                        <a:rPr kumimoji="1" lang="ja-JP" altLang="en-US" sz="2000" b="0"/>
                        <a:t>期待なし</a:t>
                      </a:r>
                    </a:p>
                  </a:txBody>
                  <a:tcPr marL="68580" marR="68580" marT="34290" marB="34290">
                    <a:solidFill>
                      <a:schemeClr val="bg2"/>
                    </a:solidFill>
                  </a:tcPr>
                </a:tc>
                <a:extLst>
                  <a:ext uri="{0D108BD9-81ED-4DB2-BD59-A6C34878D82A}">
                    <a16:rowId xmlns:a16="http://schemas.microsoft.com/office/drawing/2014/main" val="1311456292"/>
                  </a:ext>
                </a:extLst>
              </a:tr>
              <a:tr h="454547">
                <a:tc>
                  <a:txBody>
                    <a:bodyPr/>
                    <a:lstStyle/>
                    <a:p>
                      <a:r>
                        <a:rPr lang="ja-JP" altLang="en-US" sz="2000"/>
                        <a:t>文分類モデル</a:t>
                      </a:r>
                      <a:endParaRPr kumimoji="1" lang="ja-JP" altLang="en-US" sz="2000"/>
                    </a:p>
                  </a:txBody>
                  <a:tcPr marL="68580" marR="68580" marT="34290" marB="34290"/>
                </a:tc>
                <a:tc>
                  <a:txBody>
                    <a:bodyPr/>
                    <a:lstStyle/>
                    <a:p>
                      <a:r>
                        <a:rPr kumimoji="1" lang="en-US" altLang="ja-JP" sz="2000" dirty="0"/>
                        <a:t>1382</a:t>
                      </a:r>
                      <a:r>
                        <a:rPr kumimoji="1" lang="ja-JP" altLang="en-US" sz="2000"/>
                        <a:t>文</a:t>
                      </a:r>
                    </a:p>
                  </a:txBody>
                  <a:tcPr marL="68580" marR="68580" marT="34290" marB="34290"/>
                </a:tc>
                <a:tc>
                  <a:txBody>
                    <a:bodyPr/>
                    <a:lstStyle/>
                    <a:p>
                      <a:r>
                        <a:rPr kumimoji="1" lang="en-US" altLang="ja-JP" sz="2000" dirty="0"/>
                        <a:t>1382</a:t>
                      </a:r>
                      <a:r>
                        <a:rPr kumimoji="1" lang="ja-JP" altLang="en-US" sz="2000"/>
                        <a:t>文</a:t>
                      </a:r>
                    </a:p>
                  </a:txBody>
                  <a:tcPr marL="68580" marR="68580" marT="34290" marB="34290"/>
                </a:tc>
                <a:extLst>
                  <a:ext uri="{0D108BD9-81ED-4DB2-BD59-A6C34878D82A}">
                    <a16:rowId xmlns:a16="http://schemas.microsoft.com/office/drawing/2014/main" val="343387893"/>
                  </a:ext>
                </a:extLst>
              </a:tr>
              <a:tr h="454547">
                <a:tc>
                  <a:txBody>
                    <a:bodyPr/>
                    <a:lstStyle/>
                    <a:p>
                      <a:r>
                        <a:rPr lang="ja-JP" altLang="en-US" sz="2000"/>
                        <a:t>対話対分類モデル</a:t>
                      </a:r>
                      <a:endParaRPr kumimoji="1" lang="ja-JP" altLang="en-US" sz="2000"/>
                    </a:p>
                  </a:txBody>
                  <a:tcPr marL="68580" marR="68580" marT="34290" marB="34290"/>
                </a:tc>
                <a:tc>
                  <a:txBody>
                    <a:bodyPr/>
                    <a:lstStyle/>
                    <a:p>
                      <a:r>
                        <a:rPr kumimoji="1" lang="en-US" altLang="ja-JP" sz="2000" dirty="0"/>
                        <a:t>1382</a:t>
                      </a:r>
                      <a:r>
                        <a:rPr kumimoji="1" lang="ja-JP" altLang="en-US" sz="2000"/>
                        <a:t>対</a:t>
                      </a:r>
                    </a:p>
                  </a:txBody>
                  <a:tcPr marL="68580" marR="68580" marT="34290" marB="34290"/>
                </a:tc>
                <a:tc>
                  <a:txBody>
                    <a:bodyPr/>
                    <a:lstStyle/>
                    <a:p>
                      <a:r>
                        <a:rPr kumimoji="1" lang="en-US" altLang="ja-JP" sz="2000" dirty="0"/>
                        <a:t>1382</a:t>
                      </a:r>
                      <a:r>
                        <a:rPr kumimoji="1" lang="ja-JP" altLang="en-US" sz="2000"/>
                        <a:t>対</a:t>
                      </a:r>
                    </a:p>
                  </a:txBody>
                  <a:tcPr marL="68580" marR="68580" marT="34290" marB="34290"/>
                </a:tc>
                <a:extLst>
                  <a:ext uri="{0D108BD9-81ED-4DB2-BD59-A6C34878D82A}">
                    <a16:rowId xmlns:a16="http://schemas.microsoft.com/office/drawing/2014/main" val="1695522976"/>
                  </a:ext>
                </a:extLst>
              </a:tr>
            </a:tbl>
          </a:graphicData>
        </a:graphic>
      </p:graphicFrame>
    </p:spTree>
    <p:extLst>
      <p:ext uri="{BB962C8B-B14F-4D97-AF65-F5344CB8AC3E}">
        <p14:creationId xmlns:p14="http://schemas.microsoft.com/office/powerpoint/2010/main" val="2275382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7ECD1-0E03-4CD2-F4E5-7D6C04CBD2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112C749-25D2-B3E8-2DAC-224B88B7561E}"/>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F3134A4C-C0FE-4746-ED8A-D254A5E176F6}"/>
              </a:ext>
            </a:extLst>
          </p:cNvPr>
          <p:cNvSpPr>
            <a:spLocks noGrp="1"/>
          </p:cNvSpPr>
          <p:nvPr>
            <p:ph idx="1"/>
          </p:nvPr>
        </p:nvSpPr>
        <p:spPr>
          <a:xfrm>
            <a:off x="628650" y="1690688"/>
            <a:ext cx="7886700" cy="5075871"/>
          </a:xfrm>
        </p:spPr>
        <p:txBody>
          <a:bodyPr>
            <a:normAutofit/>
          </a:bodyPr>
          <a:lstStyle/>
          <a:p>
            <a:pPr marL="0" indent="0">
              <a:buNone/>
            </a:pPr>
            <a:r>
              <a:rPr lang="ja-JP" altLang="en-US">
                <a:latin typeface="+mn-ea"/>
              </a:rPr>
              <a:t>実験設定</a:t>
            </a:r>
            <a:endParaRPr lang="en-US" altLang="ja-JP" dirty="0">
              <a:latin typeface="+mn-ea"/>
            </a:endParaRPr>
          </a:p>
          <a:p>
            <a:r>
              <a:rPr lang="ja-JP" altLang="en-US" sz="2400"/>
              <a:t>事前学習された</a:t>
            </a:r>
            <a:r>
              <a:rPr lang="en-US" altLang="ja-JP" sz="2400" dirty="0"/>
              <a:t>BERT</a:t>
            </a:r>
            <a:r>
              <a:rPr lang="ja-JP" altLang="en-US" sz="2400"/>
              <a:t>を学習用データセットでファインチューニング。</a:t>
            </a:r>
            <a:endParaRPr lang="en-US" altLang="ja-JP" sz="2400" dirty="0"/>
          </a:p>
          <a:p>
            <a:r>
              <a:rPr lang="en" altLang="ja-JP" sz="2400" dirty="0"/>
              <a:t>Transformers </a:t>
            </a:r>
            <a:r>
              <a:rPr lang="ja-JP" altLang="en-US" sz="2400"/>
              <a:t>の </a:t>
            </a:r>
            <a:r>
              <a:rPr lang="en" altLang="ja-JP" sz="2400" dirty="0" err="1"/>
              <a:t>BertForTokenClassification</a:t>
            </a:r>
            <a:r>
              <a:rPr lang="en" altLang="ja-JP" sz="2400" dirty="0"/>
              <a:t> </a:t>
            </a:r>
            <a:r>
              <a:rPr lang="ja-JP" altLang="en-US" sz="2400"/>
              <a:t>クラスにより実装した。</a:t>
            </a:r>
            <a:endParaRPr lang="en-US" altLang="ja-JP" sz="2400" dirty="0"/>
          </a:p>
          <a:p>
            <a:r>
              <a:rPr lang="ja-JP" altLang="en-US" sz="2400"/>
              <a:t>入力テキスト例</a:t>
            </a:r>
            <a:endParaRPr lang="en-US" altLang="ja-JP" sz="2400" dirty="0"/>
          </a:p>
          <a:p>
            <a:pPr marL="457200" lvl="1" indent="0">
              <a:buNone/>
            </a:pPr>
            <a:r>
              <a:rPr lang="ja-JP" altLang="en-US"/>
              <a:t>文単位分類モデル</a:t>
            </a:r>
            <a:endParaRPr lang="en-US" altLang="ja-JP" dirty="0"/>
          </a:p>
          <a:p>
            <a:pPr marL="457200" lvl="1" indent="0">
              <a:buNone/>
            </a:pPr>
            <a:r>
              <a:rPr lang="ja-JP" altLang="en-US"/>
              <a:t>カスタマー</a:t>
            </a:r>
            <a:r>
              <a:rPr lang="en-US" altLang="ja-JP" dirty="0"/>
              <a:t>: </a:t>
            </a:r>
            <a:r>
              <a:rPr lang="ja-JP" altLang="en-US"/>
              <a:t>北海道です。</a:t>
            </a:r>
            <a:endParaRPr lang="en-US" altLang="ja-JP" dirty="0"/>
          </a:p>
          <a:p>
            <a:pPr marL="457200" lvl="1" indent="0">
              <a:buNone/>
            </a:pPr>
            <a:r>
              <a:rPr lang="en-US" altLang="ja-JP" sz="1200" dirty="0"/>
              <a:t> </a:t>
            </a:r>
          </a:p>
          <a:p>
            <a:pPr marL="457200" lvl="1" indent="0">
              <a:buNone/>
            </a:pPr>
            <a:r>
              <a:rPr lang="ja-JP" altLang="en-US"/>
              <a:t>対話対単位分類モデル</a:t>
            </a:r>
            <a:endParaRPr lang="en-US" altLang="ja-JP" dirty="0"/>
          </a:p>
          <a:p>
            <a:pPr marL="457200" lvl="1" indent="0">
              <a:buNone/>
            </a:pPr>
            <a:r>
              <a:rPr lang="ja-JP" altLang="en-US"/>
              <a:t>オペレーター</a:t>
            </a:r>
            <a:r>
              <a:rPr lang="en-US" altLang="ja-JP" dirty="0"/>
              <a:t>: </a:t>
            </a:r>
            <a:r>
              <a:rPr lang="ja-JP" altLang="en-US"/>
              <a:t>どこに行きたいですか？</a:t>
            </a:r>
            <a:r>
              <a:rPr lang="en-US" altLang="ja-JP" dirty="0"/>
              <a:t>[</a:t>
            </a:r>
            <a:r>
              <a:rPr lang="en" altLang="ja-JP" dirty="0"/>
              <a:t>SEP] </a:t>
            </a:r>
            <a:r>
              <a:rPr lang="ja-JP" altLang="en-US"/>
              <a:t>カスタマー</a:t>
            </a:r>
            <a:r>
              <a:rPr lang="en-US" altLang="ja-JP" dirty="0"/>
              <a:t>:</a:t>
            </a:r>
            <a:r>
              <a:rPr lang="ja-JP" altLang="en-US"/>
              <a:t>北海道です。</a:t>
            </a:r>
            <a:r>
              <a:rPr lang="en-US" altLang="ja-JP" sz="1100" dirty="0"/>
              <a:t> </a:t>
            </a:r>
            <a:endParaRPr lang="en-US" altLang="ja-JP" dirty="0"/>
          </a:p>
        </p:txBody>
      </p:sp>
    </p:spTree>
    <p:extLst>
      <p:ext uri="{BB962C8B-B14F-4D97-AF65-F5344CB8AC3E}">
        <p14:creationId xmlns:p14="http://schemas.microsoft.com/office/powerpoint/2010/main" val="241856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FFC8A-FEC9-C972-BF9D-BEEF13922430}"/>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6F026864-294D-B06B-2857-8FCF1DAAD831}"/>
              </a:ext>
            </a:extLst>
          </p:cNvPr>
          <p:cNvSpPr>
            <a:spLocks noGrp="1"/>
          </p:cNvSpPr>
          <p:nvPr>
            <p:ph idx="1"/>
          </p:nvPr>
        </p:nvSpPr>
        <p:spPr/>
        <p:txBody>
          <a:bodyPr/>
          <a:lstStyle/>
          <a:p>
            <a:pPr marL="0" indent="0">
              <a:buNone/>
            </a:pPr>
            <a:r>
              <a:rPr kumimoji="1" lang="ja-JP" altLang="en-US"/>
              <a:t>実験結果</a:t>
            </a:r>
            <a:endParaRPr kumimoji="1" lang="en-US" altLang="ja-JP" dirty="0"/>
          </a:p>
          <a:p>
            <a:pPr marL="0" indent="0">
              <a:buNone/>
            </a:pPr>
            <a:endParaRPr lang="en-US" altLang="ja-JP" dirty="0"/>
          </a:p>
          <a:p>
            <a:pPr marL="0" indent="0">
              <a:buNone/>
            </a:pPr>
            <a:endParaRPr kumimoji="1" lang="ja-JP" altLang="en-US"/>
          </a:p>
        </p:txBody>
      </p:sp>
    </p:spTree>
    <p:extLst>
      <p:ext uri="{BB962C8B-B14F-4D97-AF65-F5344CB8AC3E}">
        <p14:creationId xmlns:p14="http://schemas.microsoft.com/office/powerpoint/2010/main" val="22145209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5726C6-2902-224B-D91C-CE67F46B4782}"/>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F5AC8D13-83DA-6055-0FE6-3D985837AA8A}"/>
              </a:ext>
            </a:extLst>
          </p:cNvPr>
          <p:cNvSpPr>
            <a:spLocks noGrp="1"/>
          </p:cNvSpPr>
          <p:nvPr>
            <p:ph idx="1"/>
          </p:nvPr>
        </p:nvSpPr>
        <p:spPr>
          <a:xfrm>
            <a:off x="628650" y="1690689"/>
            <a:ext cx="7886700" cy="4351338"/>
          </a:xfrm>
        </p:spPr>
        <p:txBody>
          <a:bodyPr/>
          <a:lstStyle/>
          <a:p>
            <a:pPr marL="0" indent="0">
              <a:buNone/>
            </a:pPr>
            <a:r>
              <a:rPr lang="ja-JP" altLang="en-US"/>
              <a:t>両モデルで抽出できなかった期待</a:t>
            </a:r>
            <a:endParaRPr lang="en-US" altLang="ja-JP" dirty="0"/>
          </a:p>
          <a:p>
            <a:pPr marL="0" indent="0">
              <a:buNone/>
            </a:pPr>
            <a:endParaRPr kumimoji="1" lang="en-US" altLang="ja-JP" dirty="0"/>
          </a:p>
          <a:p>
            <a:pPr marL="0" indent="0">
              <a:buNone/>
            </a:pPr>
            <a:r>
              <a:rPr kumimoji="1" lang="ja-JP" altLang="en-US"/>
              <a:t>オペレーター</a:t>
            </a:r>
            <a:r>
              <a:rPr kumimoji="1" lang="en-US" altLang="ja-JP" dirty="0"/>
              <a:t>: </a:t>
            </a:r>
            <a:r>
              <a:rPr kumimoji="1" lang="ja-JP" altLang="en-US"/>
              <a:t>前者？ </a:t>
            </a:r>
            <a:r>
              <a:rPr kumimoji="1" lang="en-US" altLang="ja-JP" dirty="0"/>
              <a:t> </a:t>
            </a:r>
          </a:p>
          <a:p>
            <a:pPr marL="0" indent="0">
              <a:buNone/>
            </a:pPr>
            <a:r>
              <a:rPr kumimoji="1" lang="ja-JP" altLang="en-US"/>
              <a:t>カスタマー</a:t>
            </a:r>
            <a:r>
              <a:rPr kumimoji="1" lang="en-US" altLang="ja-JP" dirty="0"/>
              <a:t>: </a:t>
            </a:r>
            <a:r>
              <a:rPr kumimoji="1" lang="ja-JP" altLang="en-US"/>
              <a:t>貸切。</a:t>
            </a:r>
            <a:endParaRPr kumimoji="1" lang="en-US" altLang="ja-JP" dirty="0"/>
          </a:p>
          <a:p>
            <a:pPr marL="0" indent="0">
              <a:buNone/>
            </a:pPr>
            <a:endParaRPr lang="en-US" altLang="ja-JP" dirty="0"/>
          </a:p>
          <a:p>
            <a:pPr marL="0" indent="0">
              <a:buNone/>
            </a:pPr>
            <a:r>
              <a:rPr kumimoji="1" lang="ja-JP" altLang="en-US"/>
              <a:t>オペレーター</a:t>
            </a:r>
            <a:r>
              <a:rPr kumimoji="1" lang="en-US" altLang="ja-JP" dirty="0"/>
              <a:t>: </a:t>
            </a:r>
            <a:r>
              <a:rPr kumimoji="1" lang="ja-JP" altLang="en-US"/>
              <a:t>候補の一つとして、はい、押さえておき。 </a:t>
            </a:r>
            <a:endParaRPr kumimoji="1" lang="en-US" altLang="ja-JP" dirty="0"/>
          </a:p>
          <a:p>
            <a:pPr marL="0" indent="0">
              <a:buNone/>
            </a:pPr>
            <a:r>
              <a:rPr kumimoji="1" lang="ja-JP" altLang="en-US"/>
              <a:t>カスタマー</a:t>
            </a:r>
            <a:r>
              <a:rPr kumimoji="1" lang="en-US" altLang="ja-JP" dirty="0"/>
              <a:t>: </a:t>
            </a:r>
            <a:r>
              <a:rPr kumimoji="1" lang="ja-JP" altLang="en-US"/>
              <a:t>お願いします。はい</a:t>
            </a:r>
          </a:p>
        </p:txBody>
      </p:sp>
    </p:spTree>
    <p:extLst>
      <p:ext uri="{BB962C8B-B14F-4D97-AF65-F5344CB8AC3E}">
        <p14:creationId xmlns:p14="http://schemas.microsoft.com/office/powerpoint/2010/main" val="41879607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34382D-1181-2147-78C8-8689FDA211C8}"/>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84D1BCA3-D041-7EED-FB77-426D2446345D}"/>
              </a:ext>
            </a:extLst>
          </p:cNvPr>
          <p:cNvSpPr>
            <a:spLocks noGrp="1"/>
          </p:cNvSpPr>
          <p:nvPr>
            <p:ph idx="1"/>
          </p:nvPr>
        </p:nvSpPr>
        <p:spPr>
          <a:xfrm>
            <a:off x="628650" y="1690689"/>
            <a:ext cx="7886700" cy="4351338"/>
          </a:xfrm>
        </p:spPr>
        <p:txBody>
          <a:bodyPr>
            <a:normAutofit fontScale="92500" lnSpcReduction="20000"/>
          </a:bodyPr>
          <a:lstStyle/>
          <a:p>
            <a:pPr marL="0" indent="0">
              <a:buNone/>
            </a:pPr>
            <a:r>
              <a:rPr kumimoji="1" lang="ja-JP" altLang="en-US" sz="2800"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文分類</a:t>
            </a:r>
            <a:r>
              <a:rPr lang="ja-JP" altLang="en-US"/>
              <a:t>モデルでのみ抽出できなかった期待</a:t>
            </a:r>
            <a:endParaRPr lang="en-US" altLang="ja-JP" dirty="0"/>
          </a:p>
          <a:p>
            <a:pPr marL="0" indent="0">
              <a:buNone/>
            </a:pPr>
            <a:r>
              <a:rPr lang="ja-JP" altLang="en-US"/>
              <a:t>オペレーター：では、あのー、いれ、探していきたいと思うんですけれども、あのー、何かご希望とかございますか？どこがいいとか、あのー、地名とかで。</a:t>
            </a:r>
            <a:endParaRPr lang="en-US" altLang="ja-JP" dirty="0"/>
          </a:p>
          <a:p>
            <a:pPr marL="0" indent="0">
              <a:buNone/>
            </a:pPr>
            <a:r>
              <a:rPr lang="ja-JP" altLang="en-US"/>
              <a:t>カスタマー：沖縄方面とかなんですかね？やっぱり。</a:t>
            </a:r>
            <a:endParaRPr lang="en-US" altLang="ja-JP" dirty="0"/>
          </a:p>
          <a:p>
            <a:pPr marL="0" indent="0">
              <a:buNone/>
            </a:pPr>
            <a:endParaRPr lang="en-US" altLang="ja-JP" dirty="0"/>
          </a:p>
          <a:p>
            <a:pPr marL="0" indent="0">
              <a:buNone/>
            </a:pPr>
            <a:r>
              <a:rPr lang="ja-JP" altLang="en-US"/>
              <a:t>オペレーター：はい。もしよろしければですねー、こちらもー</a:t>
            </a:r>
            <a:r>
              <a:rPr lang="en-US" altLang="ja-JP" dirty="0"/>
              <a:t>…</a:t>
            </a:r>
            <a:r>
              <a:rPr lang="ja-JP" altLang="en-US"/>
              <a:t>、結構良いかなーって思いましたけれども、どうでしょう。世界遺産ばっ、かり、だと、ちょっと</a:t>
            </a:r>
            <a:r>
              <a:rPr lang="en-US" altLang="ja-JP" dirty="0"/>
              <a:t>…</a:t>
            </a:r>
            <a:r>
              <a:rPr lang="ja-JP" altLang="en-US"/>
              <a:t>、飽きますかねー。もっと別のとこが良いですか。</a:t>
            </a:r>
            <a:endParaRPr lang="en-US" altLang="ja-JP" dirty="0"/>
          </a:p>
          <a:p>
            <a:pPr marL="0" indent="0">
              <a:buNone/>
            </a:pPr>
            <a:r>
              <a:rPr lang="ja-JP" altLang="en-US"/>
              <a:t>カスタマー</a:t>
            </a:r>
            <a:r>
              <a:rPr lang="en-US" altLang="ja-JP" dirty="0"/>
              <a:t>: </a:t>
            </a:r>
            <a:r>
              <a:rPr lang="ja-JP" altLang="en-US"/>
              <a:t>そうですね。そ、そうですね。へっ。</a:t>
            </a:r>
            <a:endParaRPr lang="en-US" altLang="ja-JP" dirty="0"/>
          </a:p>
          <a:p>
            <a:pPr marL="342900" lvl="1" indent="0">
              <a:buNone/>
            </a:pPr>
            <a:endParaRPr kumimoji="1" lang="en-US" altLang="ja-JP" dirty="0"/>
          </a:p>
          <a:p>
            <a:pPr marL="342900" lvl="1" indent="0">
              <a:buNone/>
            </a:pPr>
            <a:endParaRPr kumimoji="1" lang="en-US" altLang="ja-JP" dirty="0"/>
          </a:p>
        </p:txBody>
      </p:sp>
    </p:spTree>
    <p:extLst>
      <p:ext uri="{BB962C8B-B14F-4D97-AF65-F5344CB8AC3E}">
        <p14:creationId xmlns:p14="http://schemas.microsoft.com/office/powerpoint/2010/main" val="27060968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68E31D-2CDD-6C2F-7317-BC44E6E9E56E}"/>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0B49B1C9-D731-64DC-F406-38D4714ED550}"/>
              </a:ext>
            </a:extLst>
          </p:cNvPr>
          <p:cNvSpPr>
            <a:spLocks noGrp="1"/>
          </p:cNvSpPr>
          <p:nvPr>
            <p:ph idx="1"/>
          </p:nvPr>
        </p:nvSpPr>
        <p:spPr>
          <a:xfrm>
            <a:off x="628650" y="1690689"/>
            <a:ext cx="7886700" cy="4351338"/>
          </a:xfrm>
        </p:spPr>
        <p:txBody>
          <a:bodyPr>
            <a:normAutofit fontScale="92500"/>
          </a:bodyPr>
          <a:lstStyle/>
          <a:p>
            <a:pPr marL="0" indent="0">
              <a:buNone/>
            </a:pPr>
            <a:r>
              <a:rPr kumimoji="1" lang="ja-JP" altLang="en-US"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対話対分類</a:t>
            </a:r>
            <a:r>
              <a:rPr lang="ja-JP" altLang="en-US"/>
              <a:t>モデルでのみ抽出できなかった期待</a:t>
            </a:r>
            <a:endParaRPr lang="en-US" altLang="ja-JP" sz="900" dirty="0"/>
          </a:p>
          <a:p>
            <a:pPr marL="0" indent="0">
              <a:buNone/>
            </a:pPr>
            <a:endParaRPr kumimoji="1" lang="en-US" altLang="ja-JP" dirty="0"/>
          </a:p>
          <a:p>
            <a:pPr marL="0" indent="0">
              <a:buNone/>
            </a:pPr>
            <a:r>
              <a:rPr kumimoji="1" lang="ja-JP" altLang="en-US" sz="2400"/>
              <a:t>オペレーター</a:t>
            </a:r>
            <a:r>
              <a:rPr kumimoji="1" lang="en-US" altLang="ja-JP" sz="2400" dirty="0"/>
              <a:t>: </a:t>
            </a:r>
            <a:r>
              <a:rPr kumimoji="1" lang="ja-JP" altLang="en-US" sz="2400"/>
              <a:t>どうでしょう。もう一か所ぐらい、教会見ますか。それとももう、トルコライス、の方に行きますか。 </a:t>
            </a:r>
            <a:endParaRPr lang="en-US" altLang="ja-JP" sz="2400" dirty="0"/>
          </a:p>
          <a:p>
            <a:pPr marL="0" indent="0">
              <a:buNone/>
            </a:pPr>
            <a:r>
              <a:rPr kumimoji="1" lang="ja-JP" altLang="en-US" sz="2400"/>
              <a:t>カスタマー</a:t>
            </a:r>
            <a:r>
              <a:rPr kumimoji="1" lang="en-US" altLang="ja-JP" sz="2400" dirty="0"/>
              <a:t>: </a:t>
            </a:r>
            <a:r>
              <a:rPr kumimoji="1" lang="ja-JP" altLang="en-US" sz="2400"/>
              <a:t>じゃあ、もう一つ見てから、トルコライスに行きます。はいっいひっ。</a:t>
            </a:r>
            <a:endParaRPr kumimoji="1" lang="en-US" altLang="ja-JP" sz="2400" dirty="0"/>
          </a:p>
          <a:p>
            <a:pPr marL="0" indent="0">
              <a:buNone/>
            </a:pPr>
            <a:endParaRPr lang="en-US" altLang="ja-JP" sz="2400" dirty="0"/>
          </a:p>
          <a:p>
            <a:pPr marL="0" indent="0">
              <a:buNone/>
            </a:pPr>
            <a:r>
              <a:rPr kumimoji="1" lang="ja-JP" altLang="en-US" sz="2400"/>
              <a:t>オペレーター</a:t>
            </a:r>
            <a:r>
              <a:rPr kumimoji="1" lang="en-US" altLang="ja-JP" sz="2400" dirty="0"/>
              <a:t>: </a:t>
            </a:r>
            <a:r>
              <a:rPr kumimoji="1" lang="ja-JP" altLang="en-US" sz="2400"/>
              <a:t>と、群馬県辺りですと、温泉あり</a:t>
            </a:r>
            <a:r>
              <a:rPr kumimoji="1" lang="en-US" altLang="ja-JP" sz="2400" dirty="0"/>
              <a:t>…</a:t>
            </a:r>
            <a:r>
              <a:rPr kumimoji="1" lang="ja-JP" altLang="en-US" sz="2400"/>
              <a:t>、いかがですか。</a:t>
            </a:r>
          </a:p>
          <a:p>
            <a:pPr marL="0" indent="0">
              <a:buNone/>
            </a:pPr>
            <a:r>
              <a:rPr kumimoji="1" lang="ja-JP" altLang="en-US" sz="2400"/>
              <a:t>カスタマー</a:t>
            </a:r>
            <a:r>
              <a:rPr kumimoji="1" lang="en-US" altLang="ja-JP" sz="2400" dirty="0"/>
              <a:t>: </a:t>
            </a:r>
            <a:r>
              <a:rPr kumimoji="1" lang="ja-JP" altLang="en-US" sz="2400"/>
              <a:t>ふーん。あ、そうですね。なんか伊香保とか、そうですね。</a:t>
            </a:r>
          </a:p>
          <a:p>
            <a:pPr marL="0" indent="0">
              <a:buNone/>
            </a:pPr>
            <a:endParaRPr kumimoji="1" lang="ja-JP" altLang="en-US" sz="2400"/>
          </a:p>
        </p:txBody>
      </p:sp>
    </p:spTree>
    <p:extLst>
      <p:ext uri="{BB962C8B-B14F-4D97-AF65-F5344CB8AC3E}">
        <p14:creationId xmlns:p14="http://schemas.microsoft.com/office/powerpoint/2010/main" val="1748278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EB22AC-CF15-42AC-39D1-5A1A2CB2ACF2}"/>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76202271-7608-36D1-9E6D-37C6CB814CE8}"/>
              </a:ext>
            </a:extLst>
          </p:cNvPr>
          <p:cNvSpPr>
            <a:spLocks noGrp="1"/>
          </p:cNvSpPr>
          <p:nvPr>
            <p:ph idx="1"/>
          </p:nvPr>
        </p:nvSpPr>
        <p:spPr>
          <a:xfrm>
            <a:off x="628650" y="1686690"/>
            <a:ext cx="7886700" cy="4351338"/>
          </a:xfrm>
        </p:spPr>
        <p:txBody>
          <a:bodyPr>
            <a:normAutofit fontScale="70000" lnSpcReduction="20000"/>
          </a:bodyPr>
          <a:lstStyle/>
          <a:p>
            <a:pPr marL="0" indent="0">
              <a:buNone/>
            </a:pPr>
            <a:r>
              <a:rPr kumimoji="1" lang="ja-JP" altLang="en-US"/>
              <a:t>期待なしの文を期待ありと判定してしまった例</a:t>
            </a:r>
            <a:endParaRPr kumimoji="1" lang="en-US" altLang="ja-JP" dirty="0"/>
          </a:p>
          <a:p>
            <a:pPr marL="0" indent="0">
              <a:buNone/>
            </a:pPr>
            <a:r>
              <a:rPr lang="ja-JP" altLang="en-US"/>
              <a:t>両モデル</a:t>
            </a:r>
            <a:endParaRPr lang="en-US" altLang="ja-JP" dirty="0"/>
          </a:p>
          <a:p>
            <a:pPr marL="0" indent="0">
              <a:buNone/>
            </a:pPr>
            <a:r>
              <a:rPr kumimoji="1" lang="ja-JP" altLang="en-US"/>
              <a:t>オペレーター</a:t>
            </a:r>
            <a:r>
              <a:rPr kumimoji="1" lang="en-US" altLang="ja-JP" dirty="0"/>
              <a:t>: </a:t>
            </a:r>
            <a:r>
              <a:rPr kumimoji="1" lang="ja-JP" altLang="en-US"/>
              <a:t>はい。こちらもあのよろしければはいオススメしたいんですけれどもいかがですか？	 </a:t>
            </a:r>
            <a:endParaRPr kumimoji="1" lang="en-US" altLang="ja-JP" dirty="0"/>
          </a:p>
          <a:p>
            <a:pPr marL="0" indent="0">
              <a:buNone/>
            </a:pPr>
            <a:r>
              <a:rPr kumimoji="1" lang="ja-JP" altLang="en-US"/>
              <a:t>カスタマー</a:t>
            </a:r>
            <a:r>
              <a:rPr kumimoji="1" lang="en-US" altLang="ja-JP" dirty="0"/>
              <a:t>: </a:t>
            </a:r>
            <a:r>
              <a:rPr kumimoji="1" lang="ja-JP" altLang="en-US"/>
              <a:t>いいですね。湖とかってボートとか出てたりしないんですか？</a:t>
            </a:r>
            <a:endParaRPr kumimoji="1" lang="en-US" altLang="ja-JP" dirty="0"/>
          </a:p>
          <a:p>
            <a:pPr marL="0" indent="0">
              <a:buNone/>
            </a:pPr>
            <a:endParaRPr lang="en-US" altLang="ja-JP" dirty="0"/>
          </a:p>
          <a:p>
            <a:pPr marL="0" indent="0">
              <a:buNone/>
            </a:pPr>
            <a:r>
              <a:rPr kumimoji="1" lang="ja-JP" altLang="en-US"/>
              <a:t>オペレーター</a:t>
            </a:r>
            <a:r>
              <a:rPr kumimoji="1" lang="en-US" altLang="ja-JP" dirty="0"/>
              <a:t>: </a:t>
            </a:r>
            <a:r>
              <a:rPr kumimoji="1" lang="ja-JP" altLang="en-US"/>
              <a:t>そうですね、その辺かー、ソーキそばになるんですけれどもー。	 </a:t>
            </a:r>
            <a:endParaRPr kumimoji="1" lang="en-US" altLang="ja-JP" dirty="0"/>
          </a:p>
          <a:p>
            <a:pPr marL="0" indent="0">
              <a:buNone/>
            </a:pPr>
            <a:r>
              <a:rPr kumimoji="1" lang="ja-JP" altLang="en-US"/>
              <a:t>カスタマー</a:t>
            </a:r>
            <a:r>
              <a:rPr kumimoji="1" lang="en-US" altLang="ja-JP" dirty="0"/>
              <a:t>: </a:t>
            </a:r>
            <a:r>
              <a:rPr kumimoji="1" lang="ja-JP" altLang="en-US"/>
              <a:t>まあそのー、二つを教えていただけます？おすすめの店とか。</a:t>
            </a:r>
            <a:endParaRPr kumimoji="1" lang="en-US" altLang="ja-JP" dirty="0"/>
          </a:p>
          <a:p>
            <a:pPr marL="0" indent="0">
              <a:buNone/>
            </a:pPr>
            <a:endParaRPr lang="en-US" altLang="ja-JP" dirty="0"/>
          </a:p>
          <a:p>
            <a:pPr marL="0" indent="0">
              <a:buNone/>
            </a:pPr>
            <a:r>
              <a:rPr kumimoji="1" lang="ja-JP" altLang="en-US"/>
              <a:t>オペレーター</a:t>
            </a:r>
            <a:r>
              <a:rPr kumimoji="1" lang="en-US" altLang="ja-JP" dirty="0"/>
              <a:t>: </a:t>
            </a:r>
            <a:r>
              <a:rPr kumimoji="1" lang="ja-JP" altLang="en-US"/>
              <a:t>ええ、ええ、ええ、ええ	 </a:t>
            </a:r>
            <a:endParaRPr kumimoji="1" lang="en-US" altLang="ja-JP" dirty="0"/>
          </a:p>
          <a:p>
            <a:pPr marL="0" indent="0">
              <a:buNone/>
            </a:pPr>
            <a:r>
              <a:rPr kumimoji="1" lang="ja-JP" altLang="en-US"/>
              <a:t>カスタマー</a:t>
            </a:r>
            <a:r>
              <a:rPr kumimoji="1" lang="en-US" altLang="ja-JP" dirty="0"/>
              <a:t>: </a:t>
            </a:r>
            <a:r>
              <a:rPr kumimoji="1" lang="ja-JP" altLang="en-US"/>
              <a:t>特に母親は、あの、すごく喜ぶと思います。</a:t>
            </a:r>
            <a:endParaRPr kumimoji="1" lang="en" altLang="ja-JP" dirty="0"/>
          </a:p>
          <a:p>
            <a:pPr marL="0" indent="0">
              <a:buNone/>
            </a:pPr>
            <a:endParaRPr kumimoji="1" lang="en-US" altLang="ja-JP" dirty="0"/>
          </a:p>
          <a:p>
            <a:endParaRPr kumimoji="1" lang="ja-JP" altLang="en-US"/>
          </a:p>
        </p:txBody>
      </p:sp>
    </p:spTree>
    <p:extLst>
      <p:ext uri="{BB962C8B-B14F-4D97-AF65-F5344CB8AC3E}">
        <p14:creationId xmlns:p14="http://schemas.microsoft.com/office/powerpoint/2010/main" val="19558515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DD59E3-560D-B880-1787-18DDC129D948}"/>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C10F28F8-E743-D485-4746-0B7EAD60248B}"/>
              </a:ext>
            </a:extLst>
          </p:cNvPr>
          <p:cNvSpPr>
            <a:spLocks noGrp="1"/>
          </p:cNvSpPr>
          <p:nvPr>
            <p:ph idx="1"/>
          </p:nvPr>
        </p:nvSpPr>
        <p:spPr/>
        <p:txBody>
          <a:bodyPr/>
          <a:lstStyle/>
          <a:p>
            <a:pPr marL="0" indent="0">
              <a:buNone/>
            </a:pPr>
            <a:r>
              <a:rPr kumimoji="1" lang="ja-JP" altLang="en-US"/>
              <a:t>期待なしの文を期待ありと判定してしまった例</a:t>
            </a:r>
            <a:endParaRPr kumimoji="1" lang="en-US" altLang="ja-JP" sz="2800" i="0" u="none" strike="noStrike" kern="1200" cap="none" spc="0" normalizeH="0" baseline="0" noProof="0" dirty="0">
              <a:ln>
                <a:noFill/>
              </a:ln>
              <a:solidFill>
                <a:prstClr val="black"/>
              </a:solidFill>
              <a:effectLst/>
              <a:uLnTx/>
              <a:uFillTx/>
              <a:latin typeface="游ゴシック Light" panose="020B0400000000000000" pitchFamily="34" charset="-128"/>
              <a:ea typeface="游ゴシック Light" panose="020B0400000000000000" pitchFamily="34" charset="-128"/>
              <a:cs typeface="+mj-cs"/>
            </a:endParaRPr>
          </a:p>
          <a:p>
            <a:pPr marL="0" indent="0">
              <a:buNone/>
            </a:pPr>
            <a:r>
              <a:rPr kumimoji="1" lang="ja-JP" altLang="en-US" sz="2800"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文分類</a:t>
            </a:r>
            <a:r>
              <a:rPr lang="ja-JP" altLang="en-US"/>
              <a:t>モデルでのみ</a:t>
            </a:r>
            <a:endParaRPr lang="en-US" altLang="ja-JP" dirty="0"/>
          </a:p>
          <a:p>
            <a:pPr marL="0" indent="0">
              <a:buNone/>
            </a:pPr>
            <a:r>
              <a:rPr kumimoji="1" lang="ja-JP" altLang="en-US"/>
              <a:t>オペレーター ：</a:t>
            </a:r>
            <a:r>
              <a:rPr lang="ja-JP" altLang="en-US"/>
              <a:t>そうですね今ただいまですねあのーあの朝日が見れるところでといったところで、ちょっとあのーお調べしたんですけれどもちょっとあの、えっと出てこなくてですね、ええ、あの申し訳ないんですけれども、はい。すいません。</a:t>
            </a:r>
            <a:br>
              <a:rPr kumimoji="1" lang="en" altLang="ja-JP" dirty="0"/>
            </a:br>
            <a:r>
              <a:rPr kumimoji="1" lang="ja-JP" altLang="en-US"/>
              <a:t>カスタマー</a:t>
            </a:r>
            <a:r>
              <a:rPr lang="ja-JP" altLang="en-US"/>
              <a:t>：</a:t>
            </a:r>
            <a:r>
              <a:rPr kumimoji="1" lang="ja-JP" altLang="en-US"/>
              <a:t>朝はゆっくり寝ます。</a:t>
            </a:r>
            <a:endParaRPr lang="en-US" altLang="ja-JP" dirty="0"/>
          </a:p>
          <a:p>
            <a:endParaRPr kumimoji="1" lang="ja-JP" altLang="en-US"/>
          </a:p>
        </p:txBody>
      </p:sp>
    </p:spTree>
    <p:extLst>
      <p:ext uri="{BB962C8B-B14F-4D97-AF65-F5344CB8AC3E}">
        <p14:creationId xmlns:p14="http://schemas.microsoft.com/office/powerpoint/2010/main" val="16228677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BAAE3B-D600-C701-1280-BD464E0DDA8B}"/>
              </a:ext>
            </a:extLst>
          </p:cNvPr>
          <p:cNvSpPr>
            <a:spLocks noGrp="1"/>
          </p:cNvSpPr>
          <p:nvPr>
            <p:ph type="title"/>
          </p:nvPr>
        </p:nvSpPr>
        <p:spPr/>
        <p:txBody>
          <a:bodyPr/>
          <a:lstStyle/>
          <a:p>
            <a:r>
              <a:rPr kumimoji="1" lang="ja-JP" altLang="en-US" sz="3400" b="1" i="0" u="none" strike="noStrike" kern="1200" cap="none" spc="0" normalizeH="0" baseline="0" noProof="0">
                <a:ln>
                  <a:noFill/>
                </a:ln>
                <a:solidFill>
                  <a:prstClr val="black"/>
                </a:solidFill>
                <a:effectLst/>
                <a:uLnTx/>
                <a:uFillTx/>
                <a:latin typeface="游ゴシック Light" panose="020B0400000000000000" pitchFamily="34" charset="-128"/>
                <a:ea typeface="游ゴシック Light" panose="020B0400000000000000" pitchFamily="34" charset="-128"/>
                <a:cs typeface="+mj-cs"/>
              </a:rPr>
              <a:t>期待文の文分類と対話対分類実験</a:t>
            </a:r>
            <a:endParaRPr kumimoji="1" lang="ja-JP" altLang="en-US"/>
          </a:p>
        </p:txBody>
      </p:sp>
      <p:sp>
        <p:nvSpPr>
          <p:cNvPr id="3" name="コンテンツ プレースホルダー 2">
            <a:extLst>
              <a:ext uri="{FF2B5EF4-FFF2-40B4-BE49-F238E27FC236}">
                <a16:creationId xmlns:a16="http://schemas.microsoft.com/office/drawing/2014/main" id="{206A204A-0C4A-152A-F7F0-C277FA1A252D}"/>
              </a:ext>
            </a:extLst>
          </p:cNvPr>
          <p:cNvSpPr>
            <a:spLocks noGrp="1"/>
          </p:cNvSpPr>
          <p:nvPr>
            <p:ph idx="1"/>
          </p:nvPr>
        </p:nvSpPr>
        <p:spPr/>
        <p:txBody>
          <a:bodyPr>
            <a:normAutofit/>
          </a:bodyPr>
          <a:lstStyle/>
          <a:p>
            <a:pPr marL="0" indent="0">
              <a:buNone/>
            </a:pPr>
            <a:r>
              <a:rPr kumimoji="1" lang="ja-JP" altLang="en-US"/>
              <a:t>期待なしの文を期待ありと判定してしまった例</a:t>
            </a:r>
            <a:endParaRPr lang="en-US" altLang="ja-JP" dirty="0"/>
          </a:p>
          <a:p>
            <a:pPr marL="0" indent="0">
              <a:buNone/>
            </a:pPr>
            <a:r>
              <a:rPr lang="ja-JP" altLang="en-US"/>
              <a:t>対話対分類モデルでのみ</a:t>
            </a:r>
            <a:endParaRPr lang="en-US" altLang="ja-JP" dirty="0"/>
          </a:p>
          <a:p>
            <a:pPr marL="0" indent="0">
              <a:buNone/>
            </a:pPr>
            <a:endParaRPr kumimoji="1" lang="en" altLang="ja-JP" dirty="0"/>
          </a:p>
          <a:p>
            <a:pPr marL="0" indent="0">
              <a:buNone/>
            </a:pPr>
            <a:r>
              <a:rPr kumimoji="1" lang="ja-JP" altLang="en-US"/>
              <a:t>オペレーター</a:t>
            </a:r>
            <a:r>
              <a:rPr kumimoji="1" lang="en-US" altLang="ja-JP" dirty="0"/>
              <a:t>: </a:t>
            </a:r>
            <a:r>
              <a:rPr kumimoji="1" lang="ja-JP" altLang="en-US"/>
              <a:t>「もしご興味がございましたらこういったところもございますけれども。」</a:t>
            </a:r>
          </a:p>
          <a:p>
            <a:pPr marL="0" indent="0">
              <a:buNone/>
            </a:pPr>
            <a:r>
              <a:rPr kumimoji="1" lang="ja-JP" altLang="en-US"/>
              <a:t>カスタマー</a:t>
            </a:r>
            <a:r>
              <a:rPr kumimoji="1" lang="en-US" altLang="ja-JP" dirty="0"/>
              <a:t>: </a:t>
            </a:r>
            <a:r>
              <a:rPr kumimoji="1" lang="ja-JP" altLang="en-US"/>
              <a:t>「いいですね。リンゴがすごい好きだし、青森も。」</a:t>
            </a:r>
            <a:endParaRPr kumimoji="1" lang="en-US" altLang="ja-JP" dirty="0"/>
          </a:p>
          <a:p>
            <a:pPr marL="0" indent="0">
              <a:buNone/>
            </a:pPr>
            <a:endParaRPr lang="en-US" altLang="ja-JP" dirty="0"/>
          </a:p>
          <a:p>
            <a:pPr marL="0" indent="0">
              <a:buNone/>
            </a:pPr>
            <a:endParaRPr kumimoji="1" lang="ja-JP" altLang="en-US"/>
          </a:p>
          <a:p>
            <a:endParaRPr kumimoji="1" lang="ja-JP" altLang="en-US"/>
          </a:p>
        </p:txBody>
      </p:sp>
    </p:spTree>
    <p:extLst>
      <p:ext uri="{BB962C8B-B14F-4D97-AF65-F5344CB8AC3E}">
        <p14:creationId xmlns:p14="http://schemas.microsoft.com/office/powerpoint/2010/main" val="1738444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270380-10C4-6FE1-2855-0AD5A39C7E30}"/>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0E3434F7-D9A2-F660-13E9-40B9DEA775E5}"/>
              </a:ext>
            </a:extLst>
          </p:cNvPr>
          <p:cNvSpPr>
            <a:spLocks noGrp="1"/>
          </p:cNvSpPr>
          <p:nvPr>
            <p:ph idx="1"/>
          </p:nvPr>
        </p:nvSpPr>
        <p:spPr/>
        <p:txBody>
          <a:bodyPr/>
          <a:lstStyle/>
          <a:p>
            <a:r>
              <a:rPr lang="ja-JP" altLang="en-US"/>
              <a:t>対話対分類では、オペレーターの発話が学習対象に含まれることで、カスタマーの期待文を正しく分類しやすくなった。</a:t>
            </a:r>
            <a:endParaRPr lang="en-US" altLang="ja-JP" dirty="0"/>
          </a:p>
          <a:p>
            <a:endParaRPr kumimoji="1" lang="en-US" altLang="ja-JP" dirty="0"/>
          </a:p>
          <a:p>
            <a:endParaRPr kumimoji="1" lang="ja-JP" altLang="en-US"/>
          </a:p>
        </p:txBody>
      </p:sp>
    </p:spTree>
    <p:extLst>
      <p:ext uri="{BB962C8B-B14F-4D97-AF65-F5344CB8AC3E}">
        <p14:creationId xmlns:p14="http://schemas.microsoft.com/office/powerpoint/2010/main" val="3278322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7221E7-3B77-DCF1-27E8-DC9B4EB7FB76}"/>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8349C09E-CFAC-2068-E519-0341A298C3F2}"/>
              </a:ext>
            </a:extLst>
          </p:cNvPr>
          <p:cNvSpPr>
            <a:spLocks noGrp="1"/>
          </p:cNvSpPr>
          <p:nvPr>
            <p:ph idx="1"/>
          </p:nvPr>
        </p:nvSpPr>
        <p:spPr/>
        <p:txBody>
          <a:bodyPr>
            <a:normAutofit/>
          </a:bodyPr>
          <a:lstStyle/>
          <a:p>
            <a:r>
              <a:rPr kumimoji="1" lang="ja-JP" altLang="en-US"/>
              <a:t>会話文の文分類による期待抽出</a:t>
            </a:r>
            <a:r>
              <a:rPr lang="ja-JP" altLang="en-US"/>
              <a:t>では、相手の発話を考慮することで精度が少しだけ向上することがわかった。</a:t>
            </a:r>
            <a:endParaRPr lang="en-US" altLang="ja-JP" dirty="0"/>
          </a:p>
          <a:p>
            <a:pPr marL="0" indent="0">
              <a:buNone/>
            </a:pPr>
            <a:endParaRPr lang="en-US" altLang="ja-JP" dirty="0"/>
          </a:p>
          <a:p>
            <a:r>
              <a:rPr kumimoji="1" lang="ja-JP" altLang="en-US"/>
              <a:t>対話文章から顧客の期待を抽出するタスクは、文分類や対話対単位で</a:t>
            </a:r>
            <a:endParaRPr kumimoji="1" lang="en-US" altLang="ja-JP" dirty="0"/>
          </a:p>
        </p:txBody>
      </p:sp>
    </p:spTree>
    <p:extLst>
      <p:ext uri="{BB962C8B-B14F-4D97-AF65-F5344CB8AC3E}">
        <p14:creationId xmlns:p14="http://schemas.microsoft.com/office/powerpoint/2010/main" val="34044406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8D4F3F-9ADC-8520-9BE5-013DFA52FB83}"/>
              </a:ext>
            </a:extLst>
          </p:cNvPr>
          <p:cNvSpPr>
            <a:spLocks noGrp="1"/>
          </p:cNvSpPr>
          <p:nvPr>
            <p:ph type="title"/>
          </p:nvPr>
        </p:nvSpPr>
        <p:spPr/>
        <p:txBody>
          <a:bodyPr/>
          <a:lstStyle/>
          <a:p>
            <a:r>
              <a:rPr kumimoji="1" lang="ja-JP" altLang="en-US"/>
              <a:t>今後の課題</a:t>
            </a:r>
          </a:p>
        </p:txBody>
      </p:sp>
      <p:sp>
        <p:nvSpPr>
          <p:cNvPr id="3" name="コンテンツ プレースホルダー 2">
            <a:extLst>
              <a:ext uri="{FF2B5EF4-FFF2-40B4-BE49-F238E27FC236}">
                <a16:creationId xmlns:a16="http://schemas.microsoft.com/office/drawing/2014/main" id="{2349B4F2-F177-47BA-56EC-FBD3A9626BC3}"/>
              </a:ext>
            </a:extLst>
          </p:cNvPr>
          <p:cNvSpPr>
            <a:spLocks noGrp="1"/>
          </p:cNvSpPr>
          <p:nvPr>
            <p:ph idx="1"/>
          </p:nvPr>
        </p:nvSpPr>
        <p:spPr>
          <a:xfrm>
            <a:off x="628650" y="1825625"/>
            <a:ext cx="7886700" cy="4758056"/>
          </a:xfrm>
        </p:spPr>
        <p:txBody>
          <a:bodyPr>
            <a:normAutofit fontScale="92500" lnSpcReduction="10000"/>
          </a:bodyPr>
          <a:lstStyle/>
          <a:p>
            <a:r>
              <a:rPr lang="ja-JP" altLang="en-US"/>
              <a:t>対話は話し言葉であるため、相槌や「えーと、」のような</a:t>
            </a:r>
            <a:r>
              <a:rPr lang="ja-JP" altLang="en-US" b="0" i="0">
                <a:solidFill>
                  <a:srgbClr val="001D35"/>
                </a:solidFill>
                <a:effectLst/>
                <a:latin typeface="Arial" panose="020B0604020202020204" pitchFamily="34" charset="0"/>
              </a:rPr>
              <a:t>つなぎ言葉</a:t>
            </a:r>
            <a:r>
              <a:rPr lang="ja-JP" altLang="en-US"/>
              <a:t>が多く残る。そのため、これらを削除する処理を事前に処理することで精度が上がる可能性がある。</a:t>
            </a:r>
            <a:endParaRPr lang="en-US" altLang="ja-JP" dirty="0"/>
          </a:p>
          <a:p>
            <a:endParaRPr lang="en-US" altLang="ja-JP" dirty="0"/>
          </a:p>
          <a:p>
            <a:r>
              <a:rPr lang="ja-JP" altLang="en-US"/>
              <a:t>長距離依存の期待に対しては別のアプローチが必要。対話文では文章の省略が多く、文章を補完する前処理やマルチモーダルな情報の追加など。</a:t>
            </a:r>
            <a:endParaRPr lang="en-US" altLang="ja-JP" dirty="0"/>
          </a:p>
          <a:p>
            <a:endParaRPr lang="en-US" altLang="ja-JP" dirty="0"/>
          </a:p>
          <a:p>
            <a:r>
              <a:rPr lang="ja-JP" altLang="en-US"/>
              <a:t>抽出した期待を利用するには、抽出できたものを見やすい形にまとめる必要がある。どのように情報として見やすい形にまとめるべきなのか。</a:t>
            </a:r>
            <a:endParaRPr lang="en-US" altLang="ja-JP" dirty="0"/>
          </a:p>
          <a:p>
            <a:endParaRPr lang="en-US" altLang="ja-JP" dirty="0"/>
          </a:p>
        </p:txBody>
      </p:sp>
    </p:spTree>
    <p:extLst>
      <p:ext uri="{BB962C8B-B14F-4D97-AF65-F5344CB8AC3E}">
        <p14:creationId xmlns:p14="http://schemas.microsoft.com/office/powerpoint/2010/main" val="4102107721"/>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6698</TotalTime>
  <Words>2182</Words>
  <Application>Microsoft Macintosh PowerPoint</Application>
  <PresentationFormat>画面に合わせる (4:3)</PresentationFormat>
  <Paragraphs>211</Paragraphs>
  <Slides>23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23</vt:i4>
      </vt:variant>
    </vt:vector>
  </HeadingPairs>
  <TitlesOfParts>
    <vt:vector size="31" baseType="lpstr">
      <vt:lpstr>游ゴシック</vt:lpstr>
      <vt:lpstr>游ゴシック Light</vt:lpstr>
      <vt:lpstr>Aptos</vt:lpstr>
      <vt:lpstr>Aptos Display</vt:lpstr>
      <vt:lpstr>Arial</vt:lpstr>
      <vt:lpstr>Menlo</vt:lpstr>
      <vt:lpstr>Wingdings</vt:lpstr>
      <vt:lpstr>Office テーマ</vt:lpstr>
      <vt:lpstr>旅行代理店対話データを用いた顧客期待の抽出に関する研究</vt:lpstr>
      <vt:lpstr>研究背景</vt:lpstr>
      <vt:lpstr>研究背景</vt:lpstr>
      <vt:lpstr>関連研究</vt:lpstr>
      <vt:lpstr>関連研究</vt:lpstr>
      <vt:lpstr>関連研究</vt:lpstr>
      <vt:lpstr>関連研究</vt:lpstr>
      <vt:lpstr>本研究の位置づけ</vt:lpstr>
      <vt:lpstr>研究目的</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期待文の文分類と対話対分類実験</vt:lpstr>
      <vt:lpstr>まとめ</vt:lpstr>
      <vt:lpstr>まとめ</vt:lpstr>
      <vt:lpstr>今後の課題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Shimmura Shuru</dc:creator>
  <cp:lastModifiedBy>Shimmura Shuru</cp:lastModifiedBy>
  <cp:revision>2</cp:revision>
  <dcterms:created xsi:type="dcterms:W3CDTF">2025-01-20T02:06:19Z</dcterms:created>
  <dcterms:modified xsi:type="dcterms:W3CDTF">2025-01-26T06:44:00Z</dcterms:modified>
</cp:coreProperties>
</file>