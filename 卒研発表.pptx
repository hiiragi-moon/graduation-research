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57" r:id="rId3"/>
    <p:sldId id="258" r:id="rId4"/>
    <p:sldId id="259" r:id="rId5"/>
    <p:sldId id="261" r:id="rId6"/>
    <p:sldId id="260" r:id="rId7"/>
    <p:sldId id="277" r:id="rId8"/>
    <p:sldId id="263" r:id="rId9"/>
    <p:sldId id="262" r:id="rId10"/>
    <p:sldId id="264" r:id="rId11"/>
    <p:sldId id="265" r:id="rId12"/>
    <p:sldId id="267" r:id="rId13"/>
    <p:sldId id="278" r:id="rId14"/>
    <p:sldId id="268" r:id="rId15"/>
    <p:sldId id="270" r:id="rId16"/>
    <p:sldId id="271" r:id="rId17"/>
    <p:sldId id="272" r:id="rId18"/>
    <p:sldId id="273" r:id="rId19"/>
    <p:sldId id="279" r:id="rId20"/>
    <p:sldId id="280" r:id="rId21"/>
    <p:sldId id="275" r:id="rId22"/>
    <p:sldId id="276" r:id="rId23"/>
    <p:sldId id="281"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0"/>
    <p:restoredTop sz="80117"/>
  </p:normalViewPr>
  <p:slideViewPr>
    <p:cSldViewPr snapToGrid="0">
      <p:cViewPr varScale="1">
        <p:scale>
          <a:sx n="119" d="100"/>
          <a:sy n="119" d="100"/>
        </p:scale>
        <p:origin x="768" y="184"/>
      </p:cViewPr>
      <p:guideLst/>
    </p:cSldViewPr>
  </p:slideViewPr>
  <p:notesTextViewPr>
    <p:cViewPr>
      <p:scale>
        <a:sx n="110" d="100"/>
        <a:sy n="11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C54BAB-784E-FC4D-81AD-7CE66906772C}" type="datetimeFigureOut">
              <a:rPr kumimoji="1" lang="ja-JP" altLang="en-US" smtClean="0"/>
              <a:t>2025/1/28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49665-1117-4B43-AF8F-91F94646FBBB}" type="slidenum">
              <a:rPr kumimoji="1" lang="ja-JP" altLang="en-US" smtClean="0"/>
              <a:t>‹#›</a:t>
            </a:fld>
            <a:endParaRPr kumimoji="1" lang="ja-JP" altLang="en-US"/>
          </a:p>
        </p:txBody>
      </p:sp>
    </p:spTree>
    <p:extLst>
      <p:ext uri="{BB962C8B-B14F-4D97-AF65-F5344CB8AC3E}">
        <p14:creationId xmlns:p14="http://schemas.microsoft.com/office/powerpoint/2010/main" val="12852226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nSpc>
                <a:spcPct val="100000"/>
              </a:lnSpc>
            </a:pPr>
            <a:r>
              <a:rPr lang="ja-JP" altLang="en-US" sz="1200" kern="100">
                <a:latin typeface="+mj-ea"/>
                <a:cs typeface="Times New Roman" panose="02020603050405020304" pitchFamily="18" charset="0"/>
              </a:rPr>
              <a:t>では、発表を始めさせていただきます。</a:t>
            </a:r>
            <a:endParaRPr lang="en-US" altLang="ja-JP" sz="1200" kern="100" dirty="0">
              <a:latin typeface="+mj-ea"/>
              <a:cs typeface="Times New Roman" panose="02020603050405020304" pitchFamily="18" charset="0"/>
            </a:endParaRPr>
          </a:p>
          <a:p>
            <a:pPr>
              <a:lnSpc>
                <a:spcPct val="100000"/>
              </a:lnSpc>
            </a:pPr>
            <a:r>
              <a:rPr lang="ja-JP" altLang="ja-JP" sz="1200" kern="100">
                <a:latin typeface="+mj-ea"/>
                <a:cs typeface="Times New Roman" panose="02020603050405020304" pitchFamily="18" charset="0"/>
              </a:rPr>
              <a:t>旅行代理店対話データを用いた顧客期待の抽出に関する研究</a:t>
            </a:r>
            <a:r>
              <a:rPr lang="ja-JP" altLang="en-US" sz="1200" kern="100">
                <a:latin typeface="+mj-ea"/>
                <a:cs typeface="Times New Roman" panose="02020603050405020304" pitchFamily="18" charset="0"/>
              </a:rPr>
              <a:t>と題しまして、</a:t>
            </a:r>
            <a:r>
              <a:rPr lang="ja-JP" altLang="en-US"/>
              <a:t>森研究室</a:t>
            </a:r>
            <a:r>
              <a:rPr lang="en-US" altLang="ja-JP" dirty="0"/>
              <a:t>4</a:t>
            </a:r>
            <a:r>
              <a:rPr lang="ja-JP" altLang="en-US"/>
              <a:t>年新村柊月が発表させていただきます。</a:t>
            </a:r>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a:t>
            </a:fld>
            <a:endParaRPr kumimoji="1" lang="ja-JP" altLang="en-US"/>
          </a:p>
        </p:txBody>
      </p:sp>
    </p:spTree>
    <p:extLst>
      <p:ext uri="{BB962C8B-B14F-4D97-AF65-F5344CB8AC3E}">
        <p14:creationId xmlns:p14="http://schemas.microsoft.com/office/powerpoint/2010/main" val="3934188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はじめに研究背景についてです。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観光業界において</a:t>
            </a:r>
            <a:r>
              <a:rPr lang="ja-JP" altLang="en-US" sz="1200">
                <a:latin typeface="+mn-ea"/>
              </a:rPr>
              <a:t>旅行客の旅行に対する期待は多様化しつつあるという背景があります。そこで旅行代理店では多様化する顧客の期待を適切に汲み取ることが求められます。</a:t>
            </a: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mn-ea"/>
              </a:rPr>
              <a:t>その一方で旅行代理店スタッフが顧客との対話をスムーズに行いながら期待を適切に汲み取ることは難しいといった課題があります。</a:t>
            </a:r>
            <a:endParaRPr lang="en-US" altLang="ja-JP" sz="1200" dirty="0">
              <a:latin typeface="+mn-ea"/>
            </a:endParaRPr>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2</a:t>
            </a:fld>
            <a:endParaRPr kumimoji="1" lang="ja-JP" altLang="en-US"/>
          </a:p>
        </p:txBody>
      </p:sp>
    </p:spTree>
    <p:extLst>
      <p:ext uri="{BB962C8B-B14F-4D97-AF65-F5344CB8AC3E}">
        <p14:creationId xmlns:p14="http://schemas.microsoft.com/office/powerpoint/2010/main" val="1491854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a:t>したがって</a:t>
            </a:r>
            <a:r>
              <a:rPr lang="ja-JP" altLang="en-US" sz="1200">
                <a:latin typeface="+mn-ea"/>
              </a:rPr>
              <a:t>旅行代理店スタッフの負担を軽減するために顧客の旅行に対する期待を適切に汲み取るタスクの自動化を目指す。</a:t>
            </a:r>
            <a:endParaRPr lang="en-US" altLang="ja-JP" sz="1200" dirty="0">
              <a:latin typeface="+mn-ea"/>
            </a:endParaRPr>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3</a:t>
            </a:fld>
            <a:endParaRPr kumimoji="1" lang="ja-JP" altLang="en-US"/>
          </a:p>
        </p:txBody>
      </p:sp>
    </p:spTree>
    <p:extLst>
      <p:ext uri="{BB962C8B-B14F-4D97-AF65-F5344CB8AC3E}">
        <p14:creationId xmlns:p14="http://schemas.microsoft.com/office/powerpoint/2010/main" val="1478576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r>
              <a:rPr kumimoji="1" lang="ja-JP" altLang="en-US"/>
              <a:t>次に関連研究についてです。</a:t>
            </a:r>
            <a:endParaRPr kumimoji="1" lang="en-US" altLang="ja-JP" dirty="0"/>
          </a:p>
          <a:p>
            <a:r>
              <a:rPr kumimoji="1" lang="ja-JP" altLang="en-US"/>
              <a:t>関連研究として、レビュー文章から顧客の期待を抽出する研究があります。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これは元は</a:t>
            </a:r>
            <a:r>
              <a:rPr lang="ja-JP" altLang="en-US" sz="1200">
                <a:latin typeface="+mn-ea"/>
              </a:rPr>
              <a:t>評判情報抽出</a:t>
            </a:r>
            <a:r>
              <a:rPr kumimoji="1" lang="ja-JP" altLang="en-US" sz="1200">
                <a:latin typeface="+mn-ea"/>
              </a:rPr>
              <a:t>の一部として行われていた研究であり、伊藤らの研究では</a:t>
            </a:r>
            <a:r>
              <a:rPr lang="ja-JP" altLang="en-US" sz="1200">
                <a:latin typeface="+mn-ea"/>
              </a:rPr>
              <a:t>評判情報の要素として期待を取り入れて、抽出に取り組みました。</a:t>
            </a:r>
            <a:endParaRPr lang="en-US" altLang="ja-JP" sz="1200" dirty="0">
              <a:latin typeface="+mn-ea"/>
            </a:endParaRP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4</a:t>
            </a:fld>
            <a:endParaRPr kumimoji="1" lang="ja-JP" altLang="en-US"/>
          </a:p>
        </p:txBody>
      </p:sp>
    </p:spTree>
    <p:extLst>
      <p:ext uri="{BB962C8B-B14F-4D97-AF65-F5344CB8AC3E}">
        <p14:creationId xmlns:p14="http://schemas.microsoft.com/office/powerpoint/2010/main" val="2408486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伊藤らは</a:t>
            </a:r>
            <a:r>
              <a:rPr lang="en-US" altLang="ja-JP" sz="1200" dirty="0"/>
              <a:t>SVM</a:t>
            </a:r>
            <a:r>
              <a:rPr lang="ja-JP" altLang="en-US" sz="1200"/>
              <a:t>を用いて期待を</a:t>
            </a:r>
            <a:r>
              <a:rPr kumimoji="1" lang="ja-JP" altLang="en-US" sz="1200" b="0">
                <a:latin typeface="+mj-ea"/>
                <a:ea typeface="+mj-ea"/>
              </a:rPr>
              <a:t>文字列</a:t>
            </a:r>
            <a:r>
              <a:rPr lang="ja-JP" altLang="en-US" sz="1200"/>
              <a:t>で抽出する実験を行いました。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結果は</a:t>
            </a:r>
            <a:r>
              <a:rPr lang="en-US" altLang="ja-JP" sz="1200" dirty="0"/>
              <a:t>F</a:t>
            </a:r>
            <a:r>
              <a:rPr lang="ja-JP" altLang="en-US" sz="1200"/>
              <a:t>値が </a:t>
            </a:r>
            <a:r>
              <a:rPr lang="en-US" altLang="ja-JP" sz="1200" dirty="0"/>
              <a:t>0.38</a:t>
            </a:r>
            <a:r>
              <a:rPr lang="ja-JP" altLang="en-US" sz="1200"/>
              <a:t>となり、課題のひとつとして</a:t>
            </a:r>
            <a:r>
              <a:rPr lang="en-US" altLang="ja-JP" sz="1200" b="0" i="0" dirty="0">
                <a:solidFill>
                  <a:srgbClr val="1D1C1D"/>
                </a:solidFill>
                <a:effectLst/>
                <a:latin typeface="+mn-ea"/>
              </a:rPr>
              <a:t>A</a:t>
            </a:r>
            <a:r>
              <a:rPr lang="ja-JP" altLang="en-US" sz="1200" b="0" i="0">
                <a:solidFill>
                  <a:srgbClr val="1D1C1D"/>
                </a:solidFill>
                <a:effectLst/>
                <a:latin typeface="+mn-ea"/>
              </a:rPr>
              <a:t>なのが残念の</a:t>
            </a:r>
            <a:r>
              <a:rPr lang="ja-JP" altLang="en-US" sz="1200"/>
              <a:t>ような明示的に現れない期待を抽出できないという課題が挙げていました。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5</a:t>
            </a:fld>
            <a:endParaRPr kumimoji="1" lang="ja-JP" altLang="en-US"/>
          </a:p>
        </p:txBody>
      </p:sp>
    </p:spTree>
    <p:extLst>
      <p:ext uri="{BB962C8B-B14F-4D97-AF65-F5344CB8AC3E}">
        <p14:creationId xmlns:p14="http://schemas.microsoft.com/office/powerpoint/2010/main" val="2905946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pPr>
              <a:lnSpc>
                <a:spcPct val="120000"/>
              </a:lnSpc>
            </a:pPr>
            <a:r>
              <a:rPr kumimoji="1" lang="ja-JP" altLang="en-US"/>
              <a:t>伊藤らの課題を踏まえ、塚田の研究では、</a:t>
            </a:r>
            <a:r>
              <a:rPr kumimoji="1" lang="ja-JP" altLang="en-US" sz="1200"/>
              <a:t>期待</a:t>
            </a:r>
            <a:r>
              <a:rPr lang="ja-JP" altLang="en-US" sz="1200"/>
              <a:t>を</a:t>
            </a:r>
            <a:r>
              <a:rPr kumimoji="1" lang="ja-JP" altLang="en-US" sz="1200"/>
              <a:t>高い精度で抽出することと明示的に現れない期待の抽出を目的としました。</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実際には</a:t>
            </a:r>
            <a:r>
              <a:rPr kumimoji="1" lang="en-US" altLang="ja-JP" dirty="0"/>
              <a:t>2</a:t>
            </a:r>
            <a:r>
              <a:rPr kumimoji="1" lang="ja-JP" altLang="en-US"/>
              <a:t>つの実験を行っていて、</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1</a:t>
            </a:r>
            <a:r>
              <a:rPr kumimoji="1" lang="ja-JP" altLang="en-US"/>
              <a:t>つ目は、「</a:t>
            </a:r>
            <a:r>
              <a:rPr kumimoji="1" lang="ja-JP" altLang="en-US" sz="1200" b="0">
                <a:latin typeface="+mj-ea"/>
                <a:ea typeface="+mj-ea"/>
              </a:rPr>
              <a:t>系列ラベリングによる期待を含めた</a:t>
            </a:r>
            <a:r>
              <a:rPr kumimoji="1" lang="en-US" altLang="ja-JP" sz="1200" b="0" dirty="0">
                <a:latin typeface="+mj-ea"/>
                <a:ea typeface="+mj-ea"/>
              </a:rPr>
              <a:t>4</a:t>
            </a:r>
            <a:r>
              <a:rPr kumimoji="1" lang="ja-JP" altLang="en-US" sz="1200" b="0">
                <a:latin typeface="+mj-ea"/>
                <a:ea typeface="+mj-ea"/>
              </a:rPr>
              <a:t>項組の抽出」です。トークン単位での分類により、レビューから、各項目に対応する文字列を抽出しています。</a:t>
            </a:r>
            <a:endParaRPr kumimoji="1" lang="en-US" altLang="ja-JP" sz="1200" b="0" dirty="0">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dirty="0">
                <a:latin typeface="+mj-ea"/>
                <a:ea typeface="+mj-ea"/>
              </a:rPr>
              <a:t>2</a:t>
            </a:r>
            <a:r>
              <a:rPr kumimoji="1" lang="ja-JP" altLang="en-US" sz="1200" b="0">
                <a:latin typeface="+mj-ea"/>
                <a:ea typeface="+mj-ea"/>
              </a:rPr>
              <a:t>つ目は、「文分類による期待の抽出」です。こちらは文単位なので、明示的に現れない期待も扱えます。</a:t>
            </a:r>
            <a:endParaRPr kumimoji="1" lang="en-US" altLang="ja-JP" sz="1200" b="0" dirty="0">
              <a:latin typeface="+mj-ea"/>
              <a:ea typeface="+mj-ea"/>
            </a:endParaRPr>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6</a:t>
            </a:fld>
            <a:endParaRPr kumimoji="1" lang="ja-JP" altLang="en-US"/>
          </a:p>
        </p:txBody>
      </p:sp>
    </p:spTree>
    <p:extLst>
      <p:ext uri="{BB962C8B-B14F-4D97-AF65-F5344CB8AC3E}">
        <p14:creationId xmlns:p14="http://schemas.microsoft.com/office/powerpoint/2010/main" val="1887614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sz="1200"/>
              <a:t>この研究の結果として、系列ラベリング手法では、期待は他の項目よりも精度が低く完全一致での抽出が困難であること。文分類手法では明示的に現れない期待を含め、ある程度高い精度で抽出ができることがわかりました。</a:t>
            </a:r>
            <a:endParaRPr lang="en-US" altLang="ja-JP"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ea typeface="+mj-ea"/>
              </a:rPr>
              <a:t>したがって</a:t>
            </a:r>
            <a:r>
              <a:rPr kumimoji="1" lang="ja-JP" altLang="en-US" sz="1200"/>
              <a:t>本研究では文分類手法を用いて期待の抽出を行うことにしました。</a:t>
            </a:r>
          </a:p>
          <a:p>
            <a:endParaRPr kumimoji="1" lang="en-US" altLang="ja-JP" dirty="0"/>
          </a:p>
          <a:p>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7</a:t>
            </a:fld>
            <a:endParaRPr kumimoji="1" lang="ja-JP" altLang="en-US"/>
          </a:p>
        </p:txBody>
      </p:sp>
    </p:spTree>
    <p:extLst>
      <p:ext uri="{BB962C8B-B14F-4D97-AF65-F5344CB8AC3E}">
        <p14:creationId xmlns:p14="http://schemas.microsoft.com/office/powerpoint/2010/main" val="2981222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pPr>
              <a:buSzPct val="100000"/>
            </a:pPr>
            <a:r>
              <a:rPr kumimoji="1" lang="ja-JP" altLang="en-US"/>
              <a:t>以上を踏まえ、本研究の位置付けを簡単に説明します。抽出対象データは</a:t>
            </a:r>
            <a:r>
              <a:rPr lang="ja-JP" altLang="en-US" b="0" i="0">
                <a:solidFill>
                  <a:srgbClr val="333333"/>
                </a:solidFill>
                <a:effectLst/>
                <a:latin typeface="Arial" panose="020B0604020202020204" pitchFamily="34" charset="0"/>
              </a:rPr>
              <a:t>旅行代理店のオペレーター役とカスタマー役の観光プランに関する相談の対</a:t>
            </a:r>
            <a:r>
              <a:rPr lang="ja-JP" altLang="en-US" b="0" i="0">
                <a:solidFill>
                  <a:srgbClr val="333333"/>
                </a:solidFill>
                <a:effectLst/>
                <a:latin typeface="+mn-ea"/>
              </a:rPr>
              <a:t>話文章です。</a:t>
            </a:r>
            <a:endParaRPr kumimoji="1" lang="en-US" altLang="ja-JP" sz="1200" b="0" i="0" dirty="0">
              <a:solidFill>
                <a:srgbClr val="333333"/>
              </a:solidFill>
              <a:effectLst/>
              <a:latin typeface="+mn-ea"/>
            </a:endParaRPr>
          </a:p>
          <a:p>
            <a:pPr>
              <a:buSzPct val="100000"/>
            </a:pPr>
            <a:r>
              <a:rPr kumimoji="1" lang="ja-JP" altLang="en-US" sz="1200">
                <a:latin typeface="+mn-ea"/>
              </a:rPr>
              <a:t>期待を「顧客の観光地に対しての要望」と定義します。また、対話文章では考えられる期待としてスライドにあるような</a:t>
            </a:r>
            <a:r>
              <a:rPr lang="ja-JP" altLang="en-US" sz="1200">
                <a:latin typeface="+mn-ea"/>
              </a:rPr>
              <a:t>スタッフの提案に対して、</a:t>
            </a:r>
            <a:r>
              <a:rPr kumimoji="1" lang="ja-JP" altLang="en-US" sz="1200">
                <a:latin typeface="+mn-ea"/>
              </a:rPr>
              <a:t>顧客が反応する形で現れる期待</a:t>
            </a:r>
            <a:r>
              <a:rPr lang="ja-JP" altLang="en-US" sz="1200">
                <a:latin typeface="+mn-ea"/>
              </a:rPr>
              <a:t>が存在します。そのためスタッフと顧客の</a:t>
            </a:r>
            <a:r>
              <a:rPr kumimoji="1" lang="ja-JP" altLang="en-US" sz="1200">
                <a:latin typeface="+mn-ea"/>
              </a:rPr>
              <a:t>対話対を一つの単位として対話対ごとに分類を行う手法を提案しています。</a:t>
            </a:r>
            <a:endParaRPr kumimoji="1" lang="en-US" altLang="ja-JP" sz="1200" dirty="0">
              <a:latin typeface="+mn-ea"/>
            </a:endParaRPr>
          </a:p>
          <a:p>
            <a:endParaRPr kumimoji="1" lang="en-US" altLang="ja-JP" sz="1200" dirty="0">
              <a:latin typeface="+mn-ea"/>
            </a:endParaRP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8</a:t>
            </a:fld>
            <a:endParaRPr kumimoji="1" lang="ja-JP" altLang="en-US"/>
          </a:p>
        </p:txBody>
      </p:sp>
    </p:spTree>
    <p:extLst>
      <p:ext uri="{BB962C8B-B14F-4D97-AF65-F5344CB8AC3E}">
        <p14:creationId xmlns:p14="http://schemas.microsoft.com/office/powerpoint/2010/main" val="22931640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研究目的をまとめます。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大きな研究目的としては</a:t>
            </a:r>
            <a:r>
              <a:rPr lang="ja-JP" altLang="en-US" sz="1200"/>
              <a:t>対話文章での期待抽出精度を向上させることであり、これの達成のために、対話対単位での期待の抽出が有効であるかの検証を行います。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9</a:t>
            </a:fld>
            <a:endParaRPr kumimoji="1" lang="ja-JP" altLang="en-US"/>
          </a:p>
        </p:txBody>
      </p:sp>
    </p:spTree>
    <p:extLst>
      <p:ext uri="{BB962C8B-B14F-4D97-AF65-F5344CB8AC3E}">
        <p14:creationId xmlns:p14="http://schemas.microsoft.com/office/powerpoint/2010/main" val="658291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では実際に行った実験について</a:t>
            </a:r>
            <a:endParaRPr kumimoji="1" lang="en-US" altLang="ja-JP" dirty="0"/>
          </a:p>
          <a:p>
            <a:r>
              <a:rPr lang="ja-JP" altLang="en-US" sz="1200" b="0">
                <a:latin typeface="+mj-ea"/>
              </a:rPr>
              <a:t>期待文の文分類と対話対分類実験と題しましてご説明させていただきます。</a:t>
            </a:r>
            <a:endParaRPr lang="en-US" altLang="ja-JP" sz="1200" b="0" dirty="0">
              <a:latin typeface="+mj-ea"/>
            </a:endParaRPr>
          </a:p>
          <a:p>
            <a:r>
              <a:rPr lang="ja-JP" altLang="en-US" sz="1200">
                <a:latin typeface="+mn-ea"/>
              </a:rPr>
              <a:t>期待の有無は文単位で決定するものとして</a:t>
            </a:r>
            <a:r>
              <a:rPr lang="ja-JP" altLang="en-US">
                <a:latin typeface="+mn-ea"/>
              </a:rPr>
              <a:t>一文単位、対話対単位での期待の有無について</a:t>
            </a:r>
            <a:r>
              <a:rPr lang="en-US" altLang="ja-JP" dirty="0">
                <a:latin typeface="+mn-ea"/>
              </a:rPr>
              <a:t>BERT</a:t>
            </a:r>
            <a:r>
              <a:rPr lang="ja-JP" altLang="en-US">
                <a:latin typeface="+mn-ea"/>
              </a:rPr>
              <a:t>を用いて分類実験を行います。</a:t>
            </a:r>
            <a:endParaRPr lang="en-US" altLang="ja-JP" dirty="0">
              <a:latin typeface="+mn-ea"/>
            </a:endParaRPr>
          </a:p>
          <a:p>
            <a:r>
              <a:rPr lang="ja-JP" altLang="en-US">
                <a:latin typeface="+mn-ea"/>
              </a:rPr>
              <a:t>対象データについても説明した通りです。</a:t>
            </a:r>
            <a:endParaRPr lang="en-US" altLang="ja-JP" dirty="0">
              <a:latin typeface="+mn-ea"/>
            </a:endParaRPr>
          </a:p>
          <a:p>
            <a:endParaRPr lang="en-US" altLang="ja-JP" dirty="0">
              <a:latin typeface="+mn-ea"/>
            </a:endParaRPr>
          </a:p>
          <a:p>
            <a:endParaRPr lang="en-US" altLang="ja-JP" dirty="0">
              <a:latin typeface="+mn-ea"/>
            </a:endParaRPr>
          </a:p>
          <a:p>
            <a:endParaRPr kumimoji="1" lang="ja-JP" altLang="en-US" b="0"/>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10</a:t>
            </a:fld>
            <a:endParaRPr kumimoji="1" lang="ja-JP" altLang="en-US"/>
          </a:p>
        </p:txBody>
      </p:sp>
    </p:spTree>
    <p:extLst>
      <p:ext uri="{BB962C8B-B14F-4D97-AF65-F5344CB8AC3E}">
        <p14:creationId xmlns:p14="http://schemas.microsoft.com/office/powerpoint/2010/main" val="1606725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次に実験設定です。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まず期待文の</a:t>
            </a:r>
            <a:r>
              <a:rPr lang="ja-JP" altLang="en-US"/>
              <a:t>ラベル付けですが、</a:t>
            </a:r>
            <a:r>
              <a:rPr lang="ja-JP" altLang="en-US" sz="1200">
                <a:latin typeface="+mn-ea"/>
              </a:rPr>
              <a:t>人手によってデータセットにセグメント単位でつけられたアノテーションデータを用います。こちらは</a:t>
            </a:r>
            <a:r>
              <a:rPr lang="ja-JP" altLang="en-US"/>
              <a:t>あらかじめデータセットに用意されたものになります。</a:t>
            </a:r>
            <a:endParaRPr lang="en-US" altLang="ja-JP" sz="1200" dirty="0">
              <a:latin typeface="+mn-ea"/>
            </a:endParaRPr>
          </a:p>
          <a:p>
            <a:r>
              <a:rPr lang="ja-JP" altLang="en-US" sz="1200">
                <a:latin typeface="+mn-ea"/>
              </a:rPr>
              <a:t>アノテーションの一種として</a:t>
            </a:r>
            <a:r>
              <a:rPr lang="en-US" altLang="ja-JP" sz="1200" kern="0" dirty="0" err="1">
                <a:effectLst/>
                <a:latin typeface="+mn-ea"/>
                <a:cs typeface="ＭＳ Ｐゴシック" panose="020B0600070205080204" pitchFamily="34" charset="-128"/>
              </a:rPr>
              <a:t>SpotRequirement</a:t>
            </a:r>
            <a:r>
              <a:rPr lang="ja-JP" altLang="en-US" sz="1200" kern="0">
                <a:effectLst/>
                <a:latin typeface="+mn-ea"/>
                <a:cs typeface="ＭＳ Ｐゴシック" panose="020B0600070205080204" pitchFamily="34" charset="-128"/>
              </a:rPr>
              <a:t>タグがあり、これは</a:t>
            </a:r>
            <a:endParaRPr lang="en-US" altLang="ja-JP" sz="1200" kern="0" dirty="0">
              <a:effectLst/>
              <a:latin typeface="+mn-ea"/>
              <a:cs typeface="ＭＳ Ｐゴシック" panose="020B0600070205080204" pitchFamily="34" charset="-128"/>
            </a:endParaRPr>
          </a:p>
          <a:p>
            <a:r>
              <a:rPr lang="ja-JP" altLang="en-US">
                <a:solidFill>
                  <a:srgbClr val="000000"/>
                </a:solidFill>
                <a:effectLst/>
                <a:latin typeface="Helvetica" pitchFamily="2" charset="0"/>
              </a:rPr>
              <a:t>カスタマーによる観光地に対する要望・条件と</a:t>
            </a:r>
            <a:endParaRPr lang="en-US" altLang="ja-JP" dirty="0">
              <a:solidFill>
                <a:srgbClr val="000000"/>
              </a:solidFill>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0">
                <a:effectLst/>
                <a:latin typeface="+mn-ea"/>
                <a:cs typeface="ＭＳ Ｐゴシック" panose="020B0600070205080204" pitchFamily="34" charset="-128"/>
              </a:rPr>
              <a:t>定義されているのでこのタグが付けられたセグメントを含む文章を期待文とみなします。</a:t>
            </a:r>
            <a:endParaRPr lang="en-US" altLang="ja-JP" sz="1200" kern="0" dirty="0">
              <a:effectLst/>
              <a:latin typeface="+mn-ea"/>
              <a:cs typeface="ＭＳ Ｐゴシック" panose="020B0600070205080204"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ea"/>
            </a:endParaRPr>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11</a:t>
            </a:fld>
            <a:endParaRPr kumimoji="1" lang="ja-JP" altLang="en-US"/>
          </a:p>
        </p:txBody>
      </p:sp>
    </p:spTree>
    <p:extLst>
      <p:ext uri="{BB962C8B-B14F-4D97-AF65-F5344CB8AC3E}">
        <p14:creationId xmlns:p14="http://schemas.microsoft.com/office/powerpoint/2010/main" val="4031347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sz="1200"/>
              <a:t>データセットはスライドの表のとおりに用意しました。文分類モデルは対話対分類モデルで用意した対話対から顧客の発話のみを抽出したものなので、期待なし文についても同様箇所のデータを用いています。</a:t>
            </a:r>
            <a:endParaRPr lang="en-US" altLang="ja-JP" sz="1200" dirty="0"/>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12</a:t>
            </a:fld>
            <a:endParaRPr kumimoji="1" lang="ja-JP" altLang="en-US"/>
          </a:p>
        </p:txBody>
      </p:sp>
    </p:spTree>
    <p:extLst>
      <p:ext uri="{BB962C8B-B14F-4D97-AF65-F5344CB8AC3E}">
        <p14:creationId xmlns:p14="http://schemas.microsoft.com/office/powerpoint/2010/main" val="2916061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64C62-5465-B725-9A8E-E9873D57C7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EAA75A-D40F-3E87-38F9-48C09B2BA06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97EB23-8690-5F63-BA98-B31561E6CC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次にそれぞれの入力テキストについてです。</a:t>
            </a:r>
            <a:r>
              <a:rPr lang="ja-JP" altLang="en-US" sz="1200"/>
              <a:t>実際の入力テキストの例</a:t>
            </a:r>
            <a:r>
              <a:rPr kumimoji="1" lang="ja-JP" altLang="en-US" sz="1200"/>
              <a:t>をスライドに示しました。</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発話者が誰かについても入力テキスト内に含め、</a:t>
            </a:r>
            <a:r>
              <a:rPr lang="ja-JP" altLang="en-US"/>
              <a:t>対話対分類モデル</a:t>
            </a:r>
            <a:r>
              <a:rPr lang="ja-JP" altLang="en-US" sz="1200"/>
              <a:t>については</a:t>
            </a:r>
            <a:r>
              <a:rPr lang="en-US" altLang="ja-JP" dirty="0"/>
              <a:t>[</a:t>
            </a:r>
            <a:r>
              <a:rPr lang="en" altLang="ja-JP" dirty="0"/>
              <a:t>SEP] </a:t>
            </a:r>
            <a:r>
              <a:rPr lang="ja-JP" altLang="en-US"/>
              <a:t>トークンで</a:t>
            </a:r>
            <a:r>
              <a:rPr lang="en-US" altLang="ja-JP" dirty="0"/>
              <a:t>BERT</a:t>
            </a:r>
            <a:r>
              <a:rPr lang="ja-JP" altLang="en-US"/>
              <a:t>自体に文の切れ目を認識させました。</a:t>
            </a:r>
            <a:endParaRPr lang="en-US" altLang="ja-JP" dirty="0"/>
          </a:p>
        </p:txBody>
      </p:sp>
      <p:sp>
        <p:nvSpPr>
          <p:cNvPr id="4" name="スライド番号プレースホルダー 3">
            <a:extLst>
              <a:ext uri="{FF2B5EF4-FFF2-40B4-BE49-F238E27FC236}">
                <a16:creationId xmlns:a16="http://schemas.microsoft.com/office/drawing/2014/main" id="{5897F60A-F26B-6CC9-5B11-E0F33FE06E8E}"/>
              </a:ext>
            </a:extLst>
          </p:cNvPr>
          <p:cNvSpPr>
            <a:spLocks noGrp="1"/>
          </p:cNvSpPr>
          <p:nvPr>
            <p:ph type="sldNum" sz="quarter" idx="5"/>
          </p:nvPr>
        </p:nvSpPr>
        <p:spPr/>
        <p:txBody>
          <a:bodyPr/>
          <a:lstStyle/>
          <a:p>
            <a:fld id="{CE049665-1117-4B43-AF8F-91F94646FBBB}" type="slidenum">
              <a:rPr kumimoji="1" lang="ja-JP" altLang="en-US" smtClean="0"/>
              <a:t>13</a:t>
            </a:fld>
            <a:endParaRPr kumimoji="1" lang="ja-JP" altLang="en-US"/>
          </a:p>
        </p:txBody>
      </p:sp>
    </p:spTree>
    <p:extLst>
      <p:ext uri="{BB962C8B-B14F-4D97-AF65-F5344CB8AC3E}">
        <p14:creationId xmlns:p14="http://schemas.microsoft.com/office/powerpoint/2010/main" val="3634068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0">
                <a:effectLst/>
              </a:rPr>
              <a:t>次に実験結果です。実験結果はスライドの通りとなりました。</a:t>
            </a:r>
            <a:endParaRPr lang="en-US" altLang="ja-JP" sz="1200" kern="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kern="0">
                <a:effectLst/>
              </a:rPr>
              <a:t>この結果から、</a:t>
            </a:r>
            <a:r>
              <a:rPr lang="ja-JP" altLang="ja-JP" sz="1200" kern="0">
                <a:effectLst/>
              </a:rPr>
              <a:t>対話対単位分類モデル</a:t>
            </a:r>
            <a:r>
              <a:rPr kumimoji="1" lang="ja-JP" altLang="en-US" sz="1200" kern="0">
                <a:effectLst/>
              </a:rPr>
              <a:t>の方が期待と判断している文が多く、期待と判断する基準が緩いということがわかります。</a:t>
            </a:r>
            <a:endParaRPr kumimoji="1" lang="en-US" altLang="ja-JP" sz="1200" kern="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0" dirty="0">
                <a:effectLst/>
              </a:rPr>
              <a:t>F</a:t>
            </a:r>
            <a:r>
              <a:rPr kumimoji="1" lang="ja-JP" altLang="en-US" sz="1200" kern="0">
                <a:effectLst/>
              </a:rPr>
              <a:t>値から定量的な判断をすると、文分類モデルの方が優れたモデルであると言えます。</a:t>
            </a:r>
            <a:endParaRPr kumimoji="1" lang="en-US" altLang="ja-JP" sz="1200" kern="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0">
                <a:effectLst/>
              </a:rPr>
              <a:t>ですが、</a:t>
            </a:r>
            <a:r>
              <a:rPr kumimoji="1" lang="ja-JP" altLang="en-US" sz="1200" kern="0">
                <a:effectLst/>
                <a:latin typeface="游明朝" panose="02020400000000000000" pitchFamily="18" charset="-128"/>
                <a:ea typeface="游明朝" panose="02020400000000000000" pitchFamily="18" charset="-128"/>
                <a:cs typeface="Times New Roman" panose="02020603050405020304" pitchFamily="18" charset="0"/>
              </a:rPr>
              <a:t>オペレーターにとって最も重要なのはカスタマーの期待を逃さず取り切るということであるという仮定のもと、</a:t>
            </a:r>
            <a:r>
              <a:rPr kumimoji="1" lang="ja-JP" altLang="en-US" sz="1000" kern="0">
                <a:effectLst/>
              </a:rPr>
              <a:t>この程度の</a:t>
            </a:r>
            <a:r>
              <a:rPr kumimoji="1" lang="en-US" altLang="ja-JP" sz="1200" b="0" i="0" u="none" strike="noStrike" dirty="0" err="1">
                <a:solidFill>
                  <a:srgbClr val="000000"/>
                </a:solidFill>
                <a:effectLst/>
                <a:latin typeface="Aptos" panose="020B0004020202020204" pitchFamily="34" charset="0"/>
              </a:rPr>
              <a:t>適合率</a:t>
            </a:r>
            <a:r>
              <a:rPr kumimoji="1" lang="ja-JP" altLang="en-US" sz="1200" b="0" i="0" u="none" strike="noStrike">
                <a:solidFill>
                  <a:srgbClr val="000000"/>
                </a:solidFill>
                <a:effectLst/>
                <a:latin typeface="Aptos" panose="020B0004020202020204" pitchFamily="34" charset="0"/>
              </a:rPr>
              <a:t>、</a:t>
            </a:r>
            <a:r>
              <a:rPr kumimoji="1" lang="en-US" altLang="ja-JP" sz="1200" b="0" i="0" u="none" strike="noStrike" dirty="0" err="1">
                <a:solidFill>
                  <a:srgbClr val="000000"/>
                </a:solidFill>
                <a:effectLst/>
                <a:latin typeface="Aptos" panose="020B0004020202020204" pitchFamily="34" charset="0"/>
              </a:rPr>
              <a:t>再現率</a:t>
            </a:r>
            <a:r>
              <a:rPr kumimoji="1" lang="ja-JP" altLang="en-US" sz="1200" b="0" i="0" u="none" strike="noStrike">
                <a:solidFill>
                  <a:srgbClr val="000000"/>
                </a:solidFill>
                <a:effectLst/>
                <a:latin typeface="Aptos" panose="020B0004020202020204" pitchFamily="34" charset="0"/>
              </a:rPr>
              <a:t>の差であれば、</a:t>
            </a:r>
            <a:endParaRPr kumimoji="1" lang="en-US" altLang="ja-JP" sz="1000" kern="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kern="0">
                <a:effectLst/>
              </a:rPr>
              <a:t>対話対分類モデル</a:t>
            </a:r>
            <a:r>
              <a:rPr lang="ja-JP" altLang="en-US" sz="1200" kern="100">
                <a:effectLst/>
                <a:latin typeface="游明朝" panose="02020400000000000000" pitchFamily="18" charset="-128"/>
                <a:ea typeface="游明朝" panose="02020400000000000000" pitchFamily="18" charset="-128"/>
                <a:cs typeface="Times New Roman" panose="02020603050405020304" pitchFamily="18" charset="0"/>
              </a:rPr>
              <a:t>の方が優れている場合もあると考えます。</a:t>
            </a:r>
            <a:endParaRPr lang="ja-JP" altLang="ja-JP" sz="1200" kern="100">
              <a:effectLst/>
              <a:latin typeface="游明朝" panose="02020400000000000000" pitchFamily="18" charset="-128"/>
              <a:ea typeface="游明朝" panose="02020400000000000000" pitchFamily="18"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14</a:t>
            </a:fld>
            <a:endParaRPr kumimoji="1" lang="ja-JP" altLang="en-US"/>
          </a:p>
        </p:txBody>
      </p:sp>
    </p:spTree>
    <p:extLst>
      <p:ext uri="{BB962C8B-B14F-4D97-AF65-F5344CB8AC3E}">
        <p14:creationId xmlns:p14="http://schemas.microsoft.com/office/powerpoint/2010/main" val="24827847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では実際の誤分類のケースを見ていこうと思います。</a:t>
            </a:r>
            <a:endParaRPr lang="en-US" altLang="ja-JP" dirty="0"/>
          </a:p>
          <a:p>
            <a:r>
              <a:rPr lang="ja-JP" altLang="en-US"/>
              <a:t>まずは両モデルで抽出できなかった期待です。</a:t>
            </a:r>
            <a:endParaRPr lang="en-US" altLang="ja-JP" dirty="0"/>
          </a:p>
          <a:p>
            <a:r>
              <a:rPr lang="ja-JP" altLang="en-US"/>
              <a:t>情報が極端に少なく、単語の意図判別が難しいケースや、期待を表していても、長距離依存や省略の影響で曖昧な意味合いのケースが多く見られました。</a:t>
            </a:r>
            <a:endParaRPr lang="en-US" altLang="ja-JP" dirty="0"/>
          </a:p>
          <a:p>
            <a:r>
              <a:rPr kumimoji="1" lang="ja-JP" altLang="en-US"/>
              <a:t>これは抽出対象が対話文章であるからこその</a:t>
            </a:r>
            <a:r>
              <a:rPr lang="ja-JP" altLang="en-US"/>
              <a:t>誤分類のケース</a:t>
            </a:r>
            <a:r>
              <a:rPr kumimoji="1" lang="ja-JP" altLang="en-US"/>
              <a:t>の特徴と言えると思います。</a:t>
            </a: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15</a:t>
            </a:fld>
            <a:endParaRPr kumimoji="1" lang="ja-JP" altLang="en-US"/>
          </a:p>
        </p:txBody>
      </p:sp>
    </p:spTree>
    <p:extLst>
      <p:ext uri="{BB962C8B-B14F-4D97-AF65-F5344CB8AC3E}">
        <p14:creationId xmlns:p14="http://schemas.microsoft.com/office/powerpoint/2010/main" val="3739343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371600" y="1143000"/>
            <a:ext cx="4114800" cy="30861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次に、文分類</a:t>
            </a:r>
            <a:r>
              <a:rPr lang="ja-JP" altLang="en-US" sz="1200"/>
              <a:t>モデルでのみ誤分類された期待について見ていきます。</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a:solidFill>
                  <a:srgbClr val="CE9178"/>
                </a:solidFill>
                <a:effectLst/>
                <a:latin typeface="Menlo" panose="020B0609030804020204" pitchFamily="49" charset="0"/>
              </a:rPr>
              <a:t>実際には</a:t>
            </a:r>
            <a:r>
              <a:rPr lang="ja-JP" altLang="en-US"/>
              <a:t>文分類</a:t>
            </a:r>
            <a:r>
              <a:rPr lang="ja-JP" altLang="en-US" b="0">
                <a:solidFill>
                  <a:srgbClr val="CE9178"/>
                </a:solidFill>
                <a:effectLst/>
                <a:latin typeface="Menlo" panose="020B0609030804020204" pitchFamily="49" charset="0"/>
              </a:rPr>
              <a:t>モデルにはオペレーターの発話は学習させてないので、これらは</a:t>
            </a:r>
            <a:r>
              <a:rPr kumimoji="1" lang="ja-JP" altLang="en-US" sz="1200"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文分類</a:t>
            </a:r>
            <a:r>
              <a:rPr lang="ja-JP" altLang="en-US" sz="1200"/>
              <a:t>モデルでのみ誤分類された期待の</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対話対分類</a:t>
            </a:r>
            <a:r>
              <a:rPr lang="ja-JP" altLang="en-US"/>
              <a:t>モデルで学習させた文章を示します。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誤分類が起きた</a:t>
            </a:r>
            <a:r>
              <a:rPr kumimoji="1" lang="ja-JP" altLang="en-US"/>
              <a:t>ケースとして、</a:t>
            </a:r>
            <a:r>
              <a:rPr lang="ja-JP" altLang="en-US"/>
              <a:t>カスタマーの期待が質問形で現れるケースやカスタマーの期待がオペレーターの発話を受けて現れたケースが多くみられました。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このように</a:t>
            </a:r>
            <a:r>
              <a:rPr kumimoji="1" lang="ja-JP" altLang="en-US" sz="1200" b="0"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対話対分類モデルの優位性が</a:t>
            </a:r>
            <a:r>
              <a:rPr lang="ja-JP" altLang="en-US" b="0"/>
              <a:t>確認できる期待も存在する。</a:t>
            </a:r>
            <a:endParaRPr lang="en-US" altLang="ja-JP" b="0" dirty="0">
              <a:solidFill>
                <a:srgbClr val="CE9178"/>
              </a:solidFill>
              <a:effectLst/>
              <a:latin typeface="Menlo" panose="020B0609030804020204" pitchFamily="49" charset="0"/>
            </a:endParaRP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16</a:t>
            </a:fld>
            <a:endParaRPr kumimoji="1" lang="ja-JP" altLang="en-US"/>
          </a:p>
        </p:txBody>
      </p:sp>
    </p:spTree>
    <p:extLst>
      <p:ext uri="{BB962C8B-B14F-4D97-AF65-F5344CB8AC3E}">
        <p14:creationId xmlns:p14="http://schemas.microsoft.com/office/powerpoint/2010/main" val="1464162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次に対話対分類</a:t>
            </a:r>
            <a:r>
              <a:rPr lang="ja-JP" altLang="en-US"/>
              <a:t>モデルでのみ抽出できなかった期待</a:t>
            </a:r>
            <a:r>
              <a:rPr kumimoji="1" lang="ja-JP" altLang="en-US" sz="800" b="0" i="0" u="none" strike="noStrike" kern="1200" cap="none" spc="0" normalizeH="0" baseline="0">
                <a:ln>
                  <a:noFill/>
                </a:ln>
                <a:solidFill>
                  <a:schemeClr val="tx1"/>
                </a:solidFill>
                <a:effectLst/>
                <a:uLnTx/>
                <a:uFillTx/>
                <a:latin typeface="+mn-lt"/>
                <a:ea typeface="+mn-ea"/>
                <a:cs typeface="+mn-cs"/>
              </a:rPr>
              <a:t>について見ていきます。</a:t>
            </a:r>
            <a:endParaRPr kumimoji="1" lang="en-US" altLang="ja-JP" sz="1200" b="1" i="0" u="none" strike="noStrike" kern="1200" cap="none" spc="0" normalizeH="0" baseline="0" noProof="0" dirty="0">
              <a:ln>
                <a:noFill/>
              </a:ln>
              <a:solidFill>
                <a:prstClr val="black"/>
              </a:solidFill>
              <a:effectLst/>
              <a:uLnTx/>
              <a:uFillTx/>
              <a:latin typeface="游ゴシック Light" panose="020B0400000000000000" pitchFamily="34" charset="-128"/>
              <a:ea typeface="游ゴシック Light" panose="020B0400000000000000" pitchFamily="34" charset="-128"/>
              <a:cs typeface="+mj-cs"/>
            </a:endParaRPr>
          </a:p>
          <a:p>
            <a:r>
              <a:rPr kumimoji="1" lang="ja-JP" altLang="en-US" sz="12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対話対分類</a:t>
            </a:r>
            <a:r>
              <a:rPr lang="ja-JP" altLang="en-US"/>
              <a:t>モデルでは、オペレーターの発話があることで、逆に「期待が暗示的になっている」パターンが多く見られました。</a:t>
            </a:r>
            <a:endParaRPr lang="en-US" altLang="ja-JP" dirty="0"/>
          </a:p>
          <a:p>
            <a:r>
              <a:rPr lang="ja-JP" altLang="en-US"/>
              <a:t>原因として、オペレーターの発話によって期待の意図が弱まることや、単なる会話の流れとして処理されやすくなってしまっていることとが考えられます。</a:t>
            </a:r>
            <a:endParaRPr lang="en-US" altLang="ja-JP" dirty="0"/>
          </a:p>
          <a:p>
            <a:r>
              <a:rPr lang="ja-JP" altLang="en-US"/>
              <a:t>このケースは少しわかりづらいのですが、実際にオペレーターの発話をないものとしてカスタマーの発話を見ると期待と受け取りやすくなることが人間から見ても感じました。</a:t>
            </a:r>
            <a:endParaRPr lang="en-US" altLang="ja-JP" dirty="0"/>
          </a:p>
          <a:p>
            <a:r>
              <a:rPr lang="ja-JP" altLang="en-US"/>
              <a:t>下の例でカスタマーの発話だけを見ると、伊香保温泉に興味があり、観光地に求める期待であると受け取れるますが、オペレーターの発話を含むことで単なる話題提供や話を広げただけのようにも見える。</a:t>
            </a:r>
            <a:endParaRPr lang="en-US" altLang="ja-JP" dirty="0"/>
          </a:p>
          <a:p>
            <a:r>
              <a:rPr kumimoji="1" lang="ja-JP" altLang="en-US"/>
              <a:t>（この後のオペレーターの対応が重要）</a:t>
            </a: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17</a:t>
            </a:fld>
            <a:endParaRPr kumimoji="1" lang="ja-JP" altLang="en-US"/>
          </a:p>
        </p:txBody>
      </p:sp>
    </p:spTree>
    <p:extLst>
      <p:ext uri="{BB962C8B-B14F-4D97-AF65-F5344CB8AC3E}">
        <p14:creationId xmlns:p14="http://schemas.microsoft.com/office/powerpoint/2010/main" val="3306372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kumimoji="1" lang="ja-JP" altLang="en-US"/>
              <a:t>次に期待なしの文を期待ありと判定してしまった例について見ていく。</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最初に両モデルとも</a:t>
            </a:r>
            <a:r>
              <a:rPr kumimoji="1" lang="ja-JP" altLang="en-US"/>
              <a:t>期待なしの文を期待ありと判定してしまった例であるが、全ての誤分類されたパターンでこの例が一番少なかった。</a:t>
            </a:r>
            <a:endParaRPr kumimoji="1" lang="en-US" altLang="ja-JP" dirty="0"/>
          </a:p>
          <a:p>
            <a:r>
              <a:rPr kumimoji="1" lang="ja-JP" altLang="en-US"/>
              <a:t>この例を見てもわかるように、人によっては期待とも取れるような表現が多くあった。</a:t>
            </a:r>
            <a:endParaRPr kumimoji="1" lang="en-US" altLang="ja-JP" dirty="0"/>
          </a:p>
          <a:p>
            <a:r>
              <a:rPr kumimoji="1" lang="ja-JP" altLang="en-US"/>
              <a:t>特に場所について聞く発話や、自分ではない第三者のことを話す発話では誤分類していることがわかった。</a:t>
            </a: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18</a:t>
            </a:fld>
            <a:endParaRPr kumimoji="1" lang="ja-JP" altLang="en-US"/>
          </a:p>
        </p:txBody>
      </p:sp>
    </p:spTree>
    <p:extLst>
      <p:ext uri="{BB962C8B-B14F-4D97-AF65-F5344CB8AC3E}">
        <p14:creationId xmlns:p14="http://schemas.microsoft.com/office/powerpoint/2010/main" val="1858342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次に</a:t>
            </a:r>
            <a:r>
              <a:rPr lang="ja-JP" altLang="en-US"/>
              <a:t>対話対分類モデルでのみ、</a:t>
            </a:r>
            <a:r>
              <a:rPr kumimoji="1" lang="ja-JP" altLang="en-US"/>
              <a:t>期待なしの文を期待ありと判定してしまった例です。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このようなオペレーターの発話に対して、「いいですね」「○○が好き」といった好意的な反応が、期待の表明と誤認された。</a:t>
            </a:r>
          </a:p>
          <a:p>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20</a:t>
            </a:fld>
            <a:endParaRPr kumimoji="1" lang="ja-JP" altLang="en-US"/>
          </a:p>
        </p:txBody>
      </p:sp>
    </p:spTree>
    <p:extLst>
      <p:ext uri="{BB962C8B-B14F-4D97-AF65-F5344CB8AC3E}">
        <p14:creationId xmlns:p14="http://schemas.microsoft.com/office/powerpoint/2010/main" val="7943118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まとめです。今回の対話文での期待抽出では文分類を用いると</a:t>
            </a:r>
            <a:r>
              <a:rPr kumimoji="1" lang="en-US" altLang="ja-JP" dirty="0"/>
              <a:t>F</a:t>
            </a:r>
            <a:r>
              <a:rPr kumimoji="1" lang="ja-JP" altLang="en-US"/>
              <a:t>値が</a:t>
            </a:r>
            <a:r>
              <a:rPr kumimoji="1" lang="en-US" altLang="ja-JP" sz="1800" b="0" i="0" u="none" strike="noStrike" kern="1200" dirty="0">
                <a:solidFill>
                  <a:srgbClr val="000000"/>
                </a:solidFill>
                <a:effectLst/>
                <a:highlight>
                  <a:srgbClr val="FFFF00"/>
                </a:highlight>
                <a:latin typeface="游ゴシック" panose="020B0400000000000000" pitchFamily="34" charset="-128"/>
                <a:ea typeface="游ゴシック" panose="020B0400000000000000" pitchFamily="34" charset="-128"/>
              </a:rPr>
              <a:t>0.7984</a:t>
            </a:r>
            <a:r>
              <a:rPr kumimoji="1" lang="ja-JP" altLang="en-US" sz="1800" b="0" i="0" u="none" strike="noStrike" kern="1200">
                <a:solidFill>
                  <a:srgbClr val="000000"/>
                </a:solidFill>
                <a:effectLst/>
                <a:highlight>
                  <a:srgbClr val="FFFF00"/>
                </a:highlight>
                <a:latin typeface="游ゴシック" panose="020B0400000000000000" pitchFamily="34" charset="-128"/>
                <a:ea typeface="游ゴシック" panose="020B0400000000000000" pitchFamily="34" charset="-128"/>
              </a:rPr>
              <a:t>の精度で分類できました。また、対話対ごとの分類では</a:t>
            </a:r>
            <a:r>
              <a:rPr kumimoji="1" lang="en-US" altLang="ja-JP" sz="1800" b="0" i="0" u="none" strike="noStrike" kern="1200" dirty="0">
                <a:solidFill>
                  <a:srgbClr val="000000"/>
                </a:solidFill>
                <a:effectLst/>
                <a:highlight>
                  <a:srgbClr val="FFFF00"/>
                </a:highlight>
                <a:latin typeface="游ゴシック" panose="020B0400000000000000" pitchFamily="34" charset="-128"/>
                <a:ea typeface="游ゴシック" panose="020B0400000000000000" pitchFamily="34" charset="-128"/>
              </a:rPr>
              <a:t>F</a:t>
            </a:r>
            <a:r>
              <a:rPr kumimoji="1" lang="ja-JP" altLang="en-US" sz="1800" b="0" i="0" u="none" strike="noStrike" kern="1200">
                <a:solidFill>
                  <a:srgbClr val="000000"/>
                </a:solidFill>
                <a:effectLst/>
                <a:highlight>
                  <a:srgbClr val="FFFF00"/>
                </a:highlight>
                <a:latin typeface="游ゴシック" panose="020B0400000000000000" pitchFamily="34" charset="-128"/>
                <a:ea typeface="游ゴシック" panose="020B0400000000000000" pitchFamily="34" charset="-128"/>
              </a:rPr>
              <a:t>値が</a:t>
            </a:r>
            <a:r>
              <a:rPr kumimoji="1" lang="en-US" altLang="ja-JP" sz="1800" b="0" i="0" u="none" strike="noStrike" kern="1200" dirty="0">
                <a:solidFill>
                  <a:srgbClr val="000000"/>
                </a:solidFill>
                <a:effectLst/>
                <a:latin typeface="游ゴシック" panose="020B0400000000000000" pitchFamily="34" charset="-128"/>
                <a:ea typeface="游ゴシック" panose="020B0400000000000000" pitchFamily="34" charset="-128"/>
              </a:rPr>
              <a:t>0.7958</a:t>
            </a:r>
            <a:r>
              <a:rPr kumimoji="1" lang="ja-JP" altLang="en-US" sz="1800" b="0" i="0" u="none" strike="noStrike" kern="1200">
                <a:solidFill>
                  <a:srgbClr val="000000"/>
                </a:solidFill>
                <a:effectLst/>
                <a:latin typeface="游ゴシック" panose="020B0400000000000000" pitchFamily="34" charset="-128"/>
                <a:ea typeface="游ゴシック" panose="020B0400000000000000" pitchFamily="34" charset="-128"/>
              </a:rPr>
              <a:t>の精度で分類できました。どちらもレビューの期待文分類精度よりは精度が下がる結果となりました。</a:t>
            </a:r>
            <a:endParaRPr kumimoji="1" lang="en-US" altLang="ja-JP" sz="1800" b="0" i="0" u="none" strike="noStrike" kern="1200" dirty="0">
              <a:solidFill>
                <a:srgbClr val="000000"/>
              </a:solidFill>
              <a:effectLst/>
              <a:latin typeface="游ゴシック" panose="020B0400000000000000" pitchFamily="34" charset="-128"/>
              <a:ea typeface="游ゴシック"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0" i="0" u="none" strike="noStrike">
                <a:effectLst/>
                <a:latin typeface="Arial" panose="020B0604020202020204" pitchFamily="34" charset="0"/>
              </a:rPr>
              <a:t>それぞれの分類モデルの比較では、それぞれのモデルでしか判別できない期待も存在しており、これらの組み合わせや対話文章の性質や目的ごとの使い分けも考えられると思います。</a:t>
            </a:r>
            <a:endParaRPr lang="en-US" altLang="ja-JP" sz="18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21</a:t>
            </a:fld>
            <a:endParaRPr kumimoji="1" lang="ja-JP" altLang="en-US"/>
          </a:p>
        </p:txBody>
      </p:sp>
    </p:spTree>
    <p:extLst>
      <p:ext uri="{BB962C8B-B14F-4D97-AF65-F5344CB8AC3E}">
        <p14:creationId xmlns:p14="http://schemas.microsoft.com/office/powerpoint/2010/main" val="3488724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i="0" u="none" strike="noStrike">
                <a:effectLst/>
                <a:latin typeface="Arial" panose="020B0604020202020204" pitchFamily="34" charset="0"/>
              </a:rPr>
              <a:t>以上から、今後の課題として対話文からの期待抽出精度の向上や実用化への課題が挙げられます。</a:t>
            </a:r>
            <a:endParaRPr lang="en-US" altLang="ja-JP"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ja-JP" sz="1200" b="0" i="0" u="none" strike="noStrike">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対話は話し言葉であるため、相槌や「えーと、」のような</a:t>
            </a:r>
            <a:r>
              <a:rPr lang="ja-JP" altLang="en-US" b="0" i="0">
                <a:solidFill>
                  <a:srgbClr val="001D35"/>
                </a:solidFill>
                <a:effectLst/>
                <a:latin typeface="Arial" panose="020B0604020202020204" pitchFamily="34" charset="0"/>
              </a:rPr>
              <a:t>つなぎ言葉</a:t>
            </a:r>
            <a:r>
              <a:rPr lang="ja-JP" altLang="en-US"/>
              <a:t>が多く残っていました。また、文章の省略が多く、抽出できてもそれ単体では意味のわからない期待も存在しました。</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このような</a:t>
            </a:r>
            <a:r>
              <a:rPr lang="ja-JP" altLang="en-US"/>
              <a:t>話し言葉特有の課題に対しての前処理を行うことでより精度の向上を目指せると考えます。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さらに実用化に向けての課題としては、抽出した期待をどのように出力すべきかが挙げられます。実用化ベースで考えることで、逆説的に必要な精度や処理速度も変わってくるので必要な議論であると考えます。</a:t>
            </a:r>
          </a:p>
        </p:txBody>
      </p:sp>
      <p:sp>
        <p:nvSpPr>
          <p:cNvPr id="4" name="スライド番号プレースホルダー 3"/>
          <p:cNvSpPr>
            <a:spLocks noGrp="1"/>
          </p:cNvSpPr>
          <p:nvPr>
            <p:ph type="sldNum" sz="quarter" idx="5"/>
          </p:nvPr>
        </p:nvSpPr>
        <p:spPr/>
        <p:txBody>
          <a:bodyPr/>
          <a:lstStyle/>
          <a:p>
            <a:fld id="{CE049665-1117-4B43-AF8F-91F94646FBBB}" type="slidenum">
              <a:rPr kumimoji="1" lang="ja-JP" altLang="en-US" smtClean="0"/>
              <a:t>22</a:t>
            </a:fld>
            <a:endParaRPr kumimoji="1" lang="ja-JP" altLang="en-US"/>
          </a:p>
        </p:txBody>
      </p:sp>
    </p:spTree>
    <p:extLst>
      <p:ext uri="{BB962C8B-B14F-4D97-AF65-F5344CB8AC3E}">
        <p14:creationId xmlns:p14="http://schemas.microsoft.com/office/powerpoint/2010/main" val="4169569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B72311C1-44CF-CD4D-A9B2-E504D266C6F2}" type="datetime1">
              <a:rPr kumimoji="1" lang="ja-JP" altLang="en-US" smtClean="0"/>
              <a:t>2025/1/28</a:t>
            </a:fld>
            <a:endParaRPr kumimoji="1" lang="ja-JP" altLang="en-US"/>
          </a:p>
        </p:txBody>
      </p:sp>
      <p:sp>
        <p:nvSpPr>
          <p:cNvPr id="6" name="Slide Number Placeholder 5"/>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3555920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8650" y="234949"/>
            <a:ext cx="7886700" cy="892176"/>
          </a:xfrm>
          <a:prstGeom prst="rect">
            <a:avLst/>
          </a:prstGeom>
        </p:spPr>
        <p:txBody>
          <a:bodyPr anchor="ctr"/>
          <a:lstStyle/>
          <a:p>
            <a:r>
              <a:rPr lang="ja-JP" altLang="en-US"/>
              <a:t>マスター タイトルの書式設定</a:t>
            </a:r>
            <a:endParaRPr lang="en-US" dirty="0"/>
          </a:p>
        </p:txBody>
      </p:sp>
      <p:sp>
        <p:nvSpPr>
          <p:cNvPr id="3" name="Content Placeholder 2"/>
          <p:cNvSpPr>
            <a:spLocks noGrp="1"/>
          </p:cNvSpPr>
          <p:nvPr>
            <p:ph idx="1"/>
          </p:nvPr>
        </p:nvSpPr>
        <p:spPr>
          <a:xfrm>
            <a:off x="628650" y="1566069"/>
            <a:ext cx="7886700" cy="4351338"/>
          </a:xfrm>
        </p:spPr>
        <p:txBody>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10"/>
          </p:nvPr>
        </p:nvSpPr>
        <p:spPr/>
        <p:txBody>
          <a:bodyPr/>
          <a:lstStyle/>
          <a:p>
            <a:fld id="{4AD948FD-83E2-294E-B1E6-2849FAB0BE9F}" type="datetime1">
              <a:rPr kumimoji="1" lang="ja-JP" altLang="en-US" smtClean="0"/>
              <a:t>2025/1/28</a:t>
            </a:fld>
            <a:endParaRPr kumimoji="1" lang="ja-JP" altLang="en-US"/>
          </a:p>
        </p:txBody>
      </p:sp>
      <p:sp>
        <p:nvSpPr>
          <p:cNvPr id="5" name="Footer Placeholder 4"/>
          <p:cNvSpPr>
            <a:spLocks noGrp="1"/>
          </p:cNvSpPr>
          <p:nvPr>
            <p:ph type="ftr" sz="quarter" idx="11"/>
          </p:nvPr>
        </p:nvSpPr>
        <p:spPr>
          <a:xfrm>
            <a:off x="3028950" y="6429058"/>
            <a:ext cx="3086100" cy="365125"/>
          </a:xfrm>
          <a:prstGeom prst="rect">
            <a:avLst/>
          </a:prstGeom>
        </p:spPr>
        <p:txBody>
          <a:bodyPr/>
          <a:lstStyle/>
          <a:p>
            <a:endParaRPr lang="en-US" altLang="ja-JP" dirty="0">
              <a:solidFill>
                <a:srgbClr val="000000"/>
              </a:solidFill>
              <a:latin typeface="Helvetica" pitchFamily="2" charset="0"/>
            </a:endParaRPr>
          </a:p>
          <a:p>
            <a:endParaRPr lang="en" altLang="ja-JP" dirty="0">
              <a:solidFill>
                <a:srgbClr val="000000"/>
              </a:solidFill>
              <a:latin typeface="Helvetica" pitchFamily="2" charset="0"/>
            </a:endParaRPr>
          </a:p>
        </p:txBody>
      </p:sp>
      <p:sp>
        <p:nvSpPr>
          <p:cNvPr id="6" name="Slide Number Placeholder 5"/>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2020618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F7ACF27-3D3B-2E46-B5CE-D81A625407B6}" type="datetime1">
              <a:rPr kumimoji="1" lang="ja-JP" altLang="en-US" smtClean="0"/>
              <a:t>2025/1/28</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6" name="Slide Number Placeholder 5"/>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82860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022C43C5-9E11-D140-A69E-0DA5170833BF}" type="datetime1">
              <a:rPr kumimoji="1" lang="ja-JP" altLang="en-US" smtClean="0"/>
              <a:t>2025/1/28</a:t>
            </a:fld>
            <a:endParaRPr kumimoji="1" lang="ja-JP"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7" name="Slide Number Placeholder 6"/>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462494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E5C50C9-23DA-2A4A-BA69-AD3F1A817CBB}" type="datetime1">
              <a:rPr kumimoji="1" lang="ja-JP" altLang="en-US" smtClean="0"/>
              <a:t>2025/1/28</a:t>
            </a:fld>
            <a:endParaRPr kumimoji="1" lang="ja-JP" alt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9" name="Slide Number Placeholder 8"/>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3597942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586A7F7-F7C0-EC45-8245-17AF0A1D3416}" type="datetime1">
              <a:rPr kumimoji="1" lang="ja-JP" altLang="en-US" smtClean="0"/>
              <a:t>2025/1/28</a:t>
            </a:fld>
            <a:endParaRPr kumimoji="1" lang="ja-JP" alt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5" name="Slide Number Placeholder 4"/>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308284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90AF13-0AE8-8B40-A089-20CBFB714433}" type="datetime1">
              <a:rPr kumimoji="1" lang="ja-JP" altLang="en-US" smtClean="0"/>
              <a:t>2025/1/28</a:t>
            </a:fld>
            <a:endParaRPr kumimoji="1" lang="ja-JP" alt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4" name="Slide Number Placeholder 3"/>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18588669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513488D-151D-D942-A108-9322E77F3D10}" type="datetime1">
              <a:rPr kumimoji="1" lang="ja-JP" altLang="en-US" smtClean="0"/>
              <a:t>2025/1/28</a:t>
            </a:fld>
            <a:endParaRPr kumimoji="1" lang="ja-JP"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7" name="Slide Number Placeholder 6"/>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162891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4DD0C718-1643-094D-8538-77BA674CF38A}" type="datetime1">
              <a:rPr kumimoji="1" lang="ja-JP" altLang="en-US" smtClean="0"/>
              <a:t>2025/1/28</a:t>
            </a:fld>
            <a:endParaRPr kumimoji="1" lang="ja-JP"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7" name="Slide Number Placeholder 6"/>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1427597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9E8920B9-489D-2B42-8C7B-A9514E86CCFB}" type="datetime1">
              <a:rPr kumimoji="1" lang="ja-JP" altLang="en-US" smtClean="0"/>
              <a:t>2025/1/28</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6" name="Slide Number Placeholder 5"/>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4014674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5C8C1B8-CE5C-4842-9C12-AD4C4F3B55E9}" type="datetime1">
              <a:rPr kumimoji="1" lang="ja-JP" altLang="en-US" smtClean="0"/>
              <a:t>2025/1/28</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kumimoji="1" lang="ja-JP" altLang="en-US"/>
              <a:t>研究発表 </a:t>
            </a:r>
            <a:r>
              <a:rPr kumimoji="1" lang="en" altLang="ja-JP"/>
              <a:t>February ○ 2025 Mori Lab., Yokohama National University</a:t>
            </a:r>
            <a:endParaRPr kumimoji="1" lang="ja-JP" altLang="en-US"/>
          </a:p>
        </p:txBody>
      </p:sp>
      <p:sp>
        <p:nvSpPr>
          <p:cNvPr id="6" name="Slide Number Placeholder 5"/>
          <p:cNvSpPr>
            <a:spLocks noGrp="1"/>
          </p:cNvSpPr>
          <p:nvPr>
            <p:ph type="sldNum" sz="quarter" idx="12"/>
          </p:nvPr>
        </p:nvSpPr>
        <p:spPr/>
        <p:txBody>
          <a:bodyPr/>
          <a:lstStyle/>
          <a:p>
            <a:fld id="{220C0F37-2064-1644-956F-38420264F42F}" type="slidenum">
              <a:rPr kumimoji="1" lang="ja-JP" altLang="en-US" smtClean="0"/>
              <a:t>‹#›</a:t>
            </a:fld>
            <a:endParaRPr kumimoji="1" lang="ja-JP" altLang="en-US"/>
          </a:p>
        </p:txBody>
      </p:sp>
    </p:spTree>
    <p:extLst>
      <p:ext uri="{BB962C8B-B14F-4D97-AF65-F5344CB8AC3E}">
        <p14:creationId xmlns:p14="http://schemas.microsoft.com/office/powerpoint/2010/main" val="408012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7BC63BB6-5BF6-9DA1-05E3-9CA0AB9E3F08}"/>
              </a:ext>
            </a:extLst>
          </p:cNvPr>
          <p:cNvPicPr>
            <a:picLocks noChangeAspect="1"/>
          </p:cNvPicPr>
          <p:nvPr userDrawn="1"/>
        </p:nvPicPr>
        <p:blipFill>
          <a:blip r:embed="rId13"/>
          <a:stretch>
            <a:fillRect/>
          </a:stretch>
        </p:blipFill>
        <p:spPr>
          <a:xfrm>
            <a:off x="0" y="0"/>
            <a:ext cx="9144000" cy="6858000"/>
          </a:xfrm>
          <a:prstGeom prst="rect">
            <a:avLst/>
          </a:prstGeom>
        </p:spPr>
      </p:pic>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9C6F17-177D-164E-A19C-A3B3DD9E258D}" type="datetime1">
              <a:rPr kumimoji="1" lang="ja-JP" altLang="en-US" smtClean="0"/>
              <a:t>2025/1/28</a:t>
            </a:fld>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0C0F37-2064-1644-956F-38420264F42F}" type="slidenum">
              <a:rPr kumimoji="1" lang="ja-JP" altLang="en-US" smtClean="0"/>
              <a:t>‹#›</a:t>
            </a:fld>
            <a:endParaRPr kumimoji="1" lang="ja-JP" altLang="en-US"/>
          </a:p>
        </p:txBody>
      </p:sp>
      <p:sp>
        <p:nvSpPr>
          <p:cNvPr id="14" name="フッター プレースホルダー 13">
            <a:extLst>
              <a:ext uri="{FF2B5EF4-FFF2-40B4-BE49-F238E27FC236}">
                <a16:creationId xmlns:a16="http://schemas.microsoft.com/office/drawing/2014/main" id="{ACE522DE-4512-EE6E-E17A-AECAAF454F15}"/>
              </a:ext>
            </a:extLst>
          </p:cNvPr>
          <p:cNvSpPr>
            <a:spLocks noGrp="1"/>
          </p:cNvSpPr>
          <p:nvPr>
            <p:ph type="ftr" sz="quarter" idx="3"/>
          </p:nvPr>
        </p:nvSpPr>
        <p:spPr>
          <a:xfrm>
            <a:off x="3028950" y="6412073"/>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Tree>
    <p:extLst>
      <p:ext uri="{BB962C8B-B14F-4D97-AF65-F5344CB8AC3E}">
        <p14:creationId xmlns:p14="http://schemas.microsoft.com/office/powerpoint/2010/main" val="24680948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30D27-C9E1-EEB7-12B6-9C5F7E3CD979}"/>
              </a:ext>
            </a:extLst>
          </p:cNvPr>
          <p:cNvSpPr>
            <a:spLocks noGrp="1"/>
          </p:cNvSpPr>
          <p:nvPr>
            <p:ph type="ctrTitle"/>
          </p:nvPr>
        </p:nvSpPr>
        <p:spPr/>
        <p:txBody>
          <a:bodyPr anchor="ctr">
            <a:normAutofit/>
          </a:bodyPr>
          <a:lstStyle/>
          <a:p>
            <a:pPr>
              <a:lnSpc>
                <a:spcPct val="107000"/>
              </a:lnSpc>
              <a:spcAft>
                <a:spcPts val="600"/>
              </a:spcAft>
            </a:pPr>
            <a:r>
              <a:rPr lang="ja-JP" altLang="ja-JP" sz="3600" kern="100">
                <a:latin typeface="+mj-ea"/>
                <a:cs typeface="Times New Roman" panose="02020603050405020304" pitchFamily="18" charset="0"/>
              </a:rPr>
              <a:t>旅行代理店対話データを用いた</a:t>
            </a:r>
            <a:br>
              <a:rPr lang="en-US" altLang="ja-JP" sz="3600" kern="100" dirty="0">
                <a:latin typeface="+mj-ea"/>
                <a:cs typeface="Times New Roman" panose="02020603050405020304" pitchFamily="18" charset="0"/>
              </a:rPr>
            </a:br>
            <a:r>
              <a:rPr lang="ja-JP" altLang="ja-JP" sz="3600" kern="100">
                <a:latin typeface="+mj-ea"/>
                <a:cs typeface="Times New Roman" panose="02020603050405020304" pitchFamily="18" charset="0"/>
              </a:rPr>
              <a:t>顧客期待の抽出に関する研究</a:t>
            </a:r>
          </a:p>
        </p:txBody>
      </p:sp>
      <p:sp>
        <p:nvSpPr>
          <p:cNvPr id="3" name="字幕 2">
            <a:extLst>
              <a:ext uri="{FF2B5EF4-FFF2-40B4-BE49-F238E27FC236}">
                <a16:creationId xmlns:a16="http://schemas.microsoft.com/office/drawing/2014/main" id="{422C1E29-BFF1-A260-EA43-E005E582508E}"/>
              </a:ext>
            </a:extLst>
          </p:cNvPr>
          <p:cNvSpPr>
            <a:spLocks noGrp="1"/>
          </p:cNvSpPr>
          <p:nvPr>
            <p:ph type="subTitle" idx="1"/>
          </p:nvPr>
        </p:nvSpPr>
        <p:spPr>
          <a:xfrm>
            <a:off x="1143000" y="3686369"/>
            <a:ext cx="6858000" cy="1241822"/>
          </a:xfrm>
        </p:spPr>
        <p:txBody>
          <a:bodyPr>
            <a:normAutofit fontScale="70000" lnSpcReduction="20000"/>
          </a:bodyPr>
          <a:lstStyle/>
          <a:p>
            <a:r>
              <a:rPr lang="en-US" altLang="ja-JP" dirty="0"/>
              <a:t>2024</a:t>
            </a:r>
            <a:r>
              <a:rPr lang="ja-JP" altLang="en-US"/>
              <a:t>年</a:t>
            </a:r>
            <a:r>
              <a:rPr lang="en-US" altLang="ja-JP" dirty="0"/>
              <a:t> 2</a:t>
            </a:r>
            <a:r>
              <a:rPr lang="ja-JP" altLang="en-US"/>
              <a:t>月</a:t>
            </a:r>
            <a:r>
              <a:rPr kumimoji="1" lang="ja-JP" altLang="en-US"/>
              <a:t>　</a:t>
            </a:r>
            <a:r>
              <a:rPr lang="ja-JP" altLang="en-US"/>
              <a:t>日</a:t>
            </a:r>
            <a:endParaRPr lang="en-US" altLang="ja-JP" dirty="0"/>
          </a:p>
          <a:p>
            <a:r>
              <a:rPr lang="ja-JP" altLang="en-US"/>
              <a:t>横浜国立大学 理工学部 数物・電子情報系学科 情報工学</a:t>
            </a:r>
            <a:r>
              <a:rPr lang="en-US" altLang="ja-JP" dirty="0"/>
              <a:t>EP</a:t>
            </a:r>
          </a:p>
          <a:p>
            <a:pPr>
              <a:lnSpc>
                <a:spcPct val="100000"/>
              </a:lnSpc>
            </a:pPr>
            <a:r>
              <a:rPr lang="ja-JP" altLang="en-US"/>
              <a:t>森研究室 </a:t>
            </a:r>
            <a:r>
              <a:rPr lang="en-US" altLang="ja-JP" dirty="0"/>
              <a:t>4</a:t>
            </a:r>
            <a:r>
              <a:rPr lang="ja-JP" altLang="en-US"/>
              <a:t>年</a:t>
            </a:r>
            <a:endParaRPr lang="en-US" altLang="ja-JP" dirty="0"/>
          </a:p>
          <a:p>
            <a:r>
              <a:rPr lang="en-US" altLang="ja-JP" dirty="0"/>
              <a:t>2164130 </a:t>
            </a:r>
            <a:r>
              <a:rPr lang="ja-JP" altLang="en-US"/>
              <a:t>新村柊月</a:t>
            </a:r>
          </a:p>
        </p:txBody>
      </p:sp>
      <p:sp>
        <p:nvSpPr>
          <p:cNvPr id="4" name="フッター プレースホルダー 3">
            <a:extLst>
              <a:ext uri="{FF2B5EF4-FFF2-40B4-BE49-F238E27FC236}">
                <a16:creationId xmlns:a16="http://schemas.microsoft.com/office/drawing/2014/main" id="{25D63C9F-2173-3FF6-0D4B-8CF085715E4F}"/>
              </a:ext>
            </a:extLst>
          </p:cNvPr>
          <p:cNvSpPr>
            <a:spLocks noGrp="1"/>
          </p:cNvSpPr>
          <p:nvPr>
            <p:ph type="ftr" sz="quarter" idx="4294967295"/>
          </p:nvPr>
        </p:nvSpPr>
        <p:spPr>
          <a:xfrm>
            <a:off x="3028950" y="6436997"/>
            <a:ext cx="3086100" cy="365125"/>
          </a:xfrm>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C10CFE4C-0647-B38F-D721-0F744D62FAB4}"/>
              </a:ext>
            </a:extLst>
          </p:cNvPr>
          <p:cNvSpPr>
            <a:spLocks noGrp="1"/>
          </p:cNvSpPr>
          <p:nvPr>
            <p:ph type="sldNum" sz="quarter" idx="12"/>
          </p:nvPr>
        </p:nvSpPr>
        <p:spPr/>
        <p:txBody>
          <a:bodyPr/>
          <a:lstStyle/>
          <a:p>
            <a:fld id="{220C0F37-2064-1644-956F-38420264F42F}" type="slidenum">
              <a:rPr kumimoji="1" lang="ja-JP" altLang="en-US" smtClean="0"/>
              <a:t>1</a:t>
            </a:fld>
            <a:endParaRPr kumimoji="1" lang="ja-JP" altLang="en-US"/>
          </a:p>
        </p:txBody>
      </p:sp>
    </p:spTree>
    <p:extLst>
      <p:ext uri="{BB962C8B-B14F-4D97-AF65-F5344CB8AC3E}">
        <p14:creationId xmlns:p14="http://schemas.microsoft.com/office/powerpoint/2010/main" val="936422331"/>
      </p:ext>
    </p:extLst>
  </p:cSld>
  <p:clrMapOvr>
    <a:masterClrMapping/>
  </p:clrMapOvr>
  <mc:AlternateContent xmlns:mc="http://schemas.openxmlformats.org/markup-compatibility/2006">
    <mc:Choice xmlns:p14="http://schemas.microsoft.com/office/powerpoint/2010/main" Requires="p14">
      <p:transition spd="slow" p14:dur="2000" advTm="37930"/>
    </mc:Choice>
    <mc:Fallback>
      <p:transition spd="slow" advTm="379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A404AE-4636-4AC1-C578-09D51A8195BE}"/>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660C60BC-B26A-3129-9D07-DFC95B949ED3}"/>
              </a:ext>
            </a:extLst>
          </p:cNvPr>
          <p:cNvSpPr>
            <a:spLocks noGrp="1"/>
          </p:cNvSpPr>
          <p:nvPr>
            <p:ph idx="1"/>
          </p:nvPr>
        </p:nvSpPr>
        <p:spPr/>
        <p:txBody>
          <a:bodyPr/>
          <a:lstStyle/>
          <a:p>
            <a:r>
              <a:rPr lang="ja-JP" altLang="en-US" sz="2400">
                <a:latin typeface="+mn-ea"/>
              </a:rPr>
              <a:t>旅行客の旅行に対する期待は多様化しつつある。</a:t>
            </a:r>
            <a:endParaRPr lang="en-US" altLang="ja-JP" sz="2400" dirty="0">
              <a:latin typeface="+mn-ea"/>
            </a:endParaRPr>
          </a:p>
          <a:p>
            <a:pPr marL="0" indent="0">
              <a:buNone/>
            </a:pPr>
            <a:endParaRPr lang="en-US" altLang="ja-JP" sz="2400" dirty="0">
              <a:latin typeface="+mn-ea"/>
            </a:endParaRPr>
          </a:p>
          <a:p>
            <a:r>
              <a:rPr lang="ja-JP" altLang="en-US" sz="2400">
                <a:latin typeface="+mn-ea"/>
              </a:rPr>
              <a:t>多様化する顧客の期待を適切に汲み取ることが旅行代理店では重要である。</a:t>
            </a:r>
            <a:endParaRPr lang="en-US" altLang="ja-JP" sz="2400" dirty="0">
              <a:latin typeface="+mn-ea"/>
            </a:endParaRPr>
          </a:p>
          <a:p>
            <a:endParaRPr lang="en-US" altLang="ja-JP" sz="2400" dirty="0">
              <a:latin typeface="+mn-ea"/>
            </a:endParaRPr>
          </a:p>
          <a:p>
            <a:pPr marL="0" indent="0">
              <a:buNone/>
            </a:pPr>
            <a:endParaRPr lang="en-US" altLang="ja-JP" sz="2400" dirty="0">
              <a:latin typeface="+mn-ea"/>
            </a:endParaRPr>
          </a:p>
          <a:p>
            <a:pPr marL="0" indent="0">
              <a:buNone/>
            </a:pPr>
            <a:r>
              <a:rPr lang="ja-JP" altLang="en-US" sz="2400">
                <a:latin typeface="+mn-ea"/>
              </a:rPr>
              <a:t>しかし、旅行代理店スタッフは顧客の旅行の期待を的確に汲み取る、旅行先の情報を調べる、旅行プランの作成を行うといったマルチタスクをこなす必要がある。</a:t>
            </a:r>
            <a:endParaRPr lang="en-US" altLang="ja-JP" sz="2400" dirty="0">
              <a:latin typeface="+mn-ea"/>
            </a:endParaRPr>
          </a:p>
          <a:p>
            <a:endParaRPr lang="en-US" altLang="ja-JP" dirty="0">
              <a:latin typeface="+mn-ea"/>
            </a:endParaRPr>
          </a:p>
          <a:p>
            <a:endParaRPr kumimoji="1" lang="ja-JP" altLang="en-US"/>
          </a:p>
        </p:txBody>
      </p:sp>
      <p:sp>
        <p:nvSpPr>
          <p:cNvPr id="4" name="フッター プレースホルダー 3">
            <a:extLst>
              <a:ext uri="{FF2B5EF4-FFF2-40B4-BE49-F238E27FC236}">
                <a16:creationId xmlns:a16="http://schemas.microsoft.com/office/drawing/2014/main" id="{4CA2FC9F-085B-A241-1920-C89ACA71123A}"/>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2F6F273B-D126-9C1D-C0CE-2B60457A14B6}"/>
              </a:ext>
            </a:extLst>
          </p:cNvPr>
          <p:cNvSpPr>
            <a:spLocks noGrp="1"/>
          </p:cNvSpPr>
          <p:nvPr>
            <p:ph type="sldNum" sz="quarter" idx="12"/>
          </p:nvPr>
        </p:nvSpPr>
        <p:spPr/>
        <p:txBody>
          <a:bodyPr/>
          <a:lstStyle/>
          <a:p>
            <a:fld id="{220C0F37-2064-1644-956F-38420264F42F}" type="slidenum">
              <a:rPr kumimoji="1" lang="ja-JP" altLang="en-US" smtClean="0"/>
              <a:t>2</a:t>
            </a:fld>
            <a:endParaRPr kumimoji="1" lang="ja-JP" altLang="en-US"/>
          </a:p>
        </p:txBody>
      </p:sp>
    </p:spTree>
    <p:extLst>
      <p:ext uri="{BB962C8B-B14F-4D97-AF65-F5344CB8AC3E}">
        <p14:creationId xmlns:p14="http://schemas.microsoft.com/office/powerpoint/2010/main" val="3749900475"/>
      </p:ext>
    </p:extLst>
  </p:cSld>
  <p:clrMapOvr>
    <a:masterClrMapping/>
  </p:clrMapOvr>
  <mc:AlternateContent xmlns:mc="http://schemas.openxmlformats.org/markup-compatibility/2006" xmlns:p14="http://schemas.microsoft.com/office/powerpoint/2010/main">
    <mc:Choice Requires="p14">
      <p:transition spd="slow" p14:dur="2000" advTm="21994"/>
    </mc:Choice>
    <mc:Fallback xmlns="">
      <p:transition spd="slow" advTm="2199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76032C-8436-327A-0E70-51087ED37E82}"/>
              </a:ext>
            </a:extLst>
          </p:cNvPr>
          <p:cNvSpPr>
            <a:spLocks noGrp="1"/>
          </p:cNvSpPr>
          <p:nvPr>
            <p:ph type="title"/>
          </p:nvPr>
        </p:nvSpPr>
        <p:spPr/>
        <p:txBody>
          <a:bodyPr/>
          <a:lstStyle/>
          <a:p>
            <a:r>
              <a:rPr kumimoji="1" lang="ja-JP" altLang="en-US"/>
              <a:t>研究背景</a:t>
            </a:r>
          </a:p>
        </p:txBody>
      </p:sp>
      <p:sp>
        <p:nvSpPr>
          <p:cNvPr id="3" name="コンテンツ プレースホルダー 2">
            <a:extLst>
              <a:ext uri="{FF2B5EF4-FFF2-40B4-BE49-F238E27FC236}">
                <a16:creationId xmlns:a16="http://schemas.microsoft.com/office/drawing/2014/main" id="{4FB7BB7E-8212-3894-65F1-882879E5BCC6}"/>
              </a:ext>
            </a:extLst>
          </p:cNvPr>
          <p:cNvSpPr>
            <a:spLocks noGrp="1"/>
          </p:cNvSpPr>
          <p:nvPr>
            <p:ph idx="1"/>
          </p:nvPr>
        </p:nvSpPr>
        <p:spPr/>
        <p:txBody>
          <a:bodyPr>
            <a:normAutofit/>
          </a:bodyPr>
          <a:lstStyle/>
          <a:p>
            <a:pPr marL="0" indent="0">
              <a:buNone/>
            </a:pPr>
            <a:r>
              <a:rPr lang="ja-JP" altLang="en-US" sz="2400">
                <a:latin typeface="+mn-ea"/>
              </a:rPr>
              <a:t>したがって、</a:t>
            </a:r>
            <a:endParaRPr lang="en-US" altLang="ja-JP" sz="2400" dirty="0">
              <a:latin typeface="+mn-ea"/>
            </a:endParaRPr>
          </a:p>
          <a:p>
            <a:pPr marL="0" indent="0">
              <a:buNone/>
            </a:pPr>
            <a:r>
              <a:rPr lang="ja-JP" altLang="en-US" sz="2400">
                <a:latin typeface="+mn-ea"/>
              </a:rPr>
              <a:t>　旅行代理店スタッフの負担を軽減する仕組みを整えることでさらなる顧客対応の効率化や顧客満足度の向上に直結すると考えられる。</a:t>
            </a:r>
            <a:endParaRPr lang="en-US" altLang="ja-JP" sz="2400" dirty="0">
              <a:latin typeface="+mn-ea"/>
            </a:endParaRPr>
          </a:p>
          <a:p>
            <a:pPr marL="0" indent="0">
              <a:buNone/>
            </a:pPr>
            <a:endParaRPr lang="en-US" altLang="ja-JP" sz="2400" dirty="0">
              <a:latin typeface="+mn-ea"/>
            </a:endParaRPr>
          </a:p>
          <a:p>
            <a:pPr marL="0" indent="0">
              <a:buNone/>
            </a:pPr>
            <a:r>
              <a:rPr lang="ja-JP" altLang="en-US" sz="2400">
                <a:latin typeface="+mn-ea"/>
              </a:rPr>
              <a:t>顧客の旅行に対する期待を適切に汲み取るタスクの自動化を目指す。</a:t>
            </a:r>
            <a:endParaRPr lang="en-US" altLang="ja-JP" sz="2400" dirty="0">
              <a:latin typeface="+mn-ea"/>
            </a:endParaRPr>
          </a:p>
          <a:p>
            <a:pPr marL="0" indent="0">
              <a:buNone/>
            </a:pPr>
            <a:endParaRPr lang="en-US" altLang="ja-JP" dirty="0">
              <a:latin typeface="+mn-ea"/>
            </a:endParaRPr>
          </a:p>
          <a:p>
            <a:pPr marL="0" indent="0">
              <a:buNone/>
            </a:pPr>
            <a:endParaRPr lang="en-US" altLang="ja-JP" dirty="0"/>
          </a:p>
          <a:p>
            <a:pPr marL="0" indent="0">
              <a:buNone/>
            </a:pPr>
            <a:endParaRPr kumimoji="1" lang="en-US" altLang="ja-JP" dirty="0"/>
          </a:p>
          <a:p>
            <a:pPr marL="0" indent="0">
              <a:buNone/>
            </a:pPr>
            <a:endParaRPr kumimoji="1" lang="en-US" altLang="ja-JP" dirty="0"/>
          </a:p>
        </p:txBody>
      </p:sp>
      <p:sp>
        <p:nvSpPr>
          <p:cNvPr id="5" name="フッター プレースホルダー 4">
            <a:extLst>
              <a:ext uri="{FF2B5EF4-FFF2-40B4-BE49-F238E27FC236}">
                <a16:creationId xmlns:a16="http://schemas.microsoft.com/office/drawing/2014/main" id="{505EAEFB-EE7E-4A50-D699-A833F101166D}"/>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6" name="スライド番号プレースホルダー 5">
            <a:extLst>
              <a:ext uri="{FF2B5EF4-FFF2-40B4-BE49-F238E27FC236}">
                <a16:creationId xmlns:a16="http://schemas.microsoft.com/office/drawing/2014/main" id="{91D6A39C-40BD-6F5B-1C55-F57E66677B78}"/>
              </a:ext>
            </a:extLst>
          </p:cNvPr>
          <p:cNvSpPr>
            <a:spLocks noGrp="1"/>
          </p:cNvSpPr>
          <p:nvPr>
            <p:ph type="sldNum" sz="quarter" idx="12"/>
          </p:nvPr>
        </p:nvSpPr>
        <p:spPr/>
        <p:txBody>
          <a:bodyPr/>
          <a:lstStyle/>
          <a:p>
            <a:fld id="{220C0F37-2064-1644-956F-38420264F42F}" type="slidenum">
              <a:rPr kumimoji="1" lang="ja-JP" altLang="en-US" smtClean="0"/>
              <a:t>3</a:t>
            </a:fld>
            <a:endParaRPr kumimoji="1" lang="ja-JP" altLang="en-US"/>
          </a:p>
        </p:txBody>
      </p:sp>
    </p:spTree>
    <p:extLst>
      <p:ext uri="{BB962C8B-B14F-4D97-AF65-F5344CB8AC3E}">
        <p14:creationId xmlns:p14="http://schemas.microsoft.com/office/powerpoint/2010/main" val="2289675944"/>
      </p:ext>
    </p:extLst>
  </p:cSld>
  <p:clrMapOvr>
    <a:masterClrMapping/>
  </p:clrMapOvr>
  <mc:AlternateContent xmlns:mc="http://schemas.openxmlformats.org/markup-compatibility/2006" xmlns:p14="http://schemas.microsoft.com/office/powerpoint/2010/main">
    <mc:Choice Requires="p14">
      <p:transition spd="slow" p14:dur="2000" advTm="12028"/>
    </mc:Choice>
    <mc:Fallback xmlns="">
      <p:transition spd="slow" advTm="1202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791683-A93D-10F2-4F80-7DDD92980196}"/>
              </a:ext>
            </a:extLst>
          </p:cNvPr>
          <p:cNvSpPr>
            <a:spLocks noGrp="1"/>
          </p:cNvSpPr>
          <p:nvPr>
            <p:ph type="title"/>
          </p:nvPr>
        </p:nvSpPr>
        <p:spPr/>
        <p:txBody>
          <a:bodyPr/>
          <a:lstStyle/>
          <a:p>
            <a:r>
              <a:rPr kumimoji="1" lang="ja-JP" altLang="en-US"/>
              <a:t>関連研究</a:t>
            </a:r>
          </a:p>
        </p:txBody>
      </p:sp>
      <p:sp>
        <p:nvSpPr>
          <p:cNvPr id="3" name="コンテンツ プレースホルダー 2">
            <a:extLst>
              <a:ext uri="{FF2B5EF4-FFF2-40B4-BE49-F238E27FC236}">
                <a16:creationId xmlns:a16="http://schemas.microsoft.com/office/drawing/2014/main" id="{88156428-AF0B-44AB-99CE-647887A2363D}"/>
              </a:ext>
            </a:extLst>
          </p:cNvPr>
          <p:cNvSpPr>
            <a:spLocks noGrp="1"/>
          </p:cNvSpPr>
          <p:nvPr>
            <p:ph idx="1"/>
          </p:nvPr>
        </p:nvSpPr>
        <p:spPr>
          <a:xfrm>
            <a:off x="628650" y="1690689"/>
            <a:ext cx="7886700" cy="3263504"/>
          </a:xfrm>
        </p:spPr>
        <p:txBody>
          <a:bodyPr>
            <a:normAutofit/>
          </a:bodyPr>
          <a:lstStyle/>
          <a:p>
            <a:pPr marL="0" indent="0">
              <a:buNone/>
            </a:pPr>
            <a:r>
              <a:rPr lang="ja-JP" altLang="en-US" sz="2400">
                <a:latin typeface="+mn-ea"/>
              </a:rPr>
              <a:t>評判情報抽出</a:t>
            </a:r>
            <a:endParaRPr lang="en-US" altLang="ja-JP" sz="2400" dirty="0">
              <a:latin typeface="+mn-ea"/>
            </a:endParaRPr>
          </a:p>
          <a:p>
            <a:pPr marL="0" indent="0">
              <a:buNone/>
            </a:pPr>
            <a:r>
              <a:rPr lang="ja-JP" altLang="en-US" sz="2000" dirty="0">
                <a:latin typeface="+mn-ea"/>
              </a:rPr>
              <a:t>　</a:t>
            </a:r>
            <a:r>
              <a:rPr lang="ja-JP" altLang="en-US" sz="2000">
                <a:latin typeface="+mn-ea"/>
              </a:rPr>
              <a:t>特定の商品やサービスに対する意見をその根拠とともに抽出する技術</a:t>
            </a:r>
            <a:endParaRPr lang="en-US" altLang="ja-JP" sz="2000" dirty="0">
              <a:latin typeface="+mn-ea"/>
            </a:endParaRPr>
          </a:p>
          <a:p>
            <a:pPr marL="135731" indent="0">
              <a:buNone/>
            </a:pPr>
            <a:r>
              <a:rPr lang="en-US" altLang="ja-JP" sz="900" b="1" dirty="0">
                <a:latin typeface="+mn-ea"/>
              </a:rPr>
              <a:t> </a:t>
            </a:r>
          </a:p>
          <a:p>
            <a:pPr marL="0" indent="0">
              <a:buNone/>
            </a:pPr>
            <a:r>
              <a:rPr kumimoji="1" lang="ja-JP" altLang="en-US" sz="2400">
                <a:latin typeface="+mn-ea"/>
              </a:rPr>
              <a:t>伊藤ら</a:t>
            </a:r>
            <a:r>
              <a:rPr kumimoji="1" lang="en-US" altLang="ja-JP" sz="2400" dirty="0">
                <a:latin typeface="+mn-ea"/>
              </a:rPr>
              <a:t>[1]</a:t>
            </a:r>
            <a:r>
              <a:rPr kumimoji="1" lang="ja-JP" altLang="en-US" sz="2400">
                <a:latin typeface="+mn-ea"/>
              </a:rPr>
              <a:t>の研究</a:t>
            </a:r>
            <a:endParaRPr lang="en-US" altLang="ja-JP" sz="2400" dirty="0">
              <a:solidFill>
                <a:srgbClr val="FF0000"/>
              </a:solidFill>
              <a:latin typeface="+mn-ea"/>
            </a:endParaRPr>
          </a:p>
          <a:p>
            <a:pPr marL="0" indent="0">
              <a:lnSpc>
                <a:spcPct val="120000"/>
              </a:lnSpc>
              <a:buNone/>
            </a:pPr>
            <a:r>
              <a:rPr lang="ja-JP" altLang="en-US" sz="1800">
                <a:latin typeface="+mn-ea"/>
              </a:rPr>
              <a:t>　</a:t>
            </a:r>
            <a:r>
              <a:rPr lang="ja-JP" altLang="en-US" sz="2000">
                <a:latin typeface="+mn-ea"/>
              </a:rPr>
              <a:t>期待と現状の差分が評価につながるとみなし、</a:t>
            </a:r>
            <a:br>
              <a:rPr lang="en-US" altLang="ja-JP" sz="2000" dirty="0">
                <a:latin typeface="+mn-ea"/>
              </a:rPr>
            </a:br>
            <a:r>
              <a:rPr lang="ja-JP" altLang="en-US" sz="2000">
                <a:latin typeface="+mn-ea"/>
              </a:rPr>
              <a:t>　評判情報は｛観点</a:t>
            </a:r>
            <a:r>
              <a:rPr lang="en-US" altLang="ja-JP" sz="2000" dirty="0">
                <a:latin typeface="+mn-ea"/>
              </a:rPr>
              <a:t>, </a:t>
            </a:r>
            <a:r>
              <a:rPr lang="ja-JP" altLang="en-US" sz="2000">
                <a:latin typeface="+mn-ea"/>
              </a:rPr>
              <a:t>期待</a:t>
            </a:r>
            <a:r>
              <a:rPr lang="en-US" altLang="ja-JP" sz="2000" dirty="0">
                <a:latin typeface="+mn-ea"/>
              </a:rPr>
              <a:t>, </a:t>
            </a:r>
            <a:r>
              <a:rPr lang="ja-JP" altLang="en-US" sz="2000">
                <a:latin typeface="+mn-ea"/>
              </a:rPr>
              <a:t>現状</a:t>
            </a:r>
            <a:r>
              <a:rPr lang="en-US" altLang="ja-JP" sz="2000" dirty="0">
                <a:latin typeface="+mn-ea"/>
              </a:rPr>
              <a:t>, </a:t>
            </a:r>
            <a:r>
              <a:rPr lang="ja-JP" altLang="en-US" sz="2000">
                <a:latin typeface="+mn-ea"/>
              </a:rPr>
              <a:t>評価｝から構成されると定義した。</a:t>
            </a:r>
            <a:endParaRPr lang="en-US" altLang="ja-JP" sz="2000" dirty="0">
              <a:latin typeface="+mn-ea"/>
            </a:endParaRPr>
          </a:p>
          <a:p>
            <a:pPr marL="0" indent="0">
              <a:buNone/>
            </a:pPr>
            <a:r>
              <a:rPr lang="en-US" altLang="ja-JP" sz="150" dirty="0">
                <a:latin typeface="+mn-ea"/>
              </a:rPr>
              <a:t> </a:t>
            </a:r>
          </a:p>
          <a:p>
            <a:pPr marL="0" indent="0">
              <a:buNone/>
            </a:pPr>
            <a:r>
              <a:rPr lang="ja-JP" altLang="en-US" sz="2000">
                <a:latin typeface="+mn-ea"/>
              </a:rPr>
              <a:t>　例</a:t>
            </a:r>
            <a:endParaRPr lang="en-US" altLang="ja-JP" sz="2000" dirty="0">
              <a:latin typeface="+mn-ea"/>
            </a:endParaRPr>
          </a:p>
        </p:txBody>
      </p:sp>
      <p:grpSp>
        <p:nvGrpSpPr>
          <p:cNvPr id="33" name="グループ化 32">
            <a:extLst>
              <a:ext uri="{FF2B5EF4-FFF2-40B4-BE49-F238E27FC236}">
                <a16:creationId xmlns:a16="http://schemas.microsoft.com/office/drawing/2014/main" id="{154F2FE2-BE77-DE74-452E-46E1DD505A14}"/>
              </a:ext>
            </a:extLst>
          </p:cNvPr>
          <p:cNvGrpSpPr/>
          <p:nvPr/>
        </p:nvGrpSpPr>
        <p:grpSpPr>
          <a:xfrm>
            <a:off x="807400" y="4810974"/>
            <a:ext cx="7707950" cy="1562813"/>
            <a:chOff x="1124698" y="4487614"/>
            <a:chExt cx="10105605" cy="2014068"/>
          </a:xfrm>
        </p:grpSpPr>
        <p:sp>
          <p:nvSpPr>
            <p:cNvPr id="8" name="テキスト ボックス 7">
              <a:extLst>
                <a:ext uri="{FF2B5EF4-FFF2-40B4-BE49-F238E27FC236}">
                  <a16:creationId xmlns:a16="http://schemas.microsoft.com/office/drawing/2014/main" id="{10B846A7-B034-C6E3-3395-D12E4C55DC44}"/>
                </a:ext>
              </a:extLst>
            </p:cNvPr>
            <p:cNvSpPr txBox="1"/>
            <p:nvPr/>
          </p:nvSpPr>
          <p:spPr>
            <a:xfrm>
              <a:off x="1124698" y="4762353"/>
              <a:ext cx="10105605" cy="1139860"/>
            </a:xfrm>
            <a:prstGeom prst="rect">
              <a:avLst/>
            </a:prstGeom>
            <a:noFill/>
          </p:spPr>
          <p:txBody>
            <a:bodyPr wrap="square" rtlCol="0">
              <a:spAutoFit/>
            </a:bodyPr>
            <a:lstStyle/>
            <a:p>
              <a:pPr>
                <a:lnSpc>
                  <a:spcPct val="150000"/>
                </a:lnSpc>
              </a:pPr>
              <a:r>
                <a:rPr lang="ja-JP" altLang="en-US"/>
                <a:t>「思っていたよりも濃い色でした。ピンクにすればよかったと少し後悔。</a:t>
              </a:r>
              <a:endParaRPr lang="en-US" altLang="ja-JP" dirty="0"/>
            </a:p>
            <a:p>
              <a:pPr>
                <a:lnSpc>
                  <a:spcPct val="150000"/>
                </a:lnSpc>
              </a:pPr>
              <a:r>
                <a:rPr lang="ja-JP" altLang="en-US"/>
                <a:t>もう少し明るめかと思った」</a:t>
              </a:r>
              <a:endParaRPr lang="en-US" altLang="ja-JP" dirty="0"/>
            </a:p>
          </p:txBody>
        </p:sp>
        <p:sp>
          <p:nvSpPr>
            <p:cNvPr id="12" name="テキスト ボックス 11">
              <a:extLst>
                <a:ext uri="{FF2B5EF4-FFF2-40B4-BE49-F238E27FC236}">
                  <a16:creationId xmlns:a16="http://schemas.microsoft.com/office/drawing/2014/main" id="{052E2B23-19A1-A210-8AE9-7D00AF3D2336}"/>
                </a:ext>
              </a:extLst>
            </p:cNvPr>
            <p:cNvSpPr txBox="1"/>
            <p:nvPr/>
          </p:nvSpPr>
          <p:spPr>
            <a:xfrm>
              <a:off x="3829566" y="4487614"/>
              <a:ext cx="1260239" cy="475975"/>
            </a:xfrm>
            <a:prstGeom prst="rect">
              <a:avLst/>
            </a:prstGeom>
            <a:noFill/>
          </p:spPr>
          <p:txBody>
            <a:bodyPr wrap="square" rtlCol="0">
              <a:spAutoFit/>
            </a:bodyPr>
            <a:lstStyle/>
            <a:p>
              <a:pPr algn="ctr"/>
              <a:r>
                <a:rPr lang="ja-JP" altLang="en-US">
                  <a:solidFill>
                    <a:srgbClr val="0070C0"/>
                  </a:solidFill>
                </a:rPr>
                <a:t>現状</a:t>
              </a:r>
              <a:endParaRPr lang="ja-JP" altLang="en-US" sz="1350" dirty="0">
                <a:solidFill>
                  <a:srgbClr val="0070C0"/>
                </a:solidFill>
              </a:endParaRPr>
            </a:p>
          </p:txBody>
        </p:sp>
        <p:sp>
          <p:nvSpPr>
            <p:cNvPr id="13" name="テキスト ボックス 12">
              <a:extLst>
                <a:ext uri="{FF2B5EF4-FFF2-40B4-BE49-F238E27FC236}">
                  <a16:creationId xmlns:a16="http://schemas.microsoft.com/office/drawing/2014/main" id="{210796CF-C177-9A8D-9669-19B3935E2166}"/>
                </a:ext>
              </a:extLst>
            </p:cNvPr>
            <p:cNvSpPr txBox="1"/>
            <p:nvPr/>
          </p:nvSpPr>
          <p:spPr>
            <a:xfrm>
              <a:off x="9864774" y="4501758"/>
              <a:ext cx="1160785" cy="475975"/>
            </a:xfrm>
            <a:prstGeom prst="rect">
              <a:avLst/>
            </a:prstGeom>
            <a:noFill/>
          </p:spPr>
          <p:txBody>
            <a:bodyPr wrap="square" rtlCol="0">
              <a:spAutoFit/>
            </a:bodyPr>
            <a:lstStyle/>
            <a:p>
              <a:pPr algn="ctr"/>
              <a:r>
                <a:rPr lang="ja-JP" altLang="en-US" dirty="0">
                  <a:solidFill>
                    <a:srgbClr val="0070C0"/>
                  </a:solidFill>
                </a:rPr>
                <a:t>評価</a:t>
              </a:r>
              <a:endParaRPr lang="ja-JP" altLang="en-US" sz="1350" dirty="0">
                <a:solidFill>
                  <a:srgbClr val="0070C0"/>
                </a:solidFill>
              </a:endParaRPr>
            </a:p>
          </p:txBody>
        </p:sp>
        <p:sp>
          <p:nvSpPr>
            <p:cNvPr id="22" name="テキスト ボックス 21">
              <a:extLst>
                <a:ext uri="{FF2B5EF4-FFF2-40B4-BE49-F238E27FC236}">
                  <a16:creationId xmlns:a16="http://schemas.microsoft.com/office/drawing/2014/main" id="{3168B794-57EE-9C5C-FBD1-355A7D61F278}"/>
                </a:ext>
              </a:extLst>
            </p:cNvPr>
            <p:cNvSpPr txBox="1"/>
            <p:nvPr/>
          </p:nvSpPr>
          <p:spPr>
            <a:xfrm>
              <a:off x="1599099" y="6025707"/>
              <a:ext cx="1380538" cy="475975"/>
            </a:xfrm>
            <a:prstGeom prst="rect">
              <a:avLst/>
            </a:prstGeom>
            <a:noFill/>
          </p:spPr>
          <p:txBody>
            <a:bodyPr wrap="square" rtlCol="0">
              <a:spAutoFit/>
            </a:bodyPr>
            <a:lstStyle/>
            <a:p>
              <a:pPr algn="ctr"/>
              <a:r>
                <a:rPr lang="ja-JP" altLang="en-US">
                  <a:solidFill>
                    <a:srgbClr val="0070C0"/>
                  </a:solidFill>
                </a:rPr>
                <a:t>期待</a:t>
              </a:r>
              <a:endParaRPr lang="ja-JP" altLang="en-US" sz="1500" dirty="0">
                <a:solidFill>
                  <a:srgbClr val="0070C0"/>
                </a:solidFill>
              </a:endParaRPr>
            </a:p>
          </p:txBody>
        </p:sp>
        <p:cxnSp>
          <p:nvCxnSpPr>
            <p:cNvPr id="7" name="直線コネクタ 6">
              <a:extLst>
                <a:ext uri="{FF2B5EF4-FFF2-40B4-BE49-F238E27FC236}">
                  <a16:creationId xmlns:a16="http://schemas.microsoft.com/office/drawing/2014/main" id="{59BACA49-53E0-4D6B-CFF4-BB4A154019D1}"/>
                </a:ext>
              </a:extLst>
            </p:cNvPr>
            <p:cNvCxnSpPr>
              <a:cxnSpLocks/>
            </p:cNvCxnSpPr>
            <p:nvPr/>
          </p:nvCxnSpPr>
          <p:spPr>
            <a:xfrm>
              <a:off x="1281994" y="5910873"/>
              <a:ext cx="2014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A4AEC110-27D1-397C-8535-058E5929E568}"/>
                </a:ext>
              </a:extLst>
            </p:cNvPr>
            <p:cNvCxnSpPr>
              <a:cxnSpLocks/>
            </p:cNvCxnSpPr>
            <p:nvPr/>
          </p:nvCxnSpPr>
          <p:spPr>
            <a:xfrm>
              <a:off x="3780312" y="5336613"/>
              <a:ext cx="1284208"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6A05C13-FABE-58E0-9993-840035822BD2}"/>
                </a:ext>
              </a:extLst>
            </p:cNvPr>
            <p:cNvCxnSpPr>
              <a:cxnSpLocks/>
            </p:cNvCxnSpPr>
            <p:nvPr/>
          </p:nvCxnSpPr>
          <p:spPr>
            <a:xfrm>
              <a:off x="9803063" y="5336613"/>
              <a:ext cx="1284208"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4" name="フッター プレースホルダー 3">
            <a:extLst>
              <a:ext uri="{FF2B5EF4-FFF2-40B4-BE49-F238E27FC236}">
                <a16:creationId xmlns:a16="http://schemas.microsoft.com/office/drawing/2014/main" id="{8648B6D3-8A30-4C89-D8EF-920F52E258A6}"/>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B977770C-8212-6116-E078-6A0ADEB404BC}"/>
              </a:ext>
            </a:extLst>
          </p:cNvPr>
          <p:cNvSpPr>
            <a:spLocks noGrp="1"/>
          </p:cNvSpPr>
          <p:nvPr>
            <p:ph type="sldNum" sz="quarter" idx="12"/>
          </p:nvPr>
        </p:nvSpPr>
        <p:spPr/>
        <p:txBody>
          <a:bodyPr/>
          <a:lstStyle/>
          <a:p>
            <a:fld id="{220C0F37-2064-1644-956F-38420264F42F}" type="slidenum">
              <a:rPr kumimoji="1" lang="ja-JP" altLang="en-US" smtClean="0"/>
              <a:t>4</a:t>
            </a:fld>
            <a:endParaRPr kumimoji="1" lang="ja-JP" altLang="en-US"/>
          </a:p>
        </p:txBody>
      </p:sp>
    </p:spTree>
    <p:extLst>
      <p:ext uri="{BB962C8B-B14F-4D97-AF65-F5344CB8AC3E}">
        <p14:creationId xmlns:p14="http://schemas.microsoft.com/office/powerpoint/2010/main" val="586524902"/>
      </p:ext>
    </p:extLst>
  </p:cSld>
  <p:clrMapOvr>
    <a:masterClrMapping/>
  </p:clrMapOvr>
  <mc:AlternateContent xmlns:mc="http://schemas.openxmlformats.org/markup-compatibility/2006" xmlns:p14="http://schemas.microsoft.com/office/powerpoint/2010/main">
    <mc:Choice Requires="p14">
      <p:transition spd="slow" p14:dur="2000" advTm="22485"/>
    </mc:Choice>
    <mc:Fallback xmlns="">
      <p:transition spd="slow" advTm="224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D352AB-E183-F780-3FB7-19B687413F90}"/>
              </a:ext>
            </a:extLst>
          </p:cNvPr>
          <p:cNvSpPr>
            <a:spLocks noGrp="1"/>
          </p:cNvSpPr>
          <p:nvPr>
            <p:ph type="title"/>
          </p:nvPr>
        </p:nvSpPr>
        <p:spPr/>
        <p:txBody>
          <a:bodyPr/>
          <a:lstStyle/>
          <a:p>
            <a:r>
              <a:rPr kumimoji="1" lang="ja-JP" altLang="en-US"/>
              <a:t>関連研究</a:t>
            </a:r>
          </a:p>
        </p:txBody>
      </p:sp>
      <p:sp>
        <p:nvSpPr>
          <p:cNvPr id="3" name="コンテンツ プレースホルダー 2">
            <a:extLst>
              <a:ext uri="{FF2B5EF4-FFF2-40B4-BE49-F238E27FC236}">
                <a16:creationId xmlns:a16="http://schemas.microsoft.com/office/drawing/2014/main" id="{D6882675-2812-D518-AA32-D3F807B50F04}"/>
              </a:ext>
            </a:extLst>
          </p:cNvPr>
          <p:cNvSpPr>
            <a:spLocks noGrp="1"/>
          </p:cNvSpPr>
          <p:nvPr>
            <p:ph idx="1"/>
          </p:nvPr>
        </p:nvSpPr>
        <p:spPr>
          <a:xfrm>
            <a:off x="628650" y="1558168"/>
            <a:ext cx="7886700" cy="4294433"/>
          </a:xfrm>
        </p:spPr>
        <p:txBody>
          <a:bodyPr>
            <a:normAutofit/>
          </a:bodyPr>
          <a:lstStyle/>
          <a:p>
            <a:pPr marL="0" indent="0">
              <a:lnSpc>
                <a:spcPct val="130000"/>
              </a:lnSpc>
              <a:buNone/>
            </a:pPr>
            <a:r>
              <a:rPr lang="ja-JP" altLang="en-US">
                <a:latin typeface="+mn-ea"/>
              </a:rPr>
              <a:t>伊藤らの研究</a:t>
            </a:r>
            <a:endParaRPr lang="en-US" altLang="ja-JP" sz="1050" dirty="0">
              <a:ea typeface="+mj-ea"/>
            </a:endParaRPr>
          </a:p>
          <a:p>
            <a:pPr marL="0" indent="0">
              <a:lnSpc>
                <a:spcPct val="130000"/>
              </a:lnSpc>
              <a:buNone/>
            </a:pPr>
            <a:r>
              <a:rPr lang="ja-JP" altLang="en-US">
                <a:latin typeface="+mn-ea"/>
              </a:rPr>
              <a:t>研究結果</a:t>
            </a:r>
            <a:endParaRPr lang="en-US" altLang="ja-JP" dirty="0">
              <a:latin typeface="+mn-ea"/>
            </a:endParaRPr>
          </a:p>
          <a:p>
            <a:pPr marL="0" indent="0">
              <a:lnSpc>
                <a:spcPct val="130000"/>
              </a:lnSpc>
              <a:buNone/>
            </a:pPr>
            <a:r>
              <a:rPr lang="ja-JP" altLang="en-US" sz="1950"/>
              <a:t>　</a:t>
            </a:r>
            <a:r>
              <a:rPr lang="ja-JP" altLang="en-US" sz="2400"/>
              <a:t>　期待の</a:t>
            </a:r>
            <a:r>
              <a:rPr lang="en-US" altLang="ja-JP" sz="2400" dirty="0"/>
              <a:t>F</a:t>
            </a:r>
            <a:r>
              <a:rPr lang="ja-JP" altLang="en-US" sz="2400"/>
              <a:t>値は </a:t>
            </a:r>
            <a:r>
              <a:rPr lang="en-US" altLang="ja-JP" sz="2400" dirty="0"/>
              <a:t>0.38 </a:t>
            </a:r>
            <a:r>
              <a:rPr lang="ja-JP" altLang="en-US" sz="2400"/>
              <a:t>という結果となった。</a:t>
            </a:r>
            <a:endParaRPr lang="en-US" altLang="ja-JP" sz="2400" dirty="0"/>
          </a:p>
          <a:p>
            <a:pPr marL="0" indent="0">
              <a:lnSpc>
                <a:spcPct val="130000"/>
              </a:lnSpc>
              <a:buNone/>
            </a:pPr>
            <a:r>
              <a:rPr lang="en-US" altLang="ja-JP" sz="900" dirty="0"/>
              <a:t> </a:t>
            </a:r>
          </a:p>
          <a:p>
            <a:pPr marL="0" indent="0">
              <a:lnSpc>
                <a:spcPct val="130000"/>
              </a:lnSpc>
              <a:buNone/>
            </a:pPr>
            <a:r>
              <a:rPr lang="ja-JP" altLang="en-US"/>
              <a:t>課題</a:t>
            </a:r>
            <a:r>
              <a:rPr lang="en-US" altLang="ja-JP" dirty="0"/>
              <a:t> </a:t>
            </a:r>
          </a:p>
          <a:p>
            <a:pPr marL="0" indent="0">
              <a:lnSpc>
                <a:spcPct val="130000"/>
              </a:lnSpc>
              <a:buNone/>
            </a:pPr>
            <a:r>
              <a:rPr lang="en-US" altLang="ja-JP" sz="2400" b="0" i="0" dirty="0">
                <a:solidFill>
                  <a:srgbClr val="1D1C1D"/>
                </a:solidFill>
                <a:effectLst/>
                <a:latin typeface="+mn-ea"/>
              </a:rPr>
              <a:t>A</a:t>
            </a:r>
            <a:r>
              <a:rPr lang="ja-JP" altLang="en-US" sz="2400" b="0" i="0">
                <a:solidFill>
                  <a:srgbClr val="1D1C1D"/>
                </a:solidFill>
                <a:effectLst/>
                <a:latin typeface="+mn-ea"/>
              </a:rPr>
              <a:t>なのが残念</a:t>
            </a:r>
            <a:r>
              <a:rPr lang="en-US" altLang="ja-JP" sz="2400" b="0" i="0" dirty="0">
                <a:solidFill>
                  <a:srgbClr val="1D1C1D"/>
                </a:solidFill>
                <a:effectLst/>
                <a:latin typeface="+mn-ea"/>
              </a:rPr>
              <a:t> </a:t>
            </a:r>
            <a:r>
              <a:rPr lang="ja-JP" altLang="en-US" sz="2400" b="0" i="0">
                <a:solidFill>
                  <a:srgbClr val="1D1C1D"/>
                </a:solidFill>
                <a:effectLst/>
                <a:latin typeface="+mn-ea"/>
              </a:rPr>
              <a:t>→</a:t>
            </a:r>
            <a:r>
              <a:rPr lang="en-US" altLang="ja-JP" sz="2400" b="0" i="0" dirty="0">
                <a:solidFill>
                  <a:srgbClr val="1D1C1D"/>
                </a:solidFill>
                <a:effectLst/>
                <a:latin typeface="+mn-ea"/>
              </a:rPr>
              <a:t> B</a:t>
            </a:r>
            <a:r>
              <a:rPr lang="ja-JP" altLang="en-US" sz="2400" b="0" i="0">
                <a:solidFill>
                  <a:srgbClr val="1D1C1D"/>
                </a:solidFill>
                <a:effectLst/>
                <a:latin typeface="+mn-ea"/>
              </a:rPr>
              <a:t>だったら良かった</a:t>
            </a:r>
            <a:r>
              <a:rPr lang="en-US" altLang="ja-JP" sz="2400" b="0" i="0" dirty="0">
                <a:solidFill>
                  <a:srgbClr val="1D1C1D"/>
                </a:solidFill>
                <a:effectLst/>
                <a:latin typeface="NotoSansJP"/>
              </a:rPr>
              <a:t> </a:t>
            </a:r>
            <a:r>
              <a:rPr kumimoji="0" lang="ja-JP" altLang="en-US" sz="2000" b="1" i="0" u="none" strike="noStrike" kern="1200" cap="none" spc="0" normalizeH="0" baseline="0" noProof="0">
                <a:ln>
                  <a:noFill/>
                </a:ln>
                <a:solidFill>
                  <a:srgbClr val="1D1C1D"/>
                </a:solidFill>
                <a:effectLst/>
                <a:uLnTx/>
                <a:uFillTx/>
                <a:latin typeface="游ゴシック"/>
                <a:ea typeface="游ゴシック"/>
                <a:cs typeface="+mn-cs"/>
              </a:rPr>
              <a:t>（</a:t>
            </a:r>
            <a:r>
              <a:rPr kumimoji="0" lang="en-US" altLang="ja-JP" sz="2000" b="0" i="0" u="none" strike="noStrike" kern="1200" cap="none" spc="0" normalizeH="0" baseline="0" noProof="0" dirty="0">
                <a:ln>
                  <a:noFill/>
                </a:ln>
                <a:solidFill>
                  <a:srgbClr val="1D1C1D"/>
                </a:solidFill>
                <a:effectLst/>
                <a:uLnTx/>
                <a:uFillTx/>
                <a:latin typeface="NotoSansJP"/>
                <a:ea typeface="游ゴシック Medium"/>
                <a:cs typeface="+mn-cs"/>
              </a:rPr>
              <a:t>A</a:t>
            </a:r>
            <a:r>
              <a:rPr kumimoji="0" lang="ja-JP" altLang="en-US" sz="2000" b="0" i="0" u="none" strike="noStrike" kern="1200" cap="none" spc="0" normalizeH="0" baseline="0" noProof="0">
                <a:ln>
                  <a:noFill/>
                </a:ln>
                <a:solidFill>
                  <a:srgbClr val="1D1C1D"/>
                </a:solidFill>
                <a:effectLst/>
                <a:uLnTx/>
                <a:uFillTx/>
                <a:latin typeface="NotoSansJP"/>
                <a:ea typeface="游ゴシック Medium"/>
                <a:cs typeface="+mn-cs"/>
              </a:rPr>
              <a:t>と</a:t>
            </a:r>
            <a:r>
              <a:rPr kumimoji="0" lang="en-US" altLang="ja-JP" sz="2000" b="0" i="0" u="none" strike="noStrike" kern="1200" cap="none" spc="0" normalizeH="0" baseline="0" noProof="0" dirty="0">
                <a:ln>
                  <a:noFill/>
                </a:ln>
                <a:solidFill>
                  <a:srgbClr val="1D1C1D"/>
                </a:solidFill>
                <a:effectLst/>
                <a:uLnTx/>
                <a:uFillTx/>
                <a:latin typeface="NotoSansJP"/>
                <a:ea typeface="游ゴシック Medium"/>
                <a:cs typeface="+mn-cs"/>
              </a:rPr>
              <a:t>B</a:t>
            </a:r>
            <a:r>
              <a:rPr kumimoji="0" lang="ja-JP" altLang="en-US" sz="2000" b="0" i="0" u="none" strike="noStrike" kern="1200" cap="none" spc="0" normalizeH="0" baseline="0" noProof="0">
                <a:ln>
                  <a:noFill/>
                </a:ln>
                <a:solidFill>
                  <a:srgbClr val="1D1C1D"/>
                </a:solidFill>
                <a:effectLst/>
                <a:uLnTx/>
                <a:uFillTx/>
                <a:latin typeface="NotoSansJP"/>
                <a:ea typeface="游ゴシック Medium"/>
                <a:cs typeface="+mn-cs"/>
              </a:rPr>
              <a:t>は対比関係） </a:t>
            </a:r>
            <a:endParaRPr lang="en-US" altLang="ja-JP" sz="1600" b="0" i="0" dirty="0">
              <a:solidFill>
                <a:srgbClr val="1D1C1D"/>
              </a:solidFill>
              <a:effectLst/>
              <a:latin typeface="NotoSansJP"/>
            </a:endParaRPr>
          </a:p>
          <a:p>
            <a:pPr marL="0" indent="0">
              <a:lnSpc>
                <a:spcPct val="130000"/>
              </a:lnSpc>
              <a:buNone/>
            </a:pPr>
            <a:r>
              <a:rPr lang="ja-JP" altLang="en-US" sz="2400"/>
              <a:t>明示的に現れない期待を抽出できない。</a:t>
            </a:r>
            <a:endParaRPr lang="en-US" altLang="ja-JP" sz="2400" dirty="0"/>
          </a:p>
          <a:p>
            <a:endParaRPr kumimoji="1" lang="ja-JP" altLang="en-US"/>
          </a:p>
        </p:txBody>
      </p:sp>
      <p:sp>
        <p:nvSpPr>
          <p:cNvPr id="4" name="フッター プレースホルダー 3">
            <a:extLst>
              <a:ext uri="{FF2B5EF4-FFF2-40B4-BE49-F238E27FC236}">
                <a16:creationId xmlns:a16="http://schemas.microsoft.com/office/drawing/2014/main" id="{F6AF7E3E-E901-0778-6033-A57E73622CBE}"/>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7CDBC98C-152E-BA79-C77A-FE321B1C60C3}"/>
              </a:ext>
            </a:extLst>
          </p:cNvPr>
          <p:cNvSpPr>
            <a:spLocks noGrp="1"/>
          </p:cNvSpPr>
          <p:nvPr>
            <p:ph type="sldNum" sz="quarter" idx="12"/>
          </p:nvPr>
        </p:nvSpPr>
        <p:spPr/>
        <p:txBody>
          <a:bodyPr/>
          <a:lstStyle/>
          <a:p>
            <a:fld id="{220C0F37-2064-1644-956F-38420264F42F}" type="slidenum">
              <a:rPr kumimoji="1" lang="ja-JP" altLang="en-US" smtClean="0"/>
              <a:t>5</a:t>
            </a:fld>
            <a:endParaRPr kumimoji="1" lang="ja-JP" altLang="en-US"/>
          </a:p>
        </p:txBody>
      </p:sp>
      <p:cxnSp>
        <p:nvCxnSpPr>
          <p:cNvPr id="6" name="直線コネクタ 5">
            <a:extLst>
              <a:ext uri="{FF2B5EF4-FFF2-40B4-BE49-F238E27FC236}">
                <a16:creationId xmlns:a16="http://schemas.microsoft.com/office/drawing/2014/main" id="{B626E606-5916-52DE-AFA0-41589E535FFC}"/>
              </a:ext>
            </a:extLst>
          </p:cNvPr>
          <p:cNvCxnSpPr>
            <a:cxnSpLocks/>
          </p:cNvCxnSpPr>
          <p:nvPr/>
        </p:nvCxnSpPr>
        <p:spPr>
          <a:xfrm>
            <a:off x="628650" y="5012380"/>
            <a:ext cx="1918694"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499745"/>
      </p:ext>
    </p:extLst>
  </p:cSld>
  <p:clrMapOvr>
    <a:masterClrMapping/>
  </p:clrMapOvr>
  <mc:AlternateContent xmlns:mc="http://schemas.openxmlformats.org/markup-compatibility/2006" xmlns:p14="http://schemas.microsoft.com/office/powerpoint/2010/main">
    <mc:Choice Requires="p14">
      <p:transition spd="slow" p14:dur="2000" advTm="33367"/>
    </mc:Choice>
    <mc:Fallback xmlns="">
      <p:transition spd="slow" advTm="3336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66FDAD-85E1-3380-8263-720315539995}"/>
              </a:ext>
            </a:extLst>
          </p:cNvPr>
          <p:cNvSpPr>
            <a:spLocks noGrp="1"/>
          </p:cNvSpPr>
          <p:nvPr>
            <p:ph type="title"/>
          </p:nvPr>
        </p:nvSpPr>
        <p:spPr/>
        <p:txBody>
          <a:bodyPr/>
          <a:lstStyle/>
          <a:p>
            <a:r>
              <a:rPr kumimoji="1" lang="ja-JP" altLang="en-US"/>
              <a:t>関連研究</a:t>
            </a:r>
          </a:p>
        </p:txBody>
      </p:sp>
      <p:sp>
        <p:nvSpPr>
          <p:cNvPr id="3" name="コンテンツ プレースホルダー 2">
            <a:extLst>
              <a:ext uri="{FF2B5EF4-FFF2-40B4-BE49-F238E27FC236}">
                <a16:creationId xmlns:a16="http://schemas.microsoft.com/office/drawing/2014/main" id="{D0907A70-47AC-9389-FA23-6A70F7152C9F}"/>
              </a:ext>
            </a:extLst>
          </p:cNvPr>
          <p:cNvSpPr>
            <a:spLocks noGrp="1"/>
          </p:cNvSpPr>
          <p:nvPr>
            <p:ph idx="1"/>
          </p:nvPr>
        </p:nvSpPr>
        <p:spPr>
          <a:xfrm>
            <a:off x="628650" y="1554166"/>
            <a:ext cx="7886700" cy="4802185"/>
          </a:xfrm>
          <a:ln>
            <a:noFill/>
          </a:ln>
        </p:spPr>
        <p:txBody>
          <a:bodyPr>
            <a:normAutofit/>
          </a:bodyPr>
          <a:lstStyle/>
          <a:p>
            <a:pPr marL="0" indent="0">
              <a:buNone/>
            </a:pPr>
            <a:r>
              <a:rPr kumimoji="1" lang="ja-JP" altLang="en-US" sz="2400">
                <a:latin typeface="+mn-ea"/>
              </a:rPr>
              <a:t>塚田</a:t>
            </a:r>
            <a:r>
              <a:rPr kumimoji="1" lang="en-US" altLang="ja-JP" sz="2400" dirty="0">
                <a:latin typeface="+mn-ea"/>
              </a:rPr>
              <a:t>[2]</a:t>
            </a:r>
            <a:r>
              <a:rPr kumimoji="1" lang="ja-JP" altLang="en-US" sz="2400">
                <a:latin typeface="+mn-ea"/>
              </a:rPr>
              <a:t>の研究</a:t>
            </a:r>
            <a:endParaRPr kumimoji="1" lang="en-US" altLang="ja-JP" sz="2400" dirty="0">
              <a:latin typeface="+mn-ea"/>
            </a:endParaRPr>
          </a:p>
          <a:p>
            <a:pPr marL="0" indent="0">
              <a:buNone/>
            </a:pPr>
            <a:r>
              <a:rPr lang="en-US" altLang="ja-JP" sz="2400" dirty="0">
                <a:latin typeface="+mn-ea"/>
              </a:rPr>
              <a:t> </a:t>
            </a:r>
          </a:p>
          <a:p>
            <a:pPr marL="0" indent="0">
              <a:buNone/>
            </a:pPr>
            <a:r>
              <a:rPr lang="ja-JP" altLang="en-US" sz="2400">
                <a:latin typeface="+mn-ea"/>
              </a:rPr>
              <a:t>研究目的</a:t>
            </a:r>
            <a:endParaRPr lang="en-US" altLang="ja-JP" sz="2400" dirty="0">
              <a:latin typeface="+mn-ea"/>
            </a:endParaRPr>
          </a:p>
          <a:p>
            <a:pPr>
              <a:lnSpc>
                <a:spcPct val="120000"/>
              </a:lnSpc>
            </a:pPr>
            <a:r>
              <a:rPr lang="ja-JP" altLang="en-US" sz="2400">
                <a:latin typeface="+mn-ea"/>
              </a:rPr>
              <a:t>期待を高い精度で抽出すること。</a:t>
            </a:r>
            <a:endParaRPr lang="en-US" altLang="ja-JP" sz="2400" dirty="0">
              <a:latin typeface="+mn-ea"/>
            </a:endParaRPr>
          </a:p>
          <a:p>
            <a:pPr>
              <a:lnSpc>
                <a:spcPct val="120000"/>
              </a:lnSpc>
            </a:pPr>
            <a:r>
              <a:rPr lang="ja-JP" altLang="en-US" sz="2400">
                <a:latin typeface="+mn-ea"/>
              </a:rPr>
              <a:t>明示的に現れない期待の抽出。</a:t>
            </a:r>
            <a:endParaRPr lang="en-US" altLang="ja-JP" sz="2400" dirty="0">
              <a:latin typeface="+mn-ea"/>
            </a:endParaRPr>
          </a:p>
          <a:p>
            <a:pPr marL="0" indent="0">
              <a:lnSpc>
                <a:spcPct val="120000"/>
              </a:lnSpc>
              <a:buNone/>
            </a:pPr>
            <a:r>
              <a:rPr lang="en-US" altLang="ja-JP" sz="2400" dirty="0">
                <a:latin typeface="+mn-ea"/>
              </a:rPr>
              <a:t> </a:t>
            </a:r>
          </a:p>
          <a:p>
            <a:pPr marL="0" indent="0">
              <a:buNone/>
              <a:defRPr/>
            </a:pPr>
            <a:r>
              <a:rPr lang="ja-JP" altLang="en-US" sz="2400">
                <a:solidFill>
                  <a:prstClr val="black"/>
                </a:solidFill>
                <a:latin typeface="+mn-ea"/>
              </a:rPr>
              <a:t>実験内容</a:t>
            </a:r>
            <a:endParaRPr lang="en-US" altLang="ja-JP" sz="2400" dirty="0">
              <a:latin typeface="+mn-ea"/>
            </a:endParaRPr>
          </a:p>
          <a:p>
            <a:pPr marL="342900" indent="-342900">
              <a:buAutoNum type="arabicPeriod"/>
            </a:pPr>
            <a:r>
              <a:rPr lang="ja-JP" altLang="en-US" sz="2400">
                <a:latin typeface="+mn-ea"/>
              </a:rPr>
              <a:t>系列ラベリングによる期待を含む</a:t>
            </a:r>
            <a:r>
              <a:rPr lang="en-US" altLang="ja-JP" sz="2400" dirty="0">
                <a:latin typeface="+mn-ea"/>
              </a:rPr>
              <a:t>4</a:t>
            </a:r>
            <a:r>
              <a:rPr lang="ja-JP" altLang="en-US" sz="2400">
                <a:latin typeface="+mn-ea"/>
              </a:rPr>
              <a:t>項組の抽出</a:t>
            </a:r>
            <a:endParaRPr lang="en-US" altLang="ja-JP" sz="2400" dirty="0">
              <a:latin typeface="+mn-ea"/>
            </a:endParaRPr>
          </a:p>
          <a:p>
            <a:pPr marL="342900" indent="-342900">
              <a:buAutoNum type="arabicPeriod"/>
            </a:pPr>
            <a:r>
              <a:rPr lang="ja-JP" altLang="en-US" sz="2400">
                <a:latin typeface="+mn-ea"/>
              </a:rPr>
              <a:t>文分類による期待の抽出</a:t>
            </a:r>
            <a:r>
              <a:rPr kumimoji="1" lang="en-US" altLang="ja-JP" dirty="0">
                <a:ea typeface="+mj-ea"/>
              </a:rPr>
              <a:t>	</a:t>
            </a:r>
          </a:p>
        </p:txBody>
      </p:sp>
      <p:sp>
        <p:nvSpPr>
          <p:cNvPr id="4" name="フッター プレースホルダー 3">
            <a:extLst>
              <a:ext uri="{FF2B5EF4-FFF2-40B4-BE49-F238E27FC236}">
                <a16:creationId xmlns:a16="http://schemas.microsoft.com/office/drawing/2014/main" id="{B5B04A98-66B4-E244-D0A5-C5B64183199E}"/>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96D270C4-5911-86E9-7F8E-DE07CA77A63B}"/>
              </a:ext>
            </a:extLst>
          </p:cNvPr>
          <p:cNvSpPr>
            <a:spLocks noGrp="1"/>
          </p:cNvSpPr>
          <p:nvPr>
            <p:ph type="sldNum" sz="quarter" idx="12"/>
          </p:nvPr>
        </p:nvSpPr>
        <p:spPr/>
        <p:txBody>
          <a:bodyPr/>
          <a:lstStyle/>
          <a:p>
            <a:fld id="{220C0F37-2064-1644-956F-38420264F42F}" type="slidenum">
              <a:rPr kumimoji="1" lang="ja-JP" altLang="en-US" smtClean="0"/>
              <a:t>6</a:t>
            </a:fld>
            <a:endParaRPr kumimoji="1" lang="ja-JP" altLang="en-US"/>
          </a:p>
        </p:txBody>
      </p:sp>
    </p:spTree>
    <p:extLst>
      <p:ext uri="{BB962C8B-B14F-4D97-AF65-F5344CB8AC3E}">
        <p14:creationId xmlns:p14="http://schemas.microsoft.com/office/powerpoint/2010/main" val="233939420"/>
      </p:ext>
    </p:extLst>
  </p:cSld>
  <p:clrMapOvr>
    <a:masterClrMapping/>
  </p:clrMapOvr>
  <mc:AlternateContent xmlns:mc="http://schemas.openxmlformats.org/markup-compatibility/2006" xmlns:p14="http://schemas.microsoft.com/office/powerpoint/2010/main">
    <mc:Choice Requires="p14">
      <p:transition spd="slow" p14:dur="2000" advTm="27932"/>
    </mc:Choice>
    <mc:Fallback xmlns="">
      <p:transition spd="slow" advTm="27932"/>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9A1966-EB64-85D0-E4DF-64BAA913F3AA}"/>
              </a:ext>
            </a:extLst>
          </p:cNvPr>
          <p:cNvSpPr>
            <a:spLocks noGrp="1"/>
          </p:cNvSpPr>
          <p:nvPr>
            <p:ph type="title"/>
          </p:nvPr>
        </p:nvSpPr>
        <p:spPr/>
        <p:txBody>
          <a:bodyPr/>
          <a:lstStyle/>
          <a:p>
            <a:r>
              <a:rPr kumimoji="1" lang="ja-JP" altLang="en-US"/>
              <a:t>関連研究</a:t>
            </a:r>
          </a:p>
        </p:txBody>
      </p:sp>
      <p:sp>
        <p:nvSpPr>
          <p:cNvPr id="3" name="コンテンツ プレースホルダー 2">
            <a:extLst>
              <a:ext uri="{FF2B5EF4-FFF2-40B4-BE49-F238E27FC236}">
                <a16:creationId xmlns:a16="http://schemas.microsoft.com/office/drawing/2014/main" id="{C20EB58E-D239-3203-3A5E-6A40B5692BAA}"/>
              </a:ext>
            </a:extLst>
          </p:cNvPr>
          <p:cNvSpPr>
            <a:spLocks noGrp="1"/>
          </p:cNvSpPr>
          <p:nvPr>
            <p:ph idx="1"/>
          </p:nvPr>
        </p:nvSpPr>
        <p:spPr>
          <a:xfrm>
            <a:off x="628650" y="1825625"/>
            <a:ext cx="7886700" cy="4586192"/>
          </a:xfrm>
        </p:spPr>
        <p:txBody>
          <a:bodyPr>
            <a:normAutofit/>
          </a:bodyPr>
          <a:lstStyle/>
          <a:p>
            <a:pPr marL="0" indent="0">
              <a:buNone/>
            </a:pPr>
            <a:r>
              <a:rPr kumimoji="1" lang="ja-JP" altLang="en-US" sz="2400"/>
              <a:t>塚田の研究結果</a:t>
            </a:r>
            <a:endParaRPr kumimoji="1" lang="en-US" altLang="ja-JP" sz="2400" dirty="0"/>
          </a:p>
          <a:p>
            <a:pPr marL="0" indent="0">
              <a:buNone/>
            </a:pPr>
            <a:endParaRPr lang="en-US" altLang="ja-JP" sz="100" dirty="0"/>
          </a:p>
          <a:p>
            <a:pPr marL="0" indent="0">
              <a:buNone/>
            </a:pPr>
            <a:r>
              <a:rPr lang="ja-JP" altLang="en-US" sz="1800"/>
              <a:t>　系列ラベリング</a:t>
            </a:r>
            <a:r>
              <a:rPr lang="ja-JP" altLang="en-US" sz="2000"/>
              <a:t>実験：期待の完全一致による評価は、</a:t>
            </a:r>
            <a:r>
              <a:rPr lang="en" altLang="ja-JP" sz="2000" dirty="0"/>
              <a:t>F</a:t>
            </a:r>
            <a:r>
              <a:rPr lang="ja-JP" altLang="en-US" sz="2000"/>
              <a:t>値が</a:t>
            </a:r>
            <a:r>
              <a:rPr lang="en-US" altLang="ja-JP" sz="2000" dirty="0"/>
              <a:t>0.467</a:t>
            </a:r>
          </a:p>
          <a:p>
            <a:pPr marL="0" indent="0">
              <a:buNone/>
            </a:pPr>
            <a:r>
              <a:rPr lang="en-US" altLang="ja-JP" sz="2000" dirty="0"/>
              <a:t>	</a:t>
            </a:r>
            <a:r>
              <a:rPr lang="ja-JP" altLang="en-US" sz="2000"/>
              <a:t>　</a:t>
            </a:r>
            <a:r>
              <a:rPr lang="en-US" altLang="ja-JP" sz="2000" dirty="0"/>
              <a:t> 	</a:t>
            </a:r>
            <a:r>
              <a:rPr lang="ja-JP" altLang="en-US" sz="2000"/>
              <a:t>　　　部分一致による評価では</a:t>
            </a:r>
            <a:r>
              <a:rPr lang="en" altLang="ja-JP" sz="2000" dirty="0"/>
              <a:t>F</a:t>
            </a:r>
            <a:r>
              <a:rPr lang="ja-JP" altLang="en-US" sz="2000"/>
              <a:t>値が</a:t>
            </a:r>
            <a:r>
              <a:rPr lang="en-US" altLang="ja-JP" sz="2000" dirty="0"/>
              <a:t>0.705</a:t>
            </a:r>
            <a:endParaRPr lang="en-US" altLang="ja-JP" sz="100" dirty="0"/>
          </a:p>
          <a:p>
            <a:pPr marL="0" indent="0">
              <a:buNone/>
            </a:pPr>
            <a:r>
              <a:rPr lang="ja-JP" altLang="en-US" sz="2000">
                <a:latin typeface="+mn-ea"/>
              </a:rPr>
              <a:t>　</a:t>
            </a:r>
            <a:r>
              <a:rPr lang="ja-JP" altLang="en-US" sz="2000">
                <a:ea typeface="+mj-ea"/>
              </a:rPr>
              <a:t>文分類</a:t>
            </a:r>
            <a:r>
              <a:rPr lang="ja-JP" altLang="en-US" sz="2000">
                <a:latin typeface="+mn-ea"/>
              </a:rPr>
              <a:t>実験：正解率が</a:t>
            </a:r>
            <a:r>
              <a:rPr lang="en-US" altLang="ja-JP" sz="2000" dirty="0">
                <a:latin typeface="+mn-ea"/>
              </a:rPr>
              <a:t>89.3%</a:t>
            </a:r>
          </a:p>
          <a:p>
            <a:pPr marL="0" indent="0">
              <a:buNone/>
            </a:pPr>
            <a:endParaRPr lang="en-US" altLang="ja-JP" sz="900" dirty="0"/>
          </a:p>
          <a:p>
            <a:pPr marL="0" indent="0">
              <a:buNone/>
            </a:pPr>
            <a:r>
              <a:rPr lang="ja-JP" altLang="en-US" sz="2000"/>
              <a:t>系列ラベリングでは、期待は他の項目よりも精度が低く厳密な完全一致での抽出が困難であったが、文分類では明示的に現れない期待を含め、ある程度高い精度で抽出が行えた。</a:t>
            </a:r>
            <a:endParaRPr lang="en-US" altLang="ja-JP" sz="2000" dirty="0"/>
          </a:p>
          <a:p>
            <a:pPr marL="0" indent="0">
              <a:buNone/>
            </a:pPr>
            <a:endParaRPr lang="en-US" altLang="ja-JP" sz="2000" dirty="0"/>
          </a:p>
          <a:p>
            <a:pPr marL="0" indent="0">
              <a:buNone/>
            </a:pPr>
            <a:endParaRPr lang="en-US" altLang="ja-JP" sz="2000" dirty="0"/>
          </a:p>
          <a:p>
            <a:pPr marL="0" indent="0" algn="ctr">
              <a:buNone/>
            </a:pPr>
            <a:r>
              <a:rPr kumimoji="1" lang="ja-JP" altLang="en-US" sz="2400"/>
              <a:t>本研究では文分類手法を用いて期待の抽出を行う。</a:t>
            </a:r>
          </a:p>
        </p:txBody>
      </p:sp>
      <p:sp>
        <p:nvSpPr>
          <p:cNvPr id="4" name="フッター プレースホルダー 3">
            <a:extLst>
              <a:ext uri="{FF2B5EF4-FFF2-40B4-BE49-F238E27FC236}">
                <a16:creationId xmlns:a16="http://schemas.microsoft.com/office/drawing/2014/main" id="{CF14A193-105D-774F-AD31-C4A9079C0A97}"/>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8ADB305A-4BD6-22DE-C2B6-0E13B8DB537B}"/>
              </a:ext>
            </a:extLst>
          </p:cNvPr>
          <p:cNvSpPr>
            <a:spLocks noGrp="1"/>
          </p:cNvSpPr>
          <p:nvPr>
            <p:ph type="sldNum" sz="quarter" idx="12"/>
          </p:nvPr>
        </p:nvSpPr>
        <p:spPr/>
        <p:txBody>
          <a:bodyPr/>
          <a:lstStyle/>
          <a:p>
            <a:fld id="{220C0F37-2064-1644-956F-38420264F42F}" type="slidenum">
              <a:rPr kumimoji="1" lang="ja-JP" altLang="en-US" smtClean="0"/>
              <a:t>7</a:t>
            </a:fld>
            <a:endParaRPr kumimoji="1" lang="ja-JP" altLang="en-US"/>
          </a:p>
        </p:txBody>
      </p:sp>
    </p:spTree>
    <p:extLst>
      <p:ext uri="{BB962C8B-B14F-4D97-AF65-F5344CB8AC3E}">
        <p14:creationId xmlns:p14="http://schemas.microsoft.com/office/powerpoint/2010/main" val="1156941966"/>
      </p:ext>
    </p:extLst>
  </p:cSld>
  <p:clrMapOvr>
    <a:masterClrMapping/>
  </p:clrMapOvr>
  <mc:AlternateContent xmlns:mc="http://schemas.openxmlformats.org/markup-compatibility/2006" xmlns:p14="http://schemas.microsoft.com/office/powerpoint/2010/main">
    <mc:Choice Requires="p14">
      <p:transition spd="slow" p14:dur="2000" advTm="24034"/>
    </mc:Choice>
    <mc:Fallback xmlns="">
      <p:transition spd="slow" advTm="2403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E71943-A042-9DF1-3BA5-10949F6E2FBF}"/>
              </a:ext>
            </a:extLst>
          </p:cNvPr>
          <p:cNvSpPr>
            <a:spLocks noGrp="1"/>
          </p:cNvSpPr>
          <p:nvPr>
            <p:ph type="title"/>
          </p:nvPr>
        </p:nvSpPr>
        <p:spPr/>
        <p:txBody>
          <a:bodyPr/>
          <a:lstStyle/>
          <a:p>
            <a:r>
              <a:rPr kumimoji="1" lang="ja-JP" altLang="en-US"/>
              <a:t>本研究の位置づけ</a:t>
            </a:r>
          </a:p>
        </p:txBody>
      </p:sp>
      <p:sp>
        <p:nvSpPr>
          <p:cNvPr id="3" name="コンテンツ プレースホルダー 2">
            <a:extLst>
              <a:ext uri="{FF2B5EF4-FFF2-40B4-BE49-F238E27FC236}">
                <a16:creationId xmlns:a16="http://schemas.microsoft.com/office/drawing/2014/main" id="{F7869D9D-E9C8-D717-85B1-6C1FDB5C24C0}"/>
              </a:ext>
            </a:extLst>
          </p:cNvPr>
          <p:cNvSpPr>
            <a:spLocks noGrp="1"/>
          </p:cNvSpPr>
          <p:nvPr>
            <p:ph idx="1"/>
          </p:nvPr>
        </p:nvSpPr>
        <p:spPr>
          <a:xfrm>
            <a:off x="628650" y="1245870"/>
            <a:ext cx="7886700" cy="5110481"/>
          </a:xfrm>
        </p:spPr>
        <p:txBody>
          <a:bodyPr>
            <a:noAutofit/>
          </a:bodyPr>
          <a:lstStyle/>
          <a:p>
            <a:r>
              <a:rPr kumimoji="1" lang="ja-JP" altLang="en-US" sz="2000">
                <a:latin typeface="+mn-ea"/>
              </a:rPr>
              <a:t>抽出対象データ：</a:t>
            </a:r>
            <a:r>
              <a:rPr lang="en-US" altLang="ja-JP" sz="2000" dirty="0" err="1">
                <a:latin typeface="+mn-ea"/>
              </a:rPr>
              <a:t>Tabidachi</a:t>
            </a:r>
            <a:r>
              <a:rPr lang="en-US" altLang="ja-JP" sz="2000" dirty="0">
                <a:solidFill>
                  <a:srgbClr val="333333"/>
                </a:solidFill>
                <a:latin typeface="Arial" panose="020B0604020202020204" pitchFamily="34" charset="0"/>
              </a:rPr>
              <a:t> [3]</a:t>
            </a:r>
          </a:p>
          <a:p>
            <a:pPr marL="0" indent="0">
              <a:buNone/>
            </a:pPr>
            <a:r>
              <a:rPr kumimoji="1" lang="ja-JP" altLang="en-US" sz="2000">
                <a:latin typeface="+mn-ea"/>
              </a:rPr>
              <a:t>旅行代理店のオペレーター役とカスタマー役の観光プランに関する相談の対話</a:t>
            </a:r>
            <a:endParaRPr kumimoji="1" lang="en-US" altLang="ja-JP" sz="2000" dirty="0">
              <a:latin typeface="+mn-ea"/>
            </a:endParaRPr>
          </a:p>
          <a:p>
            <a:endParaRPr kumimoji="1" lang="en-US" altLang="ja-JP" sz="2000" dirty="0">
              <a:latin typeface="+mn-ea"/>
            </a:endParaRPr>
          </a:p>
          <a:p>
            <a:r>
              <a:rPr kumimoji="1" lang="ja-JP" altLang="en-US" sz="2000">
                <a:latin typeface="+mn-ea"/>
              </a:rPr>
              <a:t>期待を「顧客の観光地に対しての要望」と定義する。</a:t>
            </a:r>
            <a:endParaRPr kumimoji="1" lang="en-US" altLang="ja-JP" sz="2000" dirty="0">
              <a:latin typeface="+mn-ea"/>
            </a:endParaRPr>
          </a:p>
          <a:p>
            <a:pPr marL="0" indent="0">
              <a:buNone/>
            </a:pPr>
            <a:r>
              <a:rPr lang="ja-JP" altLang="en-US" sz="2000">
                <a:latin typeface="+mn-ea"/>
              </a:rPr>
              <a:t>　　例　</a:t>
            </a:r>
            <a:r>
              <a:rPr kumimoji="1" lang="ja-JP" altLang="en-US" sz="2000">
                <a:latin typeface="+mn-ea"/>
              </a:rPr>
              <a:t>カスタマー </a:t>
            </a:r>
            <a:r>
              <a:rPr lang="ja-JP" altLang="en-US" sz="2000">
                <a:latin typeface="+mn-ea"/>
              </a:rPr>
              <a:t>：</a:t>
            </a:r>
            <a:r>
              <a:rPr kumimoji="1" lang="ja-JP" altLang="en-US" sz="2000">
                <a:latin typeface="+mn-ea"/>
              </a:rPr>
              <a:t>沖縄料理が食べたいです。</a:t>
            </a:r>
            <a:endParaRPr lang="en-US" altLang="ja-JP" sz="2000" dirty="0">
              <a:latin typeface="+mn-ea"/>
            </a:endParaRPr>
          </a:p>
          <a:p>
            <a:pPr marL="0" indent="0">
              <a:buNone/>
            </a:pPr>
            <a:r>
              <a:rPr kumimoji="1" lang="ja-JP" altLang="en-US" sz="2000">
                <a:latin typeface="+mn-ea"/>
              </a:rPr>
              <a:t>　　</a:t>
            </a:r>
            <a:r>
              <a:rPr lang="ja-JP" altLang="en-US" sz="2000">
                <a:latin typeface="+mn-ea"/>
              </a:rPr>
              <a:t>例　</a:t>
            </a:r>
            <a:r>
              <a:rPr kumimoji="1" lang="ja-JP" altLang="en-US" sz="2000">
                <a:latin typeface="+mn-ea"/>
              </a:rPr>
              <a:t>カスタマー </a:t>
            </a:r>
            <a:r>
              <a:rPr lang="ja-JP" altLang="en-US" sz="2000">
                <a:latin typeface="+mn-ea"/>
              </a:rPr>
              <a:t>：</a:t>
            </a:r>
            <a:r>
              <a:rPr kumimoji="1" lang="ja-JP" altLang="en-US" sz="2000">
                <a:latin typeface="+mn-ea"/>
              </a:rPr>
              <a:t>北海道に行こうと思ってます。</a:t>
            </a:r>
            <a:r>
              <a:rPr kumimoji="1" lang="en-US" altLang="ja-JP" sz="2000" dirty="0">
                <a:latin typeface="+mn-ea"/>
              </a:rPr>
              <a:t>	</a:t>
            </a:r>
          </a:p>
          <a:p>
            <a:pPr marL="0" indent="0">
              <a:buNone/>
            </a:pPr>
            <a:endParaRPr kumimoji="1" lang="en-US" altLang="ja-JP" sz="2000" dirty="0">
              <a:latin typeface="+mn-ea"/>
            </a:endParaRPr>
          </a:p>
          <a:p>
            <a:r>
              <a:rPr kumimoji="1" lang="ja-JP" altLang="en-US" sz="2000">
                <a:latin typeface="+mn-ea"/>
              </a:rPr>
              <a:t>また、対話文章では以下のような期待が考えられる。</a:t>
            </a:r>
            <a:endParaRPr kumimoji="1" lang="en-US" altLang="ja-JP" sz="2000" dirty="0">
              <a:latin typeface="+mn-ea"/>
            </a:endParaRPr>
          </a:p>
          <a:p>
            <a:pPr marL="0" indent="0">
              <a:buNone/>
            </a:pPr>
            <a:r>
              <a:rPr lang="ja-JP" altLang="en-US" sz="2000">
                <a:latin typeface="+mn-ea"/>
              </a:rPr>
              <a:t>　　オペレーター：お昼は海鮮とかどうですか</a:t>
            </a:r>
            <a:br>
              <a:rPr lang="en-US" altLang="ja-JP" sz="2000" dirty="0">
                <a:latin typeface="+mn-ea"/>
              </a:rPr>
            </a:br>
            <a:r>
              <a:rPr lang="ja-JP" altLang="en-US" sz="2000">
                <a:latin typeface="+mn-ea"/>
              </a:rPr>
              <a:t>　　</a:t>
            </a:r>
            <a:r>
              <a:rPr kumimoji="1" lang="ja-JP" altLang="en-US" sz="2000">
                <a:latin typeface="+mn-ea"/>
              </a:rPr>
              <a:t>カスタマー</a:t>
            </a:r>
            <a:r>
              <a:rPr lang="ja-JP" altLang="en-US" sz="2000">
                <a:latin typeface="+mn-ea"/>
              </a:rPr>
              <a:t>：いいですね。</a:t>
            </a:r>
            <a:endParaRPr lang="en-US" altLang="ja-JP" sz="2000" dirty="0">
              <a:latin typeface="+mn-ea"/>
            </a:endParaRPr>
          </a:p>
          <a:p>
            <a:pPr marL="0" indent="0">
              <a:buNone/>
            </a:pPr>
            <a:endParaRPr lang="en-US" altLang="ja-JP" sz="2000" dirty="0">
              <a:latin typeface="+mn-ea"/>
            </a:endParaRPr>
          </a:p>
          <a:p>
            <a:pPr marL="0" indent="0" algn="ctr">
              <a:buNone/>
            </a:pPr>
            <a:r>
              <a:rPr kumimoji="1" lang="ja-JP" altLang="en-US" sz="2000">
                <a:latin typeface="+mn-ea"/>
              </a:rPr>
              <a:t>対話文章において対話対の利用が有効ではないか。</a:t>
            </a:r>
          </a:p>
        </p:txBody>
      </p:sp>
      <p:sp>
        <p:nvSpPr>
          <p:cNvPr id="4" name="フッター プレースホルダー 3">
            <a:extLst>
              <a:ext uri="{FF2B5EF4-FFF2-40B4-BE49-F238E27FC236}">
                <a16:creationId xmlns:a16="http://schemas.microsoft.com/office/drawing/2014/main" id="{3D422720-C9FE-0944-8F03-0ACFA1872759}"/>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C1891B0D-5536-B279-FDB1-D388F9A07A88}"/>
              </a:ext>
            </a:extLst>
          </p:cNvPr>
          <p:cNvSpPr>
            <a:spLocks noGrp="1"/>
          </p:cNvSpPr>
          <p:nvPr>
            <p:ph type="sldNum" sz="quarter" idx="12"/>
          </p:nvPr>
        </p:nvSpPr>
        <p:spPr/>
        <p:txBody>
          <a:bodyPr/>
          <a:lstStyle/>
          <a:p>
            <a:fld id="{220C0F37-2064-1644-956F-38420264F42F}" type="slidenum">
              <a:rPr kumimoji="1" lang="ja-JP" altLang="en-US" smtClean="0"/>
              <a:t>8</a:t>
            </a:fld>
            <a:endParaRPr kumimoji="1" lang="ja-JP" altLang="en-US"/>
          </a:p>
        </p:txBody>
      </p:sp>
    </p:spTree>
    <p:extLst>
      <p:ext uri="{BB962C8B-B14F-4D97-AF65-F5344CB8AC3E}">
        <p14:creationId xmlns:p14="http://schemas.microsoft.com/office/powerpoint/2010/main" val="3961660318"/>
      </p:ext>
    </p:extLst>
  </p:cSld>
  <p:clrMapOvr>
    <a:masterClrMapping/>
  </p:clrMapOvr>
  <mc:AlternateContent xmlns:mc="http://schemas.openxmlformats.org/markup-compatibility/2006" xmlns:p14="http://schemas.microsoft.com/office/powerpoint/2010/main">
    <mc:Choice Requires="p14">
      <p:transition spd="slow" p14:dur="2000" advTm="1378"/>
    </mc:Choice>
    <mc:Fallback xmlns="">
      <p:transition spd="slow" advTm="137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C56A1E-11F7-7031-2E07-C06265758686}"/>
              </a:ext>
            </a:extLst>
          </p:cNvPr>
          <p:cNvSpPr>
            <a:spLocks noGrp="1"/>
          </p:cNvSpPr>
          <p:nvPr>
            <p:ph type="title"/>
          </p:nvPr>
        </p:nvSpPr>
        <p:spPr/>
        <p:txBody>
          <a:bodyPr/>
          <a:lstStyle/>
          <a:p>
            <a:r>
              <a:rPr kumimoji="1" lang="ja-JP" altLang="en-US"/>
              <a:t>研究目的</a:t>
            </a:r>
          </a:p>
        </p:txBody>
      </p:sp>
      <p:sp>
        <p:nvSpPr>
          <p:cNvPr id="3" name="コンテンツ プレースホルダー 2">
            <a:extLst>
              <a:ext uri="{FF2B5EF4-FFF2-40B4-BE49-F238E27FC236}">
                <a16:creationId xmlns:a16="http://schemas.microsoft.com/office/drawing/2014/main" id="{32B3693F-A4AC-5BBA-2156-192DC83C150E}"/>
              </a:ext>
            </a:extLst>
          </p:cNvPr>
          <p:cNvSpPr>
            <a:spLocks noGrp="1"/>
          </p:cNvSpPr>
          <p:nvPr>
            <p:ph idx="1"/>
          </p:nvPr>
        </p:nvSpPr>
        <p:spPr/>
        <p:txBody>
          <a:bodyPr>
            <a:normAutofit/>
          </a:bodyPr>
          <a:lstStyle/>
          <a:p>
            <a:pPr marL="0" indent="0">
              <a:buNone/>
            </a:pPr>
            <a:endParaRPr lang="en-US" altLang="ja-JP" sz="2400" dirty="0"/>
          </a:p>
          <a:p>
            <a:pPr marL="0" indent="0">
              <a:buNone/>
            </a:pPr>
            <a:endParaRPr lang="en-US" altLang="ja-JP" sz="2400" dirty="0"/>
          </a:p>
          <a:p>
            <a:r>
              <a:rPr lang="ja-JP" altLang="ja-JP" sz="2400" kern="100">
                <a:latin typeface="+mj-ea"/>
                <a:cs typeface="Times New Roman" panose="02020603050405020304" pitchFamily="18" charset="0"/>
              </a:rPr>
              <a:t>旅行代理店</a:t>
            </a:r>
            <a:r>
              <a:rPr lang="ja-JP" altLang="en-US" sz="2400" kern="100">
                <a:latin typeface="+mj-ea"/>
                <a:cs typeface="Times New Roman" panose="02020603050405020304" pitchFamily="18" charset="0"/>
              </a:rPr>
              <a:t>の</a:t>
            </a:r>
            <a:r>
              <a:rPr lang="ja-JP" altLang="en-US" sz="2400"/>
              <a:t>対話文章での期待抽出精度を向上させる。</a:t>
            </a:r>
            <a:endParaRPr lang="en-US" altLang="ja-JP" sz="2400" dirty="0"/>
          </a:p>
          <a:p>
            <a:endParaRPr lang="en-US" altLang="ja-JP" sz="2400" dirty="0"/>
          </a:p>
          <a:p>
            <a:r>
              <a:rPr lang="ja-JP" altLang="en-US" sz="2400"/>
              <a:t>対話対単位での期待の抽出が有効であるかの検証。</a:t>
            </a:r>
            <a:endParaRPr lang="en-US" altLang="ja-JP" sz="2400" dirty="0"/>
          </a:p>
        </p:txBody>
      </p:sp>
      <p:sp>
        <p:nvSpPr>
          <p:cNvPr id="4" name="フッター プレースホルダー 3">
            <a:extLst>
              <a:ext uri="{FF2B5EF4-FFF2-40B4-BE49-F238E27FC236}">
                <a16:creationId xmlns:a16="http://schemas.microsoft.com/office/drawing/2014/main" id="{76D05918-F0DE-43ED-C551-56CEC3E2E7CB}"/>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DC883718-6CEA-F0C6-E2EB-CE4797C32DE1}"/>
              </a:ext>
            </a:extLst>
          </p:cNvPr>
          <p:cNvSpPr>
            <a:spLocks noGrp="1"/>
          </p:cNvSpPr>
          <p:nvPr>
            <p:ph type="sldNum" sz="quarter" idx="12"/>
          </p:nvPr>
        </p:nvSpPr>
        <p:spPr/>
        <p:txBody>
          <a:bodyPr/>
          <a:lstStyle/>
          <a:p>
            <a:fld id="{220C0F37-2064-1644-956F-38420264F42F}" type="slidenum">
              <a:rPr kumimoji="1" lang="ja-JP" altLang="en-US" smtClean="0"/>
              <a:t>9</a:t>
            </a:fld>
            <a:endParaRPr kumimoji="1" lang="ja-JP" altLang="en-US"/>
          </a:p>
        </p:txBody>
      </p:sp>
    </p:spTree>
    <p:extLst>
      <p:ext uri="{BB962C8B-B14F-4D97-AF65-F5344CB8AC3E}">
        <p14:creationId xmlns:p14="http://schemas.microsoft.com/office/powerpoint/2010/main" val="1373243402"/>
      </p:ext>
    </p:extLst>
  </p:cSld>
  <p:clrMapOvr>
    <a:masterClrMapping/>
  </p:clrMapOvr>
  <mc:AlternateContent xmlns:mc="http://schemas.openxmlformats.org/markup-compatibility/2006" xmlns:p14="http://schemas.microsoft.com/office/powerpoint/2010/main">
    <mc:Choice Requires="p14">
      <p:transition spd="slow" p14:dur="2000" advTm="17597"/>
    </mc:Choice>
    <mc:Fallback xmlns="">
      <p:transition spd="slow" advTm="1759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9C51C4-F686-D79F-DC54-A62915555712}"/>
              </a:ext>
            </a:extLst>
          </p:cNvPr>
          <p:cNvSpPr>
            <a:spLocks noGrp="1"/>
          </p:cNvSpPr>
          <p:nvPr>
            <p:ph type="title"/>
          </p:nvPr>
        </p:nvSpPr>
        <p:spPr/>
        <p:txBody>
          <a:bodyPr>
            <a:normAutofit/>
          </a:bodyPr>
          <a:lstStyle/>
          <a:p>
            <a:r>
              <a:rPr lang="ja-JP" altLang="en-US" sz="3400" b="1">
                <a:latin typeface="+mj-ea"/>
              </a:rPr>
              <a:t>期待文の文分類と対話対分類実験</a:t>
            </a:r>
            <a:endParaRPr lang="en-US" altLang="ja-JP" sz="3400" b="1" dirty="0">
              <a:latin typeface="+mj-ea"/>
            </a:endParaRPr>
          </a:p>
        </p:txBody>
      </p:sp>
      <p:sp>
        <p:nvSpPr>
          <p:cNvPr id="3" name="コンテンツ プレースホルダー 2">
            <a:extLst>
              <a:ext uri="{FF2B5EF4-FFF2-40B4-BE49-F238E27FC236}">
                <a16:creationId xmlns:a16="http://schemas.microsoft.com/office/drawing/2014/main" id="{1C16979B-7172-6532-7C47-1F8424B47C8C}"/>
              </a:ext>
            </a:extLst>
          </p:cNvPr>
          <p:cNvSpPr>
            <a:spLocks noGrp="1"/>
          </p:cNvSpPr>
          <p:nvPr>
            <p:ph idx="1"/>
          </p:nvPr>
        </p:nvSpPr>
        <p:spPr/>
        <p:txBody>
          <a:bodyPr>
            <a:normAutofit/>
          </a:bodyPr>
          <a:lstStyle/>
          <a:p>
            <a:pPr marL="0" indent="0">
              <a:buNone/>
            </a:pPr>
            <a:r>
              <a:rPr lang="ja-JP" altLang="en-US">
                <a:latin typeface="+mn-ea"/>
              </a:rPr>
              <a:t>方針</a:t>
            </a:r>
            <a:endParaRPr lang="en-US" altLang="ja-JP" dirty="0">
              <a:latin typeface="+mn-ea"/>
            </a:endParaRPr>
          </a:p>
          <a:p>
            <a:pPr marL="0" indent="0">
              <a:buNone/>
            </a:pPr>
            <a:r>
              <a:rPr lang="en-US" altLang="ja-JP" sz="100" b="1" dirty="0">
                <a:latin typeface="+mn-ea"/>
              </a:rPr>
              <a:t> </a:t>
            </a:r>
          </a:p>
          <a:p>
            <a:r>
              <a:rPr lang="ja-JP" altLang="en-US" sz="2400">
                <a:latin typeface="+mn-ea"/>
              </a:rPr>
              <a:t>期待の有無は文単位で決めるものとする。</a:t>
            </a:r>
            <a:endParaRPr lang="en-US" altLang="ja-JP" sz="2400" b="1" dirty="0">
              <a:latin typeface="+mn-ea"/>
            </a:endParaRPr>
          </a:p>
          <a:p>
            <a:r>
              <a:rPr kumimoji="1" lang="ja-JP" altLang="en-US" sz="2400">
                <a:latin typeface="+mn-ea"/>
              </a:rPr>
              <a:t>以下の２つの単位で期待の有無の分類実験を行う。</a:t>
            </a:r>
            <a:endParaRPr lang="en-US" altLang="ja-JP" sz="2400" dirty="0">
              <a:latin typeface="+mn-ea"/>
            </a:endParaRPr>
          </a:p>
          <a:p>
            <a:pPr lvl="1">
              <a:buSzPct val="60000"/>
              <a:buFont typeface="Wingdings" pitchFamily="2" charset="2"/>
              <a:buChar char="n"/>
            </a:pPr>
            <a:r>
              <a:rPr lang="ja-JP" altLang="en-US">
                <a:latin typeface="+mn-ea"/>
              </a:rPr>
              <a:t>一文単位</a:t>
            </a:r>
            <a:endParaRPr lang="en-US" altLang="ja-JP" dirty="0">
              <a:latin typeface="+mn-ea"/>
            </a:endParaRPr>
          </a:p>
          <a:p>
            <a:pPr lvl="1">
              <a:buSzPct val="60000"/>
              <a:buFont typeface="Wingdings" pitchFamily="2" charset="2"/>
              <a:buChar char="n"/>
            </a:pPr>
            <a:r>
              <a:rPr lang="ja-JP" altLang="en-US">
                <a:latin typeface="+mn-ea"/>
              </a:rPr>
              <a:t>オペレーターとカスタマーとの対話対単位</a:t>
            </a:r>
            <a:endParaRPr lang="en-US" altLang="ja-JP" dirty="0">
              <a:latin typeface="+mn-ea"/>
            </a:endParaRPr>
          </a:p>
          <a:p>
            <a:pPr>
              <a:buSzPct val="100000"/>
            </a:pPr>
            <a:r>
              <a:rPr kumimoji="1" lang="en-US" altLang="ja-JP" sz="2400" dirty="0">
                <a:latin typeface="+mn-ea"/>
              </a:rPr>
              <a:t>BERT</a:t>
            </a:r>
            <a:r>
              <a:rPr kumimoji="1" lang="ja-JP" altLang="en-US" sz="2400">
                <a:latin typeface="+mn-ea"/>
              </a:rPr>
              <a:t>を用いて実装する。</a:t>
            </a:r>
            <a:endParaRPr lang="ja-JP" altLang="en-US" sz="2400">
              <a:latin typeface="+mn-ea"/>
            </a:endParaRPr>
          </a:p>
          <a:p>
            <a:pPr>
              <a:buSzPct val="100000"/>
            </a:pPr>
            <a:r>
              <a:rPr lang="ja-JP" altLang="en-US" sz="2400" b="0" i="0">
                <a:solidFill>
                  <a:srgbClr val="333333"/>
                </a:solidFill>
                <a:effectLst/>
                <a:latin typeface="+mn-ea"/>
              </a:rPr>
              <a:t>対象データ：</a:t>
            </a:r>
            <a:r>
              <a:rPr lang="en-US" altLang="ja-JP" sz="2400" b="0" i="0" dirty="0" err="1">
                <a:solidFill>
                  <a:srgbClr val="333333"/>
                </a:solidFill>
                <a:effectLst/>
                <a:latin typeface="+mn-ea"/>
              </a:rPr>
              <a:t>Tabidachi</a:t>
            </a:r>
            <a:endParaRPr lang="en-US" altLang="ja-JP" sz="2400" dirty="0">
              <a:solidFill>
                <a:srgbClr val="333333"/>
              </a:solidFill>
              <a:latin typeface="+mn-ea"/>
            </a:endParaRPr>
          </a:p>
          <a:p>
            <a:pPr marL="457200" lvl="1" indent="0">
              <a:buSzPct val="100000"/>
              <a:buNone/>
            </a:pPr>
            <a:r>
              <a:rPr lang="ja-JP" altLang="en-US" b="0" i="0">
                <a:solidFill>
                  <a:srgbClr val="333333"/>
                </a:solidFill>
                <a:effectLst/>
                <a:latin typeface="+mn-ea"/>
              </a:rPr>
              <a:t>旅行代理店の対話システムを想定した、旅行代理店のオペレーター役とカスタマー役の観光プランに関する相談の対話</a:t>
            </a:r>
            <a:endParaRPr lang="en-US" altLang="ja-JP" dirty="0">
              <a:latin typeface="+mn-ea"/>
            </a:endParaRPr>
          </a:p>
        </p:txBody>
      </p:sp>
      <p:sp>
        <p:nvSpPr>
          <p:cNvPr id="4" name="フッター プレースホルダー 3">
            <a:extLst>
              <a:ext uri="{FF2B5EF4-FFF2-40B4-BE49-F238E27FC236}">
                <a16:creationId xmlns:a16="http://schemas.microsoft.com/office/drawing/2014/main" id="{8463C410-C9A8-CC27-2232-28AC09F9FED7}"/>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DD8C9687-74DA-01C1-CBE8-EDFDECA6CA68}"/>
              </a:ext>
            </a:extLst>
          </p:cNvPr>
          <p:cNvSpPr>
            <a:spLocks noGrp="1"/>
          </p:cNvSpPr>
          <p:nvPr>
            <p:ph type="sldNum" sz="quarter" idx="12"/>
          </p:nvPr>
        </p:nvSpPr>
        <p:spPr/>
        <p:txBody>
          <a:bodyPr/>
          <a:lstStyle/>
          <a:p>
            <a:fld id="{220C0F37-2064-1644-956F-38420264F42F}" type="slidenum">
              <a:rPr kumimoji="1" lang="ja-JP" altLang="en-US" smtClean="0"/>
              <a:t>10</a:t>
            </a:fld>
            <a:endParaRPr kumimoji="1" lang="ja-JP" altLang="en-US"/>
          </a:p>
        </p:txBody>
      </p:sp>
    </p:spTree>
    <p:extLst>
      <p:ext uri="{BB962C8B-B14F-4D97-AF65-F5344CB8AC3E}">
        <p14:creationId xmlns:p14="http://schemas.microsoft.com/office/powerpoint/2010/main" val="3628866913"/>
      </p:ext>
    </p:extLst>
  </p:cSld>
  <p:clrMapOvr>
    <a:masterClrMapping/>
  </p:clrMapOvr>
  <mc:AlternateContent xmlns:mc="http://schemas.openxmlformats.org/markup-compatibility/2006" xmlns:p14="http://schemas.microsoft.com/office/powerpoint/2010/main">
    <mc:Choice Requires="p14">
      <p:transition spd="slow" p14:dur="2000" advTm="1032"/>
    </mc:Choice>
    <mc:Fallback xmlns="">
      <p:transition spd="slow" advTm="1032"/>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EC719E-8B33-8E31-1271-BE970BD00D71}"/>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ECD12795-6E05-A47B-7879-9FF1385DB179}"/>
              </a:ext>
            </a:extLst>
          </p:cNvPr>
          <p:cNvSpPr>
            <a:spLocks noGrp="1"/>
          </p:cNvSpPr>
          <p:nvPr>
            <p:ph idx="1"/>
          </p:nvPr>
        </p:nvSpPr>
        <p:spPr/>
        <p:txBody>
          <a:bodyPr/>
          <a:lstStyle/>
          <a:p>
            <a:pPr marL="0" indent="0">
              <a:buNone/>
            </a:pPr>
            <a:r>
              <a:rPr lang="ja-JP" altLang="en-US">
                <a:latin typeface="+mn-ea"/>
              </a:rPr>
              <a:t>実験設定</a:t>
            </a:r>
            <a:r>
              <a:rPr lang="en-US" altLang="ja-JP" dirty="0">
                <a:latin typeface="+mn-ea"/>
              </a:rPr>
              <a:t>(1)</a:t>
            </a:r>
          </a:p>
          <a:p>
            <a:pPr marL="0" indent="0">
              <a:buNone/>
            </a:pPr>
            <a:r>
              <a:rPr lang="ja-JP" altLang="en-US"/>
              <a:t>期待文のラベル付け</a:t>
            </a:r>
            <a:endParaRPr lang="en-US" altLang="ja-JP" dirty="0"/>
          </a:p>
          <a:p>
            <a:pPr marL="0" indent="0">
              <a:buNone/>
            </a:pPr>
            <a:endParaRPr lang="en-US" altLang="ja-JP" sz="1200" dirty="0"/>
          </a:p>
          <a:p>
            <a:pPr marL="0" indent="0">
              <a:buNone/>
            </a:pPr>
            <a:r>
              <a:rPr lang="ja-JP" altLang="en-US" sz="2400">
                <a:latin typeface="+mn-ea"/>
              </a:rPr>
              <a:t>・セグメント単位でつけられたアノテーションデータを</a:t>
            </a:r>
            <a:br>
              <a:rPr lang="en-US" altLang="ja-JP" sz="2400" dirty="0">
                <a:latin typeface="+mn-ea"/>
              </a:rPr>
            </a:br>
            <a:r>
              <a:rPr lang="ja-JP" altLang="en-US" sz="2400">
                <a:latin typeface="+mn-ea"/>
              </a:rPr>
              <a:t>　用いる。</a:t>
            </a:r>
            <a:endParaRPr lang="en-US" altLang="ja-JP" sz="2400" dirty="0">
              <a:latin typeface="+mn-ea"/>
            </a:endParaRPr>
          </a:p>
          <a:p>
            <a:pPr marL="0" indent="0">
              <a:buNone/>
            </a:pPr>
            <a:r>
              <a:rPr lang="ja-JP" altLang="en-US" sz="2400" kern="0">
                <a:effectLst/>
                <a:latin typeface="+mn-ea"/>
                <a:cs typeface="ＭＳ Ｐゴシック" panose="020B0600070205080204" pitchFamily="34" charset="-128"/>
              </a:rPr>
              <a:t>・</a:t>
            </a:r>
            <a:r>
              <a:rPr lang="en-US" altLang="ja-JP" sz="2400" kern="0" dirty="0" err="1">
                <a:effectLst/>
                <a:latin typeface="+mn-ea"/>
                <a:cs typeface="ＭＳ Ｐゴシック" panose="020B0600070205080204" pitchFamily="34" charset="-128"/>
              </a:rPr>
              <a:t>SpotRequirement</a:t>
            </a:r>
            <a:r>
              <a:rPr lang="ja-JP" altLang="en-US" sz="2400">
                <a:latin typeface="+mn-ea"/>
              </a:rPr>
              <a:t>タグ</a:t>
            </a:r>
            <a:r>
              <a:rPr lang="ja-JP" altLang="en-US" sz="2400" kern="0">
                <a:effectLst/>
                <a:latin typeface="+mn-ea"/>
                <a:cs typeface="ＭＳ Ｐゴシック" panose="020B0600070205080204" pitchFamily="34" charset="-128"/>
              </a:rPr>
              <a:t>がつけられた</a:t>
            </a:r>
            <a:r>
              <a:rPr lang="ja-JP" altLang="en-US" sz="2400">
                <a:latin typeface="+mn-ea"/>
              </a:rPr>
              <a:t>セグメントを含む</a:t>
            </a:r>
            <a:br>
              <a:rPr lang="en-US" altLang="ja-JP" sz="2400" dirty="0">
                <a:latin typeface="+mn-ea"/>
              </a:rPr>
            </a:br>
            <a:r>
              <a:rPr lang="ja-JP" altLang="en-US" sz="2400">
                <a:latin typeface="+mn-ea"/>
              </a:rPr>
              <a:t>　文を期待文と定義する。</a:t>
            </a:r>
            <a:endParaRPr lang="en-US" altLang="ja-JP" sz="2400" dirty="0">
              <a:latin typeface="+mn-ea"/>
            </a:endParaRPr>
          </a:p>
          <a:p>
            <a:pPr marL="0" indent="0">
              <a:buNone/>
            </a:pPr>
            <a:r>
              <a:rPr lang="ja-JP" altLang="en-US" sz="2400"/>
              <a:t>・</a:t>
            </a:r>
            <a:r>
              <a:rPr lang="en-US" altLang="ja-JP" sz="2400" kern="0" dirty="0">
                <a:effectLst/>
                <a:latin typeface="+mn-ea"/>
                <a:cs typeface="ＭＳ Ｐゴシック" panose="020B0600070205080204" pitchFamily="34" charset="-128"/>
              </a:rPr>
              <a:t> </a:t>
            </a:r>
            <a:r>
              <a:rPr lang="en-US" altLang="ja-JP" sz="2400" kern="0" dirty="0" err="1">
                <a:effectLst/>
                <a:latin typeface="+mn-ea"/>
                <a:cs typeface="ＭＳ Ｐゴシック" panose="020B0600070205080204" pitchFamily="34" charset="-128"/>
              </a:rPr>
              <a:t>SpotRequirement</a:t>
            </a:r>
            <a:r>
              <a:rPr lang="ja-JP" altLang="en-US" sz="2400" kern="0">
                <a:effectLst/>
                <a:latin typeface="+mn-ea"/>
                <a:cs typeface="ＭＳ Ｐゴシック" panose="020B0600070205080204" pitchFamily="34" charset="-128"/>
              </a:rPr>
              <a:t>タグは以下のように定義され、</a:t>
            </a:r>
            <a:br>
              <a:rPr lang="en-US" altLang="ja-JP" sz="2400" kern="0" dirty="0">
                <a:latin typeface="+mn-ea"/>
                <a:cs typeface="ＭＳ Ｐゴシック" panose="020B0600070205080204" pitchFamily="34" charset="-128"/>
              </a:rPr>
            </a:br>
            <a:r>
              <a:rPr lang="ja-JP" altLang="en-US" sz="2400" kern="0">
                <a:latin typeface="+mn-ea"/>
                <a:cs typeface="ＭＳ Ｐゴシック" panose="020B0600070205080204" pitchFamily="34" charset="-128"/>
              </a:rPr>
              <a:t>　</a:t>
            </a:r>
            <a:r>
              <a:rPr lang="ja-JP" altLang="en-US" sz="2400" kern="0">
                <a:effectLst/>
                <a:latin typeface="+mn-ea"/>
                <a:cs typeface="ＭＳ Ｐゴシック" panose="020B0600070205080204" pitchFamily="34" charset="-128"/>
              </a:rPr>
              <a:t>これは今回の期待の定義と一致する。</a:t>
            </a:r>
            <a:endParaRPr lang="en-US" altLang="ja-JP" sz="2400" dirty="0"/>
          </a:p>
        </p:txBody>
      </p:sp>
      <p:sp>
        <p:nvSpPr>
          <p:cNvPr id="6" name="フッター プレースホルダー 5">
            <a:extLst>
              <a:ext uri="{FF2B5EF4-FFF2-40B4-BE49-F238E27FC236}">
                <a16:creationId xmlns:a16="http://schemas.microsoft.com/office/drawing/2014/main" id="{30A8E6FA-A373-0452-425C-32B9B7DA66FD}"/>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7" name="スライド番号プレースホルダー 6">
            <a:extLst>
              <a:ext uri="{FF2B5EF4-FFF2-40B4-BE49-F238E27FC236}">
                <a16:creationId xmlns:a16="http://schemas.microsoft.com/office/drawing/2014/main" id="{47AC9383-1094-0D36-DFB6-66F764660CD2}"/>
              </a:ext>
            </a:extLst>
          </p:cNvPr>
          <p:cNvSpPr>
            <a:spLocks noGrp="1"/>
          </p:cNvSpPr>
          <p:nvPr>
            <p:ph type="sldNum" sz="quarter" idx="12"/>
          </p:nvPr>
        </p:nvSpPr>
        <p:spPr/>
        <p:txBody>
          <a:bodyPr/>
          <a:lstStyle/>
          <a:p>
            <a:fld id="{220C0F37-2064-1644-956F-38420264F42F}" type="slidenum">
              <a:rPr kumimoji="1" lang="ja-JP" altLang="en-US" smtClean="0"/>
              <a:t>11</a:t>
            </a:fld>
            <a:endParaRPr kumimoji="1" lang="ja-JP" altLang="en-US"/>
          </a:p>
        </p:txBody>
      </p:sp>
      <p:sp>
        <p:nvSpPr>
          <p:cNvPr id="8" name="テキスト ボックス 7">
            <a:extLst>
              <a:ext uri="{FF2B5EF4-FFF2-40B4-BE49-F238E27FC236}">
                <a16:creationId xmlns:a16="http://schemas.microsoft.com/office/drawing/2014/main" id="{7F1425F8-D297-868B-D0E5-E2ECFF67AD01}"/>
              </a:ext>
            </a:extLst>
          </p:cNvPr>
          <p:cNvSpPr txBox="1"/>
          <p:nvPr/>
        </p:nvSpPr>
        <p:spPr>
          <a:xfrm>
            <a:off x="720625" y="5500361"/>
            <a:ext cx="7702750" cy="400110"/>
          </a:xfrm>
          <a:prstGeom prst="rect">
            <a:avLst/>
          </a:prstGeom>
          <a:noFill/>
        </p:spPr>
        <p:txBody>
          <a:bodyPr wrap="none" rtlCol="0">
            <a:spAutoFit/>
          </a:bodyPr>
          <a:lstStyle/>
          <a:p>
            <a:r>
              <a:rPr lang="en-US" altLang="ja-JP" sz="2000" kern="0" dirty="0" err="1">
                <a:effectLst/>
                <a:latin typeface="+mn-ea"/>
                <a:cs typeface="ＭＳ Ｐゴシック" panose="020B0600070205080204" pitchFamily="34" charset="-128"/>
              </a:rPr>
              <a:t>SpotRequirement</a:t>
            </a:r>
            <a:r>
              <a:rPr lang="ja-JP" altLang="en-US" sz="2000" kern="0" dirty="0">
                <a:effectLst/>
                <a:latin typeface="+mn-ea"/>
                <a:cs typeface="ＭＳ Ｐゴシック" panose="020B0600070205080204" pitchFamily="34" charset="-128"/>
              </a:rPr>
              <a:t>：</a:t>
            </a:r>
            <a:r>
              <a:rPr lang="ja-JP" altLang="en-US" sz="2000">
                <a:solidFill>
                  <a:srgbClr val="000000"/>
                </a:solidFill>
                <a:effectLst/>
                <a:latin typeface="Helvetica" pitchFamily="2" charset="0"/>
              </a:rPr>
              <a:t>カスタマーによる観光地に対する要望・条件</a:t>
            </a:r>
            <a:endParaRPr kumimoji="1" lang="ja-JP" altLang="en-US" sz="2000"/>
          </a:p>
        </p:txBody>
      </p:sp>
    </p:spTree>
    <p:extLst>
      <p:ext uri="{BB962C8B-B14F-4D97-AF65-F5344CB8AC3E}">
        <p14:creationId xmlns:p14="http://schemas.microsoft.com/office/powerpoint/2010/main" val="1377831376"/>
      </p:ext>
    </p:extLst>
  </p:cSld>
  <p:clrMapOvr>
    <a:masterClrMapping/>
  </p:clrMapOvr>
  <mc:AlternateContent xmlns:mc="http://schemas.openxmlformats.org/markup-compatibility/2006" xmlns:p14="http://schemas.microsoft.com/office/powerpoint/2010/main">
    <mc:Choice Requires="p14">
      <p:transition spd="slow" p14:dur="2000" advTm="1474"/>
    </mc:Choice>
    <mc:Fallback xmlns="">
      <p:transition spd="slow" advTm="147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3FF8F4-1467-4082-B8F6-0721441A8AB6}"/>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92E2A51A-C124-53A0-AF84-8EA01CB6C14E}"/>
              </a:ext>
            </a:extLst>
          </p:cNvPr>
          <p:cNvSpPr>
            <a:spLocks noGrp="1"/>
          </p:cNvSpPr>
          <p:nvPr>
            <p:ph idx="1"/>
          </p:nvPr>
        </p:nvSpPr>
        <p:spPr>
          <a:xfrm>
            <a:off x="628650" y="1690688"/>
            <a:ext cx="7886700" cy="5075871"/>
          </a:xfrm>
        </p:spPr>
        <p:txBody>
          <a:bodyPr>
            <a:normAutofit/>
          </a:bodyPr>
          <a:lstStyle/>
          <a:p>
            <a:pPr marL="0" indent="0">
              <a:buNone/>
            </a:pPr>
            <a:r>
              <a:rPr lang="ja-JP" altLang="en-US">
                <a:latin typeface="+mn-ea"/>
              </a:rPr>
              <a:t>実験設定</a:t>
            </a:r>
            <a:r>
              <a:rPr lang="en-US" altLang="ja-JP" dirty="0">
                <a:latin typeface="+mn-ea"/>
              </a:rPr>
              <a:t>(2)</a:t>
            </a:r>
          </a:p>
          <a:p>
            <a:pPr marL="0" indent="0">
              <a:buNone/>
            </a:pPr>
            <a:r>
              <a:rPr lang="ja-JP" altLang="en-US" sz="2800"/>
              <a:t>データセット</a:t>
            </a:r>
            <a:endParaRPr lang="en-US" altLang="ja-JP" sz="2800" dirty="0"/>
          </a:p>
          <a:p>
            <a:pPr marL="0" indent="0">
              <a:buNone/>
            </a:pPr>
            <a:endParaRPr lang="en-US" altLang="ja-JP" sz="1100" dirty="0"/>
          </a:p>
          <a:p>
            <a:r>
              <a:rPr lang="ja-JP" altLang="en-US" sz="2400"/>
              <a:t>文単位分類モデルは対話対単位分類モデルで用意した対話対から顧客の発話のみを抽出したものとした。</a:t>
            </a:r>
            <a:endParaRPr lang="en-US" altLang="ja-JP" dirty="0"/>
          </a:p>
          <a:p>
            <a:r>
              <a:rPr kumimoji="1" lang="ja-JP" altLang="en-US" sz="2400" b="0" i="0" u="none" strike="noStrike" kern="1200" cap="none" spc="0" normalizeH="0" baseline="0" noProof="0">
                <a:ln>
                  <a:noFill/>
                </a:ln>
                <a:solidFill>
                  <a:prstClr val="black"/>
                </a:solidFill>
                <a:effectLst/>
                <a:uLnTx/>
                <a:uFillTx/>
                <a:latin typeface="+mn-ea"/>
                <a:cs typeface="Segoe UI" panose="020B0502040204020203" pitchFamily="34" charset="0"/>
              </a:rPr>
              <a:t>学習用</a:t>
            </a:r>
            <a:r>
              <a:rPr kumimoji="1" lang="en-US" altLang="ja-JP" sz="2400" b="0" i="0" u="none" strike="noStrike" kern="1200" cap="none" spc="0" normalizeH="0" baseline="0" noProof="0" dirty="0">
                <a:ln>
                  <a:noFill/>
                </a:ln>
                <a:solidFill>
                  <a:prstClr val="black"/>
                </a:solidFill>
                <a:effectLst/>
                <a:uLnTx/>
                <a:uFillTx/>
                <a:latin typeface="+mn-ea"/>
                <a:cs typeface="Segoe UI" panose="020B0502040204020203" pitchFamily="34" charset="0"/>
              </a:rPr>
              <a:t>60%, </a:t>
            </a:r>
            <a:r>
              <a:rPr kumimoji="1" lang="ja-JP" altLang="en-US" sz="2400" b="0" i="0" u="none" strike="noStrike" kern="1200" cap="none" spc="0" normalizeH="0" baseline="0" noProof="0">
                <a:ln>
                  <a:noFill/>
                </a:ln>
                <a:solidFill>
                  <a:prstClr val="black"/>
                </a:solidFill>
                <a:effectLst/>
                <a:uLnTx/>
                <a:uFillTx/>
                <a:latin typeface="+mn-ea"/>
                <a:cs typeface="Segoe UI" panose="020B0502040204020203" pitchFamily="34" charset="0"/>
              </a:rPr>
              <a:t>検証用</a:t>
            </a:r>
            <a:r>
              <a:rPr kumimoji="1" lang="en-US" altLang="ja-JP" sz="2400" b="0" i="0" u="none" strike="noStrike" kern="1200" cap="none" spc="0" normalizeH="0" baseline="0" noProof="0" dirty="0">
                <a:ln>
                  <a:noFill/>
                </a:ln>
                <a:solidFill>
                  <a:prstClr val="black"/>
                </a:solidFill>
                <a:effectLst/>
                <a:uLnTx/>
                <a:uFillTx/>
                <a:latin typeface="+mn-ea"/>
                <a:cs typeface="Segoe UI" panose="020B0502040204020203" pitchFamily="34" charset="0"/>
              </a:rPr>
              <a:t>20%, </a:t>
            </a:r>
            <a:r>
              <a:rPr kumimoji="1" lang="ja-JP" altLang="en-US" sz="2400" b="0" i="0" u="none" strike="noStrike" kern="1200" cap="none" spc="0" normalizeH="0" baseline="0" noProof="0">
                <a:ln>
                  <a:noFill/>
                </a:ln>
                <a:solidFill>
                  <a:prstClr val="black"/>
                </a:solidFill>
                <a:effectLst/>
                <a:uLnTx/>
                <a:uFillTx/>
                <a:latin typeface="+mn-ea"/>
                <a:cs typeface="Segoe UI" panose="020B0502040204020203" pitchFamily="34" charset="0"/>
              </a:rPr>
              <a:t>テスト用</a:t>
            </a:r>
            <a:r>
              <a:rPr kumimoji="1" lang="en-US" altLang="ja-JP" sz="2400" b="0" i="0" u="none" strike="noStrike" kern="1200" cap="none" spc="0" normalizeH="0" baseline="0" noProof="0" dirty="0">
                <a:ln>
                  <a:noFill/>
                </a:ln>
                <a:solidFill>
                  <a:prstClr val="black"/>
                </a:solidFill>
                <a:effectLst/>
                <a:uLnTx/>
                <a:uFillTx/>
                <a:latin typeface="+mn-ea"/>
                <a:cs typeface="Segoe UI" panose="020B0502040204020203" pitchFamily="34" charset="0"/>
              </a:rPr>
              <a:t>20%</a:t>
            </a:r>
            <a:r>
              <a:rPr kumimoji="1" lang="ja-JP" altLang="en-US" sz="2400" b="0" i="0" u="none" strike="noStrike" kern="1200" cap="none" spc="0" normalizeH="0" baseline="0" noProof="0">
                <a:ln>
                  <a:noFill/>
                </a:ln>
                <a:solidFill>
                  <a:prstClr val="black"/>
                </a:solidFill>
                <a:effectLst/>
                <a:uLnTx/>
                <a:uFillTx/>
                <a:latin typeface="+mn-ea"/>
                <a:cs typeface="Segoe UI" panose="020B0502040204020203" pitchFamily="34" charset="0"/>
              </a:rPr>
              <a:t>に分割した。</a:t>
            </a:r>
            <a:endParaRPr kumimoji="1" lang="en-US" altLang="ja-JP" sz="2400" b="0" i="0" u="none" strike="noStrike" kern="1200" cap="none" spc="0" normalizeH="0" baseline="0" noProof="0" dirty="0">
              <a:ln>
                <a:noFill/>
              </a:ln>
              <a:solidFill>
                <a:prstClr val="black"/>
              </a:solidFill>
              <a:effectLst/>
              <a:uLnTx/>
              <a:uFillTx/>
              <a:latin typeface="+mn-ea"/>
              <a:cs typeface="Segoe UI" panose="020B0502040204020203" pitchFamily="34" charset="0"/>
            </a:endParaRPr>
          </a:p>
          <a:p>
            <a:endParaRPr kumimoji="1" lang="en-US" altLang="ja-JP" sz="2400" b="0" i="0" u="none" strike="noStrike" kern="1200" cap="none" spc="0" normalizeH="0" baseline="0" noProof="0" dirty="0">
              <a:ln>
                <a:noFill/>
              </a:ln>
              <a:solidFill>
                <a:prstClr val="black"/>
              </a:solidFill>
              <a:effectLst/>
              <a:uLnTx/>
              <a:uFillTx/>
              <a:latin typeface="+mn-ea"/>
              <a:cs typeface="Segoe UI" panose="020B0502040204020203" pitchFamily="34" charset="0"/>
            </a:endParaRPr>
          </a:p>
          <a:p>
            <a:pPr marL="0" indent="0">
              <a:buNone/>
            </a:pPr>
            <a:endParaRPr lang="en-US" altLang="ja-JP" dirty="0"/>
          </a:p>
        </p:txBody>
      </p:sp>
      <p:graphicFrame>
        <p:nvGraphicFramePr>
          <p:cNvPr id="4" name="表 3">
            <a:extLst>
              <a:ext uri="{FF2B5EF4-FFF2-40B4-BE49-F238E27FC236}">
                <a16:creationId xmlns:a16="http://schemas.microsoft.com/office/drawing/2014/main" id="{3C7399FD-5D2C-CEB0-E4B6-56711C743946}"/>
              </a:ext>
            </a:extLst>
          </p:cNvPr>
          <p:cNvGraphicFramePr>
            <a:graphicFrameLocks noGrp="1"/>
          </p:cNvGraphicFramePr>
          <p:nvPr>
            <p:extLst>
              <p:ext uri="{D42A27DB-BD31-4B8C-83A1-F6EECF244321}">
                <p14:modId xmlns:p14="http://schemas.microsoft.com/office/powerpoint/2010/main" val="3597360051"/>
              </p:ext>
            </p:extLst>
          </p:nvPr>
        </p:nvGraphicFramePr>
        <p:xfrm>
          <a:off x="1020428" y="4485252"/>
          <a:ext cx="7103144" cy="1307536"/>
        </p:xfrm>
        <a:graphic>
          <a:graphicData uri="http://schemas.openxmlformats.org/drawingml/2006/table">
            <a:tbl>
              <a:tblPr firstRow="1" bandRow="1">
                <a:tableStyleId>{5940675A-B579-460E-94D1-54222C63F5DA}</a:tableStyleId>
              </a:tblPr>
              <a:tblGrid>
                <a:gridCol w="2722516">
                  <a:extLst>
                    <a:ext uri="{9D8B030D-6E8A-4147-A177-3AD203B41FA5}">
                      <a16:colId xmlns:a16="http://schemas.microsoft.com/office/drawing/2014/main" val="4006301354"/>
                    </a:ext>
                  </a:extLst>
                </a:gridCol>
                <a:gridCol w="2133600">
                  <a:extLst>
                    <a:ext uri="{9D8B030D-6E8A-4147-A177-3AD203B41FA5}">
                      <a16:colId xmlns:a16="http://schemas.microsoft.com/office/drawing/2014/main" val="396819951"/>
                    </a:ext>
                  </a:extLst>
                </a:gridCol>
                <a:gridCol w="2247028">
                  <a:extLst>
                    <a:ext uri="{9D8B030D-6E8A-4147-A177-3AD203B41FA5}">
                      <a16:colId xmlns:a16="http://schemas.microsoft.com/office/drawing/2014/main" val="1524326336"/>
                    </a:ext>
                  </a:extLst>
                </a:gridCol>
              </a:tblGrid>
              <a:tr h="398442">
                <a:tc>
                  <a:txBody>
                    <a:bodyPr/>
                    <a:lstStyle/>
                    <a:p>
                      <a:endParaRPr kumimoji="1" lang="ja-JP" altLang="en-US" sz="2000" b="1"/>
                    </a:p>
                  </a:txBody>
                  <a:tcPr marL="68580" marR="68580" marT="34290" marB="34290">
                    <a:solidFill>
                      <a:schemeClr val="bg2"/>
                    </a:solidFill>
                  </a:tcPr>
                </a:tc>
                <a:tc>
                  <a:txBody>
                    <a:bodyPr/>
                    <a:lstStyle/>
                    <a:p>
                      <a:r>
                        <a:rPr kumimoji="1" lang="ja-JP" altLang="en-US" sz="2000" b="0"/>
                        <a:t>期待あり</a:t>
                      </a:r>
                    </a:p>
                  </a:txBody>
                  <a:tcPr marL="68580" marR="68580" marT="34290" marB="34290">
                    <a:solidFill>
                      <a:schemeClr val="bg2"/>
                    </a:solidFill>
                  </a:tcPr>
                </a:tc>
                <a:tc>
                  <a:txBody>
                    <a:bodyPr/>
                    <a:lstStyle/>
                    <a:p>
                      <a:r>
                        <a:rPr kumimoji="1" lang="ja-JP" altLang="en-US" sz="2000" b="0"/>
                        <a:t>期待なし</a:t>
                      </a:r>
                    </a:p>
                  </a:txBody>
                  <a:tcPr marL="68580" marR="68580" marT="34290" marB="34290">
                    <a:solidFill>
                      <a:schemeClr val="bg2"/>
                    </a:solidFill>
                  </a:tcPr>
                </a:tc>
                <a:extLst>
                  <a:ext uri="{0D108BD9-81ED-4DB2-BD59-A6C34878D82A}">
                    <a16:rowId xmlns:a16="http://schemas.microsoft.com/office/drawing/2014/main" val="1311456292"/>
                  </a:ext>
                </a:extLst>
              </a:tr>
              <a:tr h="454547">
                <a:tc>
                  <a:txBody>
                    <a:bodyPr/>
                    <a:lstStyle/>
                    <a:p>
                      <a:r>
                        <a:rPr lang="ja-JP" altLang="en-US" sz="2000"/>
                        <a:t>文分類モデル</a:t>
                      </a:r>
                      <a:endParaRPr kumimoji="1" lang="ja-JP" altLang="en-US" sz="2000"/>
                    </a:p>
                  </a:txBody>
                  <a:tcPr marL="68580" marR="68580" marT="34290" marB="34290"/>
                </a:tc>
                <a:tc>
                  <a:txBody>
                    <a:bodyPr/>
                    <a:lstStyle/>
                    <a:p>
                      <a:r>
                        <a:rPr kumimoji="1" lang="en-US" altLang="ja-JP" sz="2000" dirty="0"/>
                        <a:t>1380</a:t>
                      </a:r>
                      <a:r>
                        <a:rPr kumimoji="1" lang="ja-JP" altLang="en-US" sz="2000"/>
                        <a:t>文</a:t>
                      </a:r>
                    </a:p>
                  </a:txBody>
                  <a:tcPr marL="68580" marR="68580" marT="34290" marB="34290"/>
                </a:tc>
                <a:tc>
                  <a:txBody>
                    <a:bodyPr/>
                    <a:lstStyle/>
                    <a:p>
                      <a:r>
                        <a:rPr kumimoji="1" lang="en-US" altLang="ja-JP" sz="2000" dirty="0"/>
                        <a:t>1380</a:t>
                      </a:r>
                      <a:r>
                        <a:rPr kumimoji="1" lang="ja-JP" altLang="en-US" sz="2000"/>
                        <a:t>文</a:t>
                      </a:r>
                    </a:p>
                  </a:txBody>
                  <a:tcPr marL="68580" marR="68580" marT="34290" marB="34290"/>
                </a:tc>
                <a:extLst>
                  <a:ext uri="{0D108BD9-81ED-4DB2-BD59-A6C34878D82A}">
                    <a16:rowId xmlns:a16="http://schemas.microsoft.com/office/drawing/2014/main" val="343387893"/>
                  </a:ext>
                </a:extLst>
              </a:tr>
              <a:tr h="454547">
                <a:tc>
                  <a:txBody>
                    <a:bodyPr/>
                    <a:lstStyle/>
                    <a:p>
                      <a:r>
                        <a:rPr lang="ja-JP" altLang="en-US" sz="2000"/>
                        <a:t>対話対分類モデル</a:t>
                      </a:r>
                      <a:endParaRPr kumimoji="1" lang="ja-JP" altLang="en-US" sz="2000"/>
                    </a:p>
                  </a:txBody>
                  <a:tcPr marL="68580" marR="68580" marT="34290" marB="34290"/>
                </a:tc>
                <a:tc>
                  <a:txBody>
                    <a:bodyPr/>
                    <a:lstStyle/>
                    <a:p>
                      <a:r>
                        <a:rPr kumimoji="1" lang="en-US" altLang="ja-JP" sz="2000" dirty="0"/>
                        <a:t>1380</a:t>
                      </a:r>
                      <a:r>
                        <a:rPr kumimoji="1" lang="ja-JP" altLang="en-US" sz="2000"/>
                        <a:t>対</a:t>
                      </a:r>
                    </a:p>
                  </a:txBody>
                  <a:tcPr marL="68580" marR="68580" marT="34290" marB="34290"/>
                </a:tc>
                <a:tc>
                  <a:txBody>
                    <a:bodyPr/>
                    <a:lstStyle/>
                    <a:p>
                      <a:r>
                        <a:rPr kumimoji="1" lang="en-US" altLang="ja-JP" sz="2000" dirty="0"/>
                        <a:t>1380</a:t>
                      </a:r>
                      <a:r>
                        <a:rPr kumimoji="1" lang="ja-JP" altLang="en-US" sz="2000"/>
                        <a:t>対</a:t>
                      </a:r>
                    </a:p>
                  </a:txBody>
                  <a:tcPr marL="68580" marR="68580" marT="34290" marB="34290"/>
                </a:tc>
                <a:extLst>
                  <a:ext uri="{0D108BD9-81ED-4DB2-BD59-A6C34878D82A}">
                    <a16:rowId xmlns:a16="http://schemas.microsoft.com/office/drawing/2014/main" val="1695522976"/>
                  </a:ext>
                </a:extLst>
              </a:tr>
            </a:tbl>
          </a:graphicData>
        </a:graphic>
      </p:graphicFrame>
      <p:sp>
        <p:nvSpPr>
          <p:cNvPr id="5" name="フッター プレースホルダー 4">
            <a:extLst>
              <a:ext uri="{FF2B5EF4-FFF2-40B4-BE49-F238E27FC236}">
                <a16:creationId xmlns:a16="http://schemas.microsoft.com/office/drawing/2014/main" id="{22E7DF01-DFB1-A99F-7F99-5A4C9D935A42}"/>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6" name="スライド番号プレースホルダー 5">
            <a:extLst>
              <a:ext uri="{FF2B5EF4-FFF2-40B4-BE49-F238E27FC236}">
                <a16:creationId xmlns:a16="http://schemas.microsoft.com/office/drawing/2014/main" id="{08D8F5A5-B1EA-961A-37E5-995293C5193D}"/>
              </a:ext>
            </a:extLst>
          </p:cNvPr>
          <p:cNvSpPr>
            <a:spLocks noGrp="1"/>
          </p:cNvSpPr>
          <p:nvPr>
            <p:ph type="sldNum" sz="quarter" idx="12"/>
          </p:nvPr>
        </p:nvSpPr>
        <p:spPr/>
        <p:txBody>
          <a:bodyPr/>
          <a:lstStyle/>
          <a:p>
            <a:fld id="{220C0F37-2064-1644-956F-38420264F42F}" type="slidenum">
              <a:rPr kumimoji="1" lang="ja-JP" altLang="en-US" smtClean="0"/>
              <a:t>12</a:t>
            </a:fld>
            <a:endParaRPr kumimoji="1" lang="ja-JP" altLang="en-US"/>
          </a:p>
        </p:txBody>
      </p:sp>
    </p:spTree>
    <p:extLst>
      <p:ext uri="{BB962C8B-B14F-4D97-AF65-F5344CB8AC3E}">
        <p14:creationId xmlns:p14="http://schemas.microsoft.com/office/powerpoint/2010/main" val="2275382779"/>
      </p:ext>
    </p:extLst>
  </p:cSld>
  <p:clrMapOvr>
    <a:masterClrMapping/>
  </p:clrMapOvr>
  <mc:AlternateContent xmlns:mc="http://schemas.openxmlformats.org/markup-compatibility/2006" xmlns:p14="http://schemas.microsoft.com/office/powerpoint/2010/main">
    <mc:Choice Requires="p14">
      <p:transition spd="slow" p14:dur="2000" advTm="5977"/>
    </mc:Choice>
    <mc:Fallback xmlns="">
      <p:transition spd="slow" advTm="597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7ECD1-0E03-4CD2-F4E5-7D6C04CBD2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112C749-25D2-B3E8-2DAC-224B88B7561E}"/>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F3134A4C-C0FE-4746-ED8A-D254A5E176F6}"/>
              </a:ext>
            </a:extLst>
          </p:cNvPr>
          <p:cNvSpPr>
            <a:spLocks noGrp="1"/>
          </p:cNvSpPr>
          <p:nvPr>
            <p:ph idx="1"/>
          </p:nvPr>
        </p:nvSpPr>
        <p:spPr>
          <a:xfrm>
            <a:off x="628650" y="1690688"/>
            <a:ext cx="7886700" cy="5075871"/>
          </a:xfrm>
        </p:spPr>
        <p:txBody>
          <a:bodyPr>
            <a:normAutofit/>
          </a:bodyPr>
          <a:lstStyle/>
          <a:p>
            <a:pPr marL="0" indent="0">
              <a:buNone/>
            </a:pPr>
            <a:r>
              <a:rPr lang="ja-JP" altLang="en-US">
                <a:latin typeface="+mn-ea"/>
              </a:rPr>
              <a:t>実験設定</a:t>
            </a:r>
            <a:r>
              <a:rPr lang="en-US" altLang="ja-JP" dirty="0">
                <a:latin typeface="+mn-ea"/>
              </a:rPr>
              <a:t>(3)</a:t>
            </a:r>
          </a:p>
          <a:p>
            <a:r>
              <a:rPr lang="ja-JP" altLang="en-US" sz="2400"/>
              <a:t>事前学習された</a:t>
            </a:r>
            <a:r>
              <a:rPr lang="en-US" altLang="ja-JP" sz="2400" dirty="0"/>
              <a:t>BERT</a:t>
            </a:r>
            <a:r>
              <a:rPr lang="ja-JP" altLang="en-US" sz="2400"/>
              <a:t>を学習用データセットでファインチューニング。</a:t>
            </a:r>
            <a:endParaRPr lang="en-US" altLang="ja-JP" sz="2400" dirty="0"/>
          </a:p>
          <a:p>
            <a:endParaRPr lang="en-US" altLang="ja-JP" sz="2400" dirty="0"/>
          </a:p>
          <a:p>
            <a:r>
              <a:rPr lang="ja-JP" altLang="en-US" sz="2400"/>
              <a:t>実際の入力テキスト例</a:t>
            </a:r>
            <a:endParaRPr lang="en-US" altLang="ja-JP" sz="2400" dirty="0"/>
          </a:p>
          <a:p>
            <a:pPr marL="457200" lvl="1" indent="0">
              <a:buNone/>
            </a:pPr>
            <a:r>
              <a:rPr lang="ja-JP" altLang="en-US"/>
              <a:t>文単位分類モデル</a:t>
            </a:r>
            <a:endParaRPr lang="en-US" altLang="ja-JP" dirty="0"/>
          </a:p>
          <a:p>
            <a:pPr marL="457200" lvl="1" indent="0">
              <a:buNone/>
            </a:pPr>
            <a:r>
              <a:rPr lang="ja-JP" altLang="en-US"/>
              <a:t>カスタマー</a:t>
            </a:r>
            <a:r>
              <a:rPr lang="en-US" altLang="ja-JP" dirty="0"/>
              <a:t>: </a:t>
            </a:r>
            <a:r>
              <a:rPr lang="ja-JP" altLang="en-US"/>
              <a:t>北海道です。</a:t>
            </a:r>
            <a:endParaRPr lang="en-US" altLang="ja-JP" dirty="0"/>
          </a:p>
          <a:p>
            <a:pPr marL="457200" lvl="1" indent="0">
              <a:buNone/>
            </a:pPr>
            <a:r>
              <a:rPr lang="en-US" altLang="ja-JP" sz="1200" dirty="0"/>
              <a:t> </a:t>
            </a:r>
          </a:p>
          <a:p>
            <a:pPr marL="457200" lvl="1" indent="0">
              <a:buNone/>
            </a:pPr>
            <a:r>
              <a:rPr lang="ja-JP" altLang="en-US"/>
              <a:t>対話対単位分類モデル</a:t>
            </a:r>
            <a:endParaRPr lang="en-US" altLang="ja-JP" dirty="0"/>
          </a:p>
          <a:p>
            <a:pPr marL="457200" lvl="1" indent="0">
              <a:buNone/>
            </a:pPr>
            <a:r>
              <a:rPr lang="ja-JP" altLang="en-US"/>
              <a:t>オペレーター</a:t>
            </a:r>
            <a:r>
              <a:rPr lang="en-US" altLang="ja-JP" dirty="0"/>
              <a:t>: </a:t>
            </a:r>
            <a:r>
              <a:rPr lang="ja-JP" altLang="en-US"/>
              <a:t>どこに行きたいですか？</a:t>
            </a:r>
            <a:r>
              <a:rPr lang="en-US" altLang="ja-JP" dirty="0"/>
              <a:t>[</a:t>
            </a:r>
            <a:r>
              <a:rPr lang="en" altLang="ja-JP" dirty="0"/>
              <a:t>SEP] </a:t>
            </a:r>
            <a:r>
              <a:rPr lang="ja-JP" altLang="en-US"/>
              <a:t>カスタマー</a:t>
            </a:r>
            <a:r>
              <a:rPr lang="en-US" altLang="ja-JP" dirty="0"/>
              <a:t>:</a:t>
            </a:r>
            <a:r>
              <a:rPr lang="ja-JP" altLang="en-US"/>
              <a:t>北海道です。</a:t>
            </a:r>
            <a:r>
              <a:rPr lang="en-US" altLang="ja-JP" sz="1100" dirty="0"/>
              <a:t> </a:t>
            </a:r>
            <a:endParaRPr lang="en-US" altLang="ja-JP" dirty="0"/>
          </a:p>
        </p:txBody>
      </p:sp>
      <p:sp>
        <p:nvSpPr>
          <p:cNvPr id="4" name="フッター プレースホルダー 3">
            <a:extLst>
              <a:ext uri="{FF2B5EF4-FFF2-40B4-BE49-F238E27FC236}">
                <a16:creationId xmlns:a16="http://schemas.microsoft.com/office/drawing/2014/main" id="{E5DDB000-3BDE-FCA6-83F2-E9B8F35788DD}"/>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901CF9A5-AF9E-ED95-99AC-BEDED3B86917}"/>
              </a:ext>
            </a:extLst>
          </p:cNvPr>
          <p:cNvSpPr>
            <a:spLocks noGrp="1"/>
          </p:cNvSpPr>
          <p:nvPr>
            <p:ph type="sldNum" sz="quarter" idx="12"/>
          </p:nvPr>
        </p:nvSpPr>
        <p:spPr/>
        <p:txBody>
          <a:bodyPr/>
          <a:lstStyle/>
          <a:p>
            <a:fld id="{220C0F37-2064-1644-956F-38420264F42F}" type="slidenum">
              <a:rPr kumimoji="1" lang="ja-JP" altLang="en-US" smtClean="0"/>
              <a:t>13</a:t>
            </a:fld>
            <a:endParaRPr kumimoji="1" lang="ja-JP" altLang="en-US"/>
          </a:p>
        </p:txBody>
      </p:sp>
    </p:spTree>
    <p:extLst>
      <p:ext uri="{BB962C8B-B14F-4D97-AF65-F5344CB8AC3E}">
        <p14:creationId xmlns:p14="http://schemas.microsoft.com/office/powerpoint/2010/main" val="2418569519"/>
      </p:ext>
    </p:extLst>
  </p:cSld>
  <p:clrMapOvr>
    <a:masterClrMapping/>
  </p:clrMapOvr>
  <mc:AlternateContent xmlns:mc="http://schemas.openxmlformats.org/markup-compatibility/2006" xmlns:p14="http://schemas.microsoft.com/office/powerpoint/2010/main">
    <mc:Choice Requires="p14">
      <p:transition spd="slow" p14:dur="2000" advTm="21802"/>
    </mc:Choice>
    <mc:Fallback xmlns="">
      <p:transition spd="slow" advTm="2180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BFFC8A-FEC9-C972-BF9D-BEEF13922430}"/>
              </a:ext>
            </a:extLst>
          </p:cNvPr>
          <p:cNvSpPr>
            <a:spLocks noGrp="1"/>
          </p:cNvSpPr>
          <p:nvPr>
            <p:ph type="title"/>
          </p:nvPr>
        </p:nvSpPr>
        <p:spPr/>
        <p:txBody>
          <a:bodyPr anchor="ct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6F026864-294D-B06B-2857-8FCF1DAAD831}"/>
              </a:ext>
            </a:extLst>
          </p:cNvPr>
          <p:cNvSpPr>
            <a:spLocks noGrp="1"/>
          </p:cNvSpPr>
          <p:nvPr>
            <p:ph idx="1"/>
          </p:nvPr>
        </p:nvSpPr>
        <p:spPr/>
        <p:txBody>
          <a:bodyPr/>
          <a:lstStyle/>
          <a:p>
            <a:pPr marL="0" indent="0">
              <a:buNone/>
            </a:pPr>
            <a:r>
              <a:rPr kumimoji="1" lang="ja-JP" altLang="en-US"/>
              <a:t>実験結果</a:t>
            </a:r>
            <a:endParaRPr kumimoji="1" lang="en-US" altLang="ja-JP" dirty="0"/>
          </a:p>
          <a:p>
            <a:pPr marL="0" indent="0">
              <a:buNone/>
            </a:pPr>
            <a:r>
              <a:rPr lang="ja-JP" altLang="en-US"/>
              <a:t>・以下の結果は両モデルに対して</a:t>
            </a:r>
            <a:r>
              <a:rPr lang="en-US" altLang="ja-JP" dirty="0"/>
              <a:t>5</a:t>
            </a:r>
            <a:r>
              <a:rPr lang="ja-JP" altLang="en-US"/>
              <a:t>回の実験を行った平均をとったものである。</a:t>
            </a:r>
            <a:endParaRPr lang="en-US" altLang="ja-JP" dirty="0"/>
          </a:p>
        </p:txBody>
      </p:sp>
      <p:graphicFrame>
        <p:nvGraphicFramePr>
          <p:cNvPr id="8" name="表 7">
            <a:extLst>
              <a:ext uri="{FF2B5EF4-FFF2-40B4-BE49-F238E27FC236}">
                <a16:creationId xmlns:a16="http://schemas.microsoft.com/office/drawing/2014/main" id="{504AAE55-BC26-25EC-10FD-F68E727DF699}"/>
              </a:ext>
            </a:extLst>
          </p:cNvPr>
          <p:cNvGraphicFramePr>
            <a:graphicFrameLocks noGrp="1"/>
          </p:cNvGraphicFramePr>
          <p:nvPr>
            <p:extLst>
              <p:ext uri="{D42A27DB-BD31-4B8C-83A1-F6EECF244321}">
                <p14:modId xmlns:p14="http://schemas.microsoft.com/office/powerpoint/2010/main" val="3735322973"/>
              </p:ext>
            </p:extLst>
          </p:nvPr>
        </p:nvGraphicFramePr>
        <p:xfrm>
          <a:off x="856869" y="3472941"/>
          <a:ext cx="7430261" cy="1818990"/>
        </p:xfrm>
        <a:graphic>
          <a:graphicData uri="http://schemas.openxmlformats.org/drawingml/2006/table">
            <a:tbl>
              <a:tblPr firstRow="1" firstCol="1" bandRow="1">
                <a:tableStyleId>{5940675A-B579-460E-94D1-54222C63F5DA}</a:tableStyleId>
              </a:tblPr>
              <a:tblGrid>
                <a:gridCol w="2812004">
                  <a:extLst>
                    <a:ext uri="{9D8B030D-6E8A-4147-A177-3AD203B41FA5}">
                      <a16:colId xmlns:a16="http://schemas.microsoft.com/office/drawing/2014/main" val="167550596"/>
                    </a:ext>
                  </a:extLst>
                </a:gridCol>
                <a:gridCol w="1539419">
                  <a:extLst>
                    <a:ext uri="{9D8B030D-6E8A-4147-A177-3AD203B41FA5}">
                      <a16:colId xmlns:a16="http://schemas.microsoft.com/office/drawing/2014/main" val="4273968101"/>
                    </a:ext>
                  </a:extLst>
                </a:gridCol>
                <a:gridCol w="1539419">
                  <a:extLst>
                    <a:ext uri="{9D8B030D-6E8A-4147-A177-3AD203B41FA5}">
                      <a16:colId xmlns:a16="http://schemas.microsoft.com/office/drawing/2014/main" val="1476815632"/>
                    </a:ext>
                  </a:extLst>
                </a:gridCol>
                <a:gridCol w="1539419">
                  <a:extLst>
                    <a:ext uri="{9D8B030D-6E8A-4147-A177-3AD203B41FA5}">
                      <a16:colId xmlns:a16="http://schemas.microsoft.com/office/drawing/2014/main" val="3851042398"/>
                    </a:ext>
                  </a:extLst>
                </a:gridCol>
              </a:tblGrid>
              <a:tr h="606330">
                <a:tc>
                  <a:txBody>
                    <a:bodyPr/>
                    <a:lstStyle/>
                    <a:p>
                      <a:endParaRPr lang="ja-JP" sz="2000" kern="100">
                        <a:effectLst/>
                        <a:latin typeface="游明朝" panose="02020400000000000000" pitchFamily="18" charset="-128"/>
                        <a:ea typeface="游明朝" panose="02020400000000000000" pitchFamily="18" charset="-128"/>
                      </a:endParaRPr>
                    </a:p>
                  </a:txBody>
                  <a:tcPr marL="68580" marR="68580" marT="0" marB="0" anchor="ctr">
                    <a:solidFill>
                      <a:schemeClr val="bg2"/>
                    </a:solidFill>
                  </a:tcPr>
                </a:tc>
                <a:tc>
                  <a:txBody>
                    <a:bodyPr/>
                    <a:lstStyle/>
                    <a:p>
                      <a:pPr algn="ctr">
                        <a:lnSpc>
                          <a:spcPct val="107000"/>
                        </a:lnSpc>
                        <a:spcAft>
                          <a:spcPts val="8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000" kern="0" dirty="0" err="1">
                          <a:effectLst/>
                        </a:rPr>
                        <a:t>適合率</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solidFill>
                      <a:schemeClr val="bg2"/>
                    </a:solidFill>
                  </a:tcPr>
                </a:tc>
                <a:tc>
                  <a:txBody>
                    <a:bodyPr/>
                    <a:lstStyle/>
                    <a:p>
                      <a:pPr algn="ctr">
                        <a:lnSpc>
                          <a:spcPct val="107000"/>
                        </a:lnSpc>
                        <a:spcAft>
                          <a:spcPts val="8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000" kern="0" dirty="0" err="1">
                          <a:effectLst/>
                        </a:rPr>
                        <a:t>再現率</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solidFill>
                      <a:schemeClr val="bg2"/>
                    </a:solidFill>
                  </a:tcPr>
                </a:tc>
                <a:tc>
                  <a:txBody>
                    <a:bodyPr/>
                    <a:lstStyle/>
                    <a:p>
                      <a:pPr algn="ctr">
                        <a:lnSpc>
                          <a:spcPct val="107000"/>
                        </a:lnSpc>
                        <a:spcAft>
                          <a:spcPts val="8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US" sz="2000" kern="0" dirty="0" err="1">
                          <a:effectLst/>
                        </a:rPr>
                        <a:t>F値</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solidFill>
                      <a:schemeClr val="bg2"/>
                    </a:solidFill>
                  </a:tcPr>
                </a:tc>
                <a:extLst>
                  <a:ext uri="{0D108BD9-81ED-4DB2-BD59-A6C34878D82A}">
                    <a16:rowId xmlns:a16="http://schemas.microsoft.com/office/drawing/2014/main" val="1614515506"/>
                  </a:ext>
                </a:extLst>
              </a:tr>
              <a:tr h="606330">
                <a:tc>
                  <a:txBody>
                    <a:bodyPr/>
                    <a:lstStyle/>
                    <a:p>
                      <a:pPr>
                        <a:lnSpc>
                          <a:spcPct val="107000"/>
                        </a:lnSpc>
                        <a:spcAft>
                          <a:spcPts val="8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ja-JP" sz="2000" kern="0">
                          <a:effectLst/>
                        </a:rPr>
                        <a:t>文単位分類モデル</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solidFill>
                      <a:schemeClr val="bg2"/>
                    </a:solidFill>
                  </a:tcPr>
                </a:tc>
                <a:tc>
                  <a:txBody>
                    <a:bodyPr/>
                    <a:lstStyle/>
                    <a:p>
                      <a:pPr algn="ctr" fontAlgn="ctr"/>
                      <a:r>
                        <a:rPr lang="en-US" altLang="ja-JP" sz="2000" b="0" i="0" u="none" strike="noStrike" dirty="0">
                          <a:solidFill>
                            <a:srgbClr val="000000"/>
                          </a:solidFill>
                          <a:effectLst/>
                          <a:highlight>
                            <a:srgbClr val="FFFF00"/>
                          </a:highlight>
                          <a:latin typeface="+mn-ea"/>
                          <a:ea typeface="+mn-ea"/>
                        </a:rPr>
                        <a:t>0.8026</a:t>
                      </a:r>
                    </a:p>
                  </a:txBody>
                  <a:tcPr marL="9525" marR="9525" marT="9525" marB="0" anchor="ctr"/>
                </a:tc>
                <a:tc>
                  <a:txBody>
                    <a:bodyPr/>
                    <a:lstStyle/>
                    <a:p>
                      <a:pPr algn="ctr" fontAlgn="ctr"/>
                      <a:r>
                        <a:rPr lang="en-US" altLang="ja-JP" sz="2000" b="0" i="0" u="none" strike="noStrike" dirty="0">
                          <a:solidFill>
                            <a:srgbClr val="000000"/>
                          </a:solidFill>
                          <a:effectLst/>
                          <a:latin typeface="+mn-ea"/>
                          <a:ea typeface="+mn-ea"/>
                        </a:rPr>
                        <a:t>0.7947</a:t>
                      </a:r>
                    </a:p>
                  </a:txBody>
                  <a:tcPr marL="9525" marR="9525" marT="9525" marB="0" anchor="ctr"/>
                </a:tc>
                <a:tc>
                  <a:txBody>
                    <a:bodyPr/>
                    <a:lstStyle/>
                    <a:p>
                      <a:pPr algn="ctr" fontAlgn="ctr"/>
                      <a:r>
                        <a:rPr lang="en-US" altLang="ja-JP" sz="2000" b="0" i="0" u="none" strike="noStrike" dirty="0">
                          <a:solidFill>
                            <a:srgbClr val="000000"/>
                          </a:solidFill>
                          <a:effectLst/>
                          <a:highlight>
                            <a:srgbClr val="FFFF00"/>
                          </a:highlight>
                          <a:latin typeface="+mn-ea"/>
                          <a:ea typeface="+mn-ea"/>
                        </a:rPr>
                        <a:t>0.7984</a:t>
                      </a:r>
                    </a:p>
                  </a:txBody>
                  <a:tcPr marL="9525" marR="9525" marT="9525" marB="0" anchor="ctr"/>
                </a:tc>
                <a:extLst>
                  <a:ext uri="{0D108BD9-81ED-4DB2-BD59-A6C34878D82A}">
                    <a16:rowId xmlns:a16="http://schemas.microsoft.com/office/drawing/2014/main" val="4225055363"/>
                  </a:ext>
                </a:extLst>
              </a:tr>
              <a:tr h="606330">
                <a:tc>
                  <a:txBody>
                    <a:bodyPr/>
                    <a:lstStyle/>
                    <a:p>
                      <a:pPr>
                        <a:lnSpc>
                          <a:spcPct val="107000"/>
                        </a:lnSpc>
                        <a:spcAft>
                          <a:spcPts val="80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ja-JP" sz="2000" kern="0">
                          <a:effectLst/>
                        </a:rPr>
                        <a:t>対話対単位分類モデル</a:t>
                      </a:r>
                      <a:endParaRPr lang="ja-JP" sz="2000"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solidFill>
                      <a:schemeClr val="bg2"/>
                    </a:solidFill>
                  </a:tcPr>
                </a:tc>
                <a:tc>
                  <a:txBody>
                    <a:bodyPr/>
                    <a:lstStyle/>
                    <a:p>
                      <a:pPr algn="ctr" fontAlgn="ctr"/>
                      <a:r>
                        <a:rPr lang="en-US" altLang="ja-JP" sz="2000" b="0" i="0" u="none" strike="noStrike" dirty="0">
                          <a:solidFill>
                            <a:srgbClr val="000000"/>
                          </a:solidFill>
                          <a:effectLst/>
                          <a:latin typeface="+mn-ea"/>
                          <a:ea typeface="+mn-ea"/>
                        </a:rPr>
                        <a:t>0.7678</a:t>
                      </a:r>
                    </a:p>
                  </a:txBody>
                  <a:tcPr marL="9525" marR="9525" marT="9525" marB="0" anchor="ctr"/>
                </a:tc>
                <a:tc>
                  <a:txBody>
                    <a:bodyPr/>
                    <a:lstStyle/>
                    <a:p>
                      <a:pPr algn="ctr" fontAlgn="ctr"/>
                      <a:r>
                        <a:rPr lang="en-US" altLang="ja-JP" sz="2000" b="0" i="0" u="none" strike="noStrike" dirty="0">
                          <a:solidFill>
                            <a:srgbClr val="000000"/>
                          </a:solidFill>
                          <a:effectLst/>
                          <a:highlight>
                            <a:srgbClr val="FFFF00"/>
                          </a:highlight>
                          <a:latin typeface="+mn-ea"/>
                          <a:ea typeface="+mn-ea"/>
                        </a:rPr>
                        <a:t>0.8261</a:t>
                      </a:r>
                    </a:p>
                  </a:txBody>
                  <a:tcPr marL="9525" marR="9525" marT="9525" marB="0" anchor="ctr"/>
                </a:tc>
                <a:tc>
                  <a:txBody>
                    <a:bodyPr/>
                    <a:lstStyle/>
                    <a:p>
                      <a:pPr algn="ctr" fontAlgn="ctr"/>
                      <a:r>
                        <a:rPr lang="en-US" altLang="ja-JP" sz="2000" b="0" i="0" u="none" strike="noStrike" dirty="0">
                          <a:solidFill>
                            <a:srgbClr val="000000"/>
                          </a:solidFill>
                          <a:effectLst/>
                          <a:latin typeface="+mn-ea"/>
                          <a:ea typeface="+mn-ea"/>
                        </a:rPr>
                        <a:t>0.7958</a:t>
                      </a:r>
                    </a:p>
                  </a:txBody>
                  <a:tcPr marL="9525" marR="9525" marT="9525" marB="0" anchor="ctr"/>
                </a:tc>
                <a:extLst>
                  <a:ext uri="{0D108BD9-81ED-4DB2-BD59-A6C34878D82A}">
                    <a16:rowId xmlns:a16="http://schemas.microsoft.com/office/drawing/2014/main" val="258816189"/>
                  </a:ext>
                </a:extLst>
              </a:tr>
            </a:tbl>
          </a:graphicData>
        </a:graphic>
      </p:graphicFrame>
      <p:sp>
        <p:nvSpPr>
          <p:cNvPr id="6" name="フッター プレースホルダー 5">
            <a:extLst>
              <a:ext uri="{FF2B5EF4-FFF2-40B4-BE49-F238E27FC236}">
                <a16:creationId xmlns:a16="http://schemas.microsoft.com/office/drawing/2014/main" id="{DB70D98E-F279-5FE9-59FC-DE956E9285D7}"/>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7" name="スライド番号プレースホルダー 6">
            <a:extLst>
              <a:ext uri="{FF2B5EF4-FFF2-40B4-BE49-F238E27FC236}">
                <a16:creationId xmlns:a16="http://schemas.microsoft.com/office/drawing/2014/main" id="{76ACB994-F0EF-1094-4F41-85840E648166}"/>
              </a:ext>
            </a:extLst>
          </p:cNvPr>
          <p:cNvSpPr>
            <a:spLocks noGrp="1"/>
          </p:cNvSpPr>
          <p:nvPr>
            <p:ph type="sldNum" sz="quarter" idx="12"/>
          </p:nvPr>
        </p:nvSpPr>
        <p:spPr/>
        <p:txBody>
          <a:bodyPr/>
          <a:lstStyle/>
          <a:p>
            <a:fld id="{220C0F37-2064-1644-956F-38420264F42F}" type="slidenum">
              <a:rPr kumimoji="1" lang="ja-JP" altLang="en-US" smtClean="0"/>
              <a:t>14</a:t>
            </a:fld>
            <a:endParaRPr kumimoji="1" lang="ja-JP" altLang="en-US"/>
          </a:p>
        </p:txBody>
      </p:sp>
    </p:spTree>
    <p:extLst>
      <p:ext uri="{BB962C8B-B14F-4D97-AF65-F5344CB8AC3E}">
        <p14:creationId xmlns:p14="http://schemas.microsoft.com/office/powerpoint/2010/main" val="2214520985"/>
      </p:ext>
    </p:extLst>
  </p:cSld>
  <p:clrMapOvr>
    <a:masterClrMapping/>
  </p:clrMapOvr>
  <mc:AlternateContent xmlns:mc="http://schemas.openxmlformats.org/markup-compatibility/2006" xmlns:p14="http://schemas.microsoft.com/office/powerpoint/2010/main">
    <mc:Choice Requires="p14">
      <p:transition spd="slow" p14:dur="2000" advTm="50297"/>
    </mc:Choice>
    <mc:Fallback xmlns="">
      <p:transition spd="slow" advTm="5029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5726C6-2902-224B-D91C-CE67F46B4782}"/>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F5AC8D13-83DA-6055-0FE6-3D985837AA8A}"/>
              </a:ext>
            </a:extLst>
          </p:cNvPr>
          <p:cNvSpPr>
            <a:spLocks noGrp="1"/>
          </p:cNvSpPr>
          <p:nvPr>
            <p:ph idx="1"/>
          </p:nvPr>
        </p:nvSpPr>
        <p:spPr>
          <a:xfrm>
            <a:off x="628650" y="1690689"/>
            <a:ext cx="7886700" cy="4351338"/>
          </a:xfrm>
        </p:spPr>
        <p:txBody>
          <a:bodyPr/>
          <a:lstStyle/>
          <a:p>
            <a:pPr marL="0" indent="0">
              <a:buNone/>
            </a:pPr>
            <a:r>
              <a:rPr lang="ja-JP" altLang="en-US"/>
              <a:t>両モデルで抽出できなかった期待</a:t>
            </a:r>
            <a:endParaRPr lang="en-US" altLang="ja-JP" dirty="0"/>
          </a:p>
          <a:p>
            <a:pPr marL="0" indent="0">
              <a:buNone/>
            </a:pPr>
            <a:endParaRPr kumimoji="1" lang="en-US" altLang="ja-JP" dirty="0"/>
          </a:p>
          <a:p>
            <a:pPr marL="0" indent="0">
              <a:buNone/>
            </a:pPr>
            <a:r>
              <a:rPr kumimoji="1" lang="ja-JP" altLang="en-US"/>
              <a:t>オペレーター</a:t>
            </a:r>
            <a:r>
              <a:rPr kumimoji="1" lang="en-US" altLang="ja-JP" dirty="0"/>
              <a:t>: </a:t>
            </a:r>
            <a:r>
              <a:rPr kumimoji="1" lang="ja-JP" altLang="en-US"/>
              <a:t>前者？ </a:t>
            </a:r>
            <a:r>
              <a:rPr kumimoji="1" lang="en-US" altLang="ja-JP" dirty="0"/>
              <a:t> </a:t>
            </a:r>
          </a:p>
          <a:p>
            <a:pPr marL="0" indent="0">
              <a:buNone/>
            </a:pPr>
            <a:r>
              <a:rPr kumimoji="1" lang="ja-JP" altLang="en-US"/>
              <a:t>カスタマー</a:t>
            </a:r>
            <a:r>
              <a:rPr kumimoji="1" lang="en-US" altLang="ja-JP" dirty="0"/>
              <a:t>: </a:t>
            </a:r>
            <a:r>
              <a:rPr kumimoji="1" lang="ja-JP" altLang="en-US"/>
              <a:t>貸切。</a:t>
            </a:r>
            <a:endParaRPr kumimoji="1" lang="en-US" altLang="ja-JP" dirty="0"/>
          </a:p>
          <a:p>
            <a:pPr marL="0" indent="0">
              <a:buNone/>
            </a:pPr>
            <a:endParaRPr lang="en-US" altLang="ja-JP" dirty="0"/>
          </a:p>
          <a:p>
            <a:pPr marL="0" indent="0">
              <a:buNone/>
            </a:pPr>
            <a:r>
              <a:rPr kumimoji="1" lang="ja-JP" altLang="en-US"/>
              <a:t>オペレーター</a:t>
            </a:r>
            <a:r>
              <a:rPr kumimoji="1" lang="en-US" altLang="ja-JP" dirty="0"/>
              <a:t>: </a:t>
            </a:r>
            <a:r>
              <a:rPr kumimoji="1" lang="ja-JP" altLang="en-US"/>
              <a:t>候補の一つとして、はい、押さえておき。 </a:t>
            </a:r>
            <a:endParaRPr kumimoji="1" lang="en-US" altLang="ja-JP" dirty="0"/>
          </a:p>
          <a:p>
            <a:pPr marL="0" indent="0">
              <a:buNone/>
            </a:pPr>
            <a:r>
              <a:rPr kumimoji="1" lang="ja-JP" altLang="en-US"/>
              <a:t>カスタマー</a:t>
            </a:r>
            <a:r>
              <a:rPr kumimoji="1" lang="en-US" altLang="ja-JP" dirty="0"/>
              <a:t>: </a:t>
            </a:r>
            <a:r>
              <a:rPr kumimoji="1" lang="ja-JP" altLang="en-US"/>
              <a:t>お願いします。はい</a:t>
            </a:r>
          </a:p>
        </p:txBody>
      </p:sp>
      <p:sp>
        <p:nvSpPr>
          <p:cNvPr id="4" name="フッター プレースホルダー 3">
            <a:extLst>
              <a:ext uri="{FF2B5EF4-FFF2-40B4-BE49-F238E27FC236}">
                <a16:creationId xmlns:a16="http://schemas.microsoft.com/office/drawing/2014/main" id="{1146CBE3-4A53-820D-CCD0-A094E5C8FA91}"/>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BFE05A5C-3A70-F8BC-57F4-838B57CE2A8F}"/>
              </a:ext>
            </a:extLst>
          </p:cNvPr>
          <p:cNvSpPr>
            <a:spLocks noGrp="1"/>
          </p:cNvSpPr>
          <p:nvPr>
            <p:ph type="sldNum" sz="quarter" idx="12"/>
          </p:nvPr>
        </p:nvSpPr>
        <p:spPr/>
        <p:txBody>
          <a:bodyPr/>
          <a:lstStyle/>
          <a:p>
            <a:fld id="{220C0F37-2064-1644-956F-38420264F42F}" type="slidenum">
              <a:rPr kumimoji="1" lang="ja-JP" altLang="en-US" smtClean="0"/>
              <a:t>15</a:t>
            </a:fld>
            <a:endParaRPr kumimoji="1" lang="ja-JP" altLang="en-US"/>
          </a:p>
        </p:txBody>
      </p:sp>
    </p:spTree>
    <p:extLst>
      <p:ext uri="{BB962C8B-B14F-4D97-AF65-F5344CB8AC3E}">
        <p14:creationId xmlns:p14="http://schemas.microsoft.com/office/powerpoint/2010/main" val="4187960763"/>
      </p:ext>
    </p:extLst>
  </p:cSld>
  <p:clrMapOvr>
    <a:masterClrMapping/>
  </p:clrMapOvr>
  <mc:AlternateContent xmlns:mc="http://schemas.openxmlformats.org/markup-compatibility/2006" xmlns:p14="http://schemas.microsoft.com/office/powerpoint/2010/main">
    <mc:Choice Requires="p14">
      <p:transition spd="slow" p14:dur="2000" advTm="44716"/>
    </mc:Choice>
    <mc:Fallback xmlns="">
      <p:transition spd="slow" advTm="4471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34382D-1181-2147-78C8-8689FDA211C8}"/>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84D1BCA3-D041-7EED-FB77-426D2446345D}"/>
              </a:ext>
            </a:extLst>
          </p:cNvPr>
          <p:cNvSpPr>
            <a:spLocks noGrp="1"/>
          </p:cNvSpPr>
          <p:nvPr>
            <p:ph idx="1"/>
          </p:nvPr>
        </p:nvSpPr>
        <p:spPr>
          <a:xfrm>
            <a:off x="628650" y="1690688"/>
            <a:ext cx="7886700" cy="4607241"/>
          </a:xfrm>
        </p:spPr>
        <p:txBody>
          <a:bodyPr>
            <a:normAutofit fontScale="92500" lnSpcReduction="10000"/>
          </a:bodyPr>
          <a:lstStyle/>
          <a:p>
            <a:pPr marL="0" indent="0">
              <a:buNone/>
            </a:pPr>
            <a:r>
              <a:rPr kumimoji="1" lang="ja-JP" altLang="en-US" sz="3000"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文分類</a:t>
            </a:r>
            <a:r>
              <a:rPr lang="ja-JP" altLang="en-US" sz="3000"/>
              <a:t>モデルでのみ誤分類された期待</a:t>
            </a:r>
            <a:endParaRPr lang="en-US" altLang="ja-JP" sz="3000" dirty="0"/>
          </a:p>
          <a:p>
            <a:pPr marL="0" indent="0">
              <a:buNone/>
            </a:pPr>
            <a:endParaRPr lang="en-US" altLang="ja-JP" sz="3000" dirty="0"/>
          </a:p>
          <a:p>
            <a:pPr marL="0" indent="0">
              <a:buNone/>
            </a:pPr>
            <a:r>
              <a:rPr lang="ja-JP" altLang="en-US" sz="2600"/>
              <a:t>オペレーター：では、あのー、いれ、探していきたいと思うんですけれども、あのー、何かご希望とかございますか？どこがいいとか、あのー、地名とかで。</a:t>
            </a:r>
            <a:endParaRPr lang="en-US" altLang="ja-JP" sz="2600" dirty="0"/>
          </a:p>
          <a:p>
            <a:pPr marL="0" indent="0">
              <a:buNone/>
            </a:pPr>
            <a:r>
              <a:rPr lang="ja-JP" altLang="en-US" sz="2600"/>
              <a:t>カスタマー：沖縄方面とかなんですかね？やっぱり。</a:t>
            </a:r>
            <a:endParaRPr lang="en-US" altLang="ja-JP" sz="2600" dirty="0"/>
          </a:p>
          <a:p>
            <a:pPr marL="0" indent="0">
              <a:buNone/>
            </a:pPr>
            <a:endParaRPr lang="en-US" altLang="ja-JP" sz="2600" dirty="0"/>
          </a:p>
          <a:p>
            <a:pPr marL="0" indent="0">
              <a:buNone/>
            </a:pPr>
            <a:r>
              <a:rPr lang="ja-JP" altLang="en-US" sz="2600"/>
              <a:t>オペレーター：はい。もしよろしければですねー、こちらもー</a:t>
            </a:r>
            <a:r>
              <a:rPr lang="en-US" altLang="ja-JP" sz="2600" dirty="0"/>
              <a:t>…</a:t>
            </a:r>
            <a:r>
              <a:rPr lang="ja-JP" altLang="en-US" sz="2600"/>
              <a:t>、結構良いかなーって思いましたけれども、どうでしょう。世界遺産ばっ、かり、だと、ちょっと</a:t>
            </a:r>
            <a:r>
              <a:rPr lang="en-US" altLang="ja-JP" sz="2600" dirty="0"/>
              <a:t>…</a:t>
            </a:r>
            <a:r>
              <a:rPr lang="ja-JP" altLang="en-US" sz="2600"/>
              <a:t>、飽きますかねー。もっと別のとこが良いですか。</a:t>
            </a:r>
            <a:endParaRPr lang="en-US" altLang="ja-JP" sz="2600" dirty="0"/>
          </a:p>
          <a:p>
            <a:pPr marL="0" indent="0">
              <a:buNone/>
            </a:pPr>
            <a:r>
              <a:rPr lang="ja-JP" altLang="en-US" sz="2600"/>
              <a:t>カスタマー</a:t>
            </a:r>
            <a:r>
              <a:rPr lang="en-US" altLang="ja-JP" sz="2600" dirty="0"/>
              <a:t>: </a:t>
            </a:r>
            <a:r>
              <a:rPr lang="ja-JP" altLang="en-US" sz="2600"/>
              <a:t>そうですね。そ、そうですね。へっ。</a:t>
            </a:r>
            <a:endParaRPr kumimoji="1" lang="en-US" altLang="ja-JP" dirty="0"/>
          </a:p>
          <a:p>
            <a:pPr marL="342900" lvl="1" indent="0">
              <a:buNone/>
            </a:pPr>
            <a:endParaRPr kumimoji="1" lang="en-US" altLang="ja-JP" dirty="0"/>
          </a:p>
        </p:txBody>
      </p:sp>
      <p:sp>
        <p:nvSpPr>
          <p:cNvPr id="4" name="フッター プレースホルダー 3">
            <a:extLst>
              <a:ext uri="{FF2B5EF4-FFF2-40B4-BE49-F238E27FC236}">
                <a16:creationId xmlns:a16="http://schemas.microsoft.com/office/drawing/2014/main" id="{DA248AA2-BEF3-0AB0-CE3F-C51829781653}"/>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4448BF6C-E434-E53A-DDB8-BF91CF77B868}"/>
              </a:ext>
            </a:extLst>
          </p:cNvPr>
          <p:cNvSpPr>
            <a:spLocks noGrp="1"/>
          </p:cNvSpPr>
          <p:nvPr>
            <p:ph type="sldNum" sz="quarter" idx="12"/>
          </p:nvPr>
        </p:nvSpPr>
        <p:spPr/>
        <p:txBody>
          <a:bodyPr/>
          <a:lstStyle/>
          <a:p>
            <a:fld id="{220C0F37-2064-1644-956F-38420264F42F}" type="slidenum">
              <a:rPr kumimoji="1" lang="ja-JP" altLang="en-US" smtClean="0"/>
              <a:t>16</a:t>
            </a:fld>
            <a:endParaRPr kumimoji="1" lang="ja-JP" altLang="en-US"/>
          </a:p>
        </p:txBody>
      </p:sp>
    </p:spTree>
    <p:extLst>
      <p:ext uri="{BB962C8B-B14F-4D97-AF65-F5344CB8AC3E}">
        <p14:creationId xmlns:p14="http://schemas.microsoft.com/office/powerpoint/2010/main" val="2706096867"/>
      </p:ext>
    </p:extLst>
  </p:cSld>
  <p:clrMapOvr>
    <a:masterClrMapping/>
  </p:clrMapOvr>
  <mc:AlternateContent xmlns:mc="http://schemas.openxmlformats.org/markup-compatibility/2006" xmlns:p14="http://schemas.microsoft.com/office/powerpoint/2010/main">
    <mc:Choice Requires="p14">
      <p:transition spd="slow" p14:dur="2000" advTm="57912"/>
    </mc:Choice>
    <mc:Fallback xmlns="">
      <p:transition spd="slow" advTm="57912"/>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68E31D-2CDD-6C2F-7317-BC44E6E9E56E}"/>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0B49B1C9-D731-64DC-F406-38D4714ED550}"/>
              </a:ext>
            </a:extLst>
          </p:cNvPr>
          <p:cNvSpPr>
            <a:spLocks noGrp="1"/>
          </p:cNvSpPr>
          <p:nvPr>
            <p:ph idx="1"/>
          </p:nvPr>
        </p:nvSpPr>
        <p:spPr>
          <a:xfrm>
            <a:off x="628650" y="1690689"/>
            <a:ext cx="7886700" cy="4351338"/>
          </a:xfrm>
        </p:spPr>
        <p:txBody>
          <a:bodyPr>
            <a:normAutofit fontScale="92500"/>
          </a:bodyPr>
          <a:lstStyle/>
          <a:p>
            <a:pPr marL="0" indent="0">
              <a:buNone/>
            </a:pPr>
            <a:r>
              <a:rPr kumimoji="1" lang="ja-JP" altLang="en-US"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対話対分類</a:t>
            </a:r>
            <a:r>
              <a:rPr lang="ja-JP" altLang="en-US"/>
              <a:t>モデルでのみ抽出できなかった期待</a:t>
            </a:r>
            <a:endParaRPr lang="en-US" altLang="ja-JP" sz="900" dirty="0"/>
          </a:p>
          <a:p>
            <a:pPr marL="0" indent="0">
              <a:buNone/>
            </a:pPr>
            <a:endParaRPr kumimoji="1" lang="en-US" altLang="ja-JP" dirty="0"/>
          </a:p>
          <a:p>
            <a:pPr marL="0" indent="0">
              <a:buNone/>
            </a:pPr>
            <a:r>
              <a:rPr kumimoji="1" lang="ja-JP" altLang="en-US" sz="2400"/>
              <a:t>オペレーター</a:t>
            </a:r>
            <a:r>
              <a:rPr kumimoji="1" lang="en-US" altLang="ja-JP" sz="2400" dirty="0"/>
              <a:t>: </a:t>
            </a:r>
            <a:r>
              <a:rPr kumimoji="1" lang="ja-JP" altLang="en-US" sz="2400"/>
              <a:t>どうでしょう。もう一か所ぐらい、教会見ますか。それとももう、トルコライス、の方に行きますか。 </a:t>
            </a:r>
            <a:endParaRPr lang="en-US" altLang="ja-JP" sz="2400" dirty="0"/>
          </a:p>
          <a:p>
            <a:pPr marL="0" indent="0">
              <a:buNone/>
            </a:pPr>
            <a:r>
              <a:rPr kumimoji="1" lang="ja-JP" altLang="en-US" sz="2400"/>
              <a:t>カスタマー</a:t>
            </a:r>
            <a:r>
              <a:rPr kumimoji="1" lang="en-US" altLang="ja-JP" sz="2400" dirty="0"/>
              <a:t>: </a:t>
            </a:r>
            <a:r>
              <a:rPr kumimoji="1" lang="ja-JP" altLang="en-US" sz="2400"/>
              <a:t>じゃあ、もう一つ見てから、トルコライスに行きます。はいっいひっ。</a:t>
            </a:r>
            <a:endParaRPr kumimoji="1" lang="en-US" altLang="ja-JP" sz="2400" dirty="0"/>
          </a:p>
          <a:p>
            <a:pPr marL="0" indent="0">
              <a:buNone/>
            </a:pPr>
            <a:endParaRPr lang="en-US" altLang="ja-JP" sz="2400" dirty="0"/>
          </a:p>
          <a:p>
            <a:pPr marL="0" indent="0">
              <a:buNone/>
            </a:pPr>
            <a:r>
              <a:rPr kumimoji="1" lang="ja-JP" altLang="en-US" sz="2400"/>
              <a:t>オペレーター</a:t>
            </a:r>
            <a:r>
              <a:rPr kumimoji="1" lang="en-US" altLang="ja-JP" sz="2400" dirty="0"/>
              <a:t>: </a:t>
            </a:r>
            <a:r>
              <a:rPr kumimoji="1" lang="ja-JP" altLang="en-US" sz="2400"/>
              <a:t>と、群馬県辺りですと、温泉あり</a:t>
            </a:r>
            <a:r>
              <a:rPr kumimoji="1" lang="en-US" altLang="ja-JP" sz="2400" dirty="0"/>
              <a:t>…</a:t>
            </a:r>
            <a:r>
              <a:rPr kumimoji="1" lang="ja-JP" altLang="en-US" sz="2400"/>
              <a:t>、いかがですか。</a:t>
            </a:r>
          </a:p>
          <a:p>
            <a:pPr marL="0" indent="0">
              <a:buNone/>
            </a:pPr>
            <a:r>
              <a:rPr kumimoji="1" lang="ja-JP" altLang="en-US" sz="2400"/>
              <a:t>カスタマー</a:t>
            </a:r>
            <a:r>
              <a:rPr kumimoji="1" lang="en-US" altLang="ja-JP" sz="2400" dirty="0"/>
              <a:t>: </a:t>
            </a:r>
            <a:r>
              <a:rPr kumimoji="1" lang="ja-JP" altLang="en-US" sz="2400"/>
              <a:t>ふーん。あ、そうですね。なんか伊香保とか、そうですね。</a:t>
            </a:r>
          </a:p>
          <a:p>
            <a:pPr marL="0" indent="0">
              <a:buNone/>
            </a:pPr>
            <a:endParaRPr kumimoji="1" lang="ja-JP" altLang="en-US" sz="2400"/>
          </a:p>
        </p:txBody>
      </p:sp>
      <p:sp>
        <p:nvSpPr>
          <p:cNvPr id="4" name="フッター プレースホルダー 3">
            <a:extLst>
              <a:ext uri="{FF2B5EF4-FFF2-40B4-BE49-F238E27FC236}">
                <a16:creationId xmlns:a16="http://schemas.microsoft.com/office/drawing/2014/main" id="{3E30F64A-2BFC-579B-B826-572756D0BB49}"/>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821FA85A-96DE-6495-C049-6609A321D3FF}"/>
              </a:ext>
            </a:extLst>
          </p:cNvPr>
          <p:cNvSpPr>
            <a:spLocks noGrp="1"/>
          </p:cNvSpPr>
          <p:nvPr>
            <p:ph type="sldNum" sz="quarter" idx="12"/>
          </p:nvPr>
        </p:nvSpPr>
        <p:spPr/>
        <p:txBody>
          <a:bodyPr/>
          <a:lstStyle/>
          <a:p>
            <a:fld id="{220C0F37-2064-1644-956F-38420264F42F}" type="slidenum">
              <a:rPr kumimoji="1" lang="ja-JP" altLang="en-US" smtClean="0"/>
              <a:t>17</a:t>
            </a:fld>
            <a:endParaRPr kumimoji="1" lang="ja-JP" altLang="en-US"/>
          </a:p>
        </p:txBody>
      </p:sp>
    </p:spTree>
    <p:extLst>
      <p:ext uri="{BB962C8B-B14F-4D97-AF65-F5344CB8AC3E}">
        <p14:creationId xmlns:p14="http://schemas.microsoft.com/office/powerpoint/2010/main" val="1748278544"/>
      </p:ext>
    </p:extLst>
  </p:cSld>
  <p:clrMapOvr>
    <a:masterClrMapping/>
  </p:clrMapOvr>
  <mc:AlternateContent xmlns:mc="http://schemas.openxmlformats.org/markup-compatibility/2006" xmlns:p14="http://schemas.microsoft.com/office/powerpoint/2010/main">
    <mc:Choice Requires="p14">
      <p:transition spd="slow" p14:dur="2000" advTm="61626"/>
    </mc:Choice>
    <mc:Fallback xmlns="">
      <p:transition spd="slow" advTm="61626"/>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EB22AC-CF15-42AC-39D1-5A1A2CB2ACF2}"/>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76202271-7608-36D1-9E6D-37C6CB814CE8}"/>
              </a:ext>
            </a:extLst>
          </p:cNvPr>
          <p:cNvSpPr>
            <a:spLocks noGrp="1"/>
          </p:cNvSpPr>
          <p:nvPr>
            <p:ph idx="1"/>
          </p:nvPr>
        </p:nvSpPr>
        <p:spPr>
          <a:xfrm>
            <a:off x="628650" y="1686690"/>
            <a:ext cx="7886700" cy="4351338"/>
          </a:xfrm>
        </p:spPr>
        <p:txBody>
          <a:bodyPr>
            <a:normAutofit fontScale="70000" lnSpcReduction="20000"/>
          </a:bodyPr>
          <a:lstStyle/>
          <a:p>
            <a:pPr marL="0" indent="0">
              <a:buNone/>
            </a:pPr>
            <a:r>
              <a:rPr kumimoji="1" lang="ja-JP" altLang="en-US"/>
              <a:t>期待なしの文を期待ありと判定してしまった例</a:t>
            </a:r>
            <a:endParaRPr kumimoji="1" lang="en-US" altLang="ja-JP" dirty="0"/>
          </a:p>
          <a:p>
            <a:pPr marL="0" indent="0">
              <a:buNone/>
            </a:pPr>
            <a:r>
              <a:rPr lang="ja-JP" altLang="en-US"/>
              <a:t>両モデル</a:t>
            </a:r>
            <a:endParaRPr lang="en-US" altLang="ja-JP" dirty="0"/>
          </a:p>
          <a:p>
            <a:pPr marL="0" indent="0">
              <a:buNone/>
            </a:pPr>
            <a:r>
              <a:rPr kumimoji="1" lang="ja-JP" altLang="en-US"/>
              <a:t>オペレーター</a:t>
            </a:r>
            <a:r>
              <a:rPr kumimoji="1" lang="en-US" altLang="ja-JP" dirty="0"/>
              <a:t>: </a:t>
            </a:r>
            <a:r>
              <a:rPr kumimoji="1" lang="ja-JP" altLang="en-US"/>
              <a:t>はい。こちらもあのよろしければはいオススメしたいんですけれどもいかがですか？	 </a:t>
            </a:r>
            <a:endParaRPr kumimoji="1" lang="en-US" altLang="ja-JP" dirty="0"/>
          </a:p>
          <a:p>
            <a:pPr marL="0" indent="0">
              <a:buNone/>
            </a:pPr>
            <a:r>
              <a:rPr kumimoji="1" lang="ja-JP" altLang="en-US"/>
              <a:t>カスタマー</a:t>
            </a:r>
            <a:r>
              <a:rPr kumimoji="1" lang="en-US" altLang="ja-JP" dirty="0"/>
              <a:t>: </a:t>
            </a:r>
            <a:r>
              <a:rPr kumimoji="1" lang="ja-JP" altLang="en-US"/>
              <a:t>いいですね。湖とかってボートとか出てたりしないんですか？</a:t>
            </a:r>
            <a:endParaRPr kumimoji="1" lang="en-US" altLang="ja-JP" dirty="0"/>
          </a:p>
          <a:p>
            <a:pPr marL="0" indent="0">
              <a:buNone/>
            </a:pPr>
            <a:endParaRPr lang="en-US" altLang="ja-JP" dirty="0"/>
          </a:p>
          <a:p>
            <a:pPr marL="0" indent="0">
              <a:buNone/>
            </a:pPr>
            <a:r>
              <a:rPr kumimoji="1" lang="ja-JP" altLang="en-US"/>
              <a:t>オペレーター</a:t>
            </a:r>
            <a:r>
              <a:rPr kumimoji="1" lang="en-US" altLang="ja-JP" dirty="0"/>
              <a:t>: </a:t>
            </a:r>
            <a:r>
              <a:rPr kumimoji="1" lang="ja-JP" altLang="en-US"/>
              <a:t>そうですね、その辺かー、ソーキそばになるんですけれどもー。	 </a:t>
            </a:r>
            <a:endParaRPr kumimoji="1" lang="en-US" altLang="ja-JP" dirty="0"/>
          </a:p>
          <a:p>
            <a:pPr marL="0" indent="0">
              <a:buNone/>
            </a:pPr>
            <a:r>
              <a:rPr kumimoji="1" lang="ja-JP" altLang="en-US"/>
              <a:t>カスタマー</a:t>
            </a:r>
            <a:r>
              <a:rPr kumimoji="1" lang="en-US" altLang="ja-JP" dirty="0"/>
              <a:t>: </a:t>
            </a:r>
            <a:r>
              <a:rPr kumimoji="1" lang="ja-JP" altLang="en-US"/>
              <a:t>まあそのー、二つを教えていただけます？おすすめの店とか。</a:t>
            </a:r>
            <a:endParaRPr kumimoji="1" lang="en-US" altLang="ja-JP" dirty="0"/>
          </a:p>
          <a:p>
            <a:pPr marL="0" indent="0">
              <a:buNone/>
            </a:pPr>
            <a:endParaRPr lang="en-US" altLang="ja-JP" dirty="0"/>
          </a:p>
          <a:p>
            <a:pPr marL="0" indent="0">
              <a:buNone/>
            </a:pPr>
            <a:r>
              <a:rPr kumimoji="1" lang="ja-JP" altLang="en-US"/>
              <a:t>オペレーター</a:t>
            </a:r>
            <a:r>
              <a:rPr kumimoji="1" lang="en-US" altLang="ja-JP" dirty="0"/>
              <a:t>: </a:t>
            </a:r>
            <a:r>
              <a:rPr kumimoji="1" lang="ja-JP" altLang="en-US"/>
              <a:t>ええ、ええ、ええ、ええ	 </a:t>
            </a:r>
            <a:endParaRPr kumimoji="1" lang="en-US" altLang="ja-JP" dirty="0"/>
          </a:p>
          <a:p>
            <a:pPr marL="0" indent="0">
              <a:buNone/>
            </a:pPr>
            <a:r>
              <a:rPr kumimoji="1" lang="ja-JP" altLang="en-US"/>
              <a:t>カスタマー</a:t>
            </a:r>
            <a:r>
              <a:rPr kumimoji="1" lang="en-US" altLang="ja-JP" dirty="0"/>
              <a:t>: </a:t>
            </a:r>
            <a:r>
              <a:rPr kumimoji="1" lang="ja-JP" altLang="en-US"/>
              <a:t>特に母親は、あの、すごく喜ぶと思います。</a:t>
            </a:r>
            <a:endParaRPr kumimoji="1" lang="en" altLang="ja-JP" dirty="0"/>
          </a:p>
          <a:p>
            <a:pPr marL="0" indent="0">
              <a:buNone/>
            </a:pPr>
            <a:endParaRPr kumimoji="1" lang="en-US" altLang="ja-JP" dirty="0"/>
          </a:p>
          <a:p>
            <a:endParaRPr kumimoji="1" lang="ja-JP" altLang="en-US"/>
          </a:p>
        </p:txBody>
      </p:sp>
      <p:sp>
        <p:nvSpPr>
          <p:cNvPr id="4" name="フッター プレースホルダー 3">
            <a:extLst>
              <a:ext uri="{FF2B5EF4-FFF2-40B4-BE49-F238E27FC236}">
                <a16:creationId xmlns:a16="http://schemas.microsoft.com/office/drawing/2014/main" id="{458686EA-BFFF-9086-B5FF-5143B95F1D9D}"/>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792D0FFA-EF99-9890-0480-59C2554CE9A1}"/>
              </a:ext>
            </a:extLst>
          </p:cNvPr>
          <p:cNvSpPr>
            <a:spLocks noGrp="1"/>
          </p:cNvSpPr>
          <p:nvPr>
            <p:ph type="sldNum" sz="quarter" idx="12"/>
          </p:nvPr>
        </p:nvSpPr>
        <p:spPr/>
        <p:txBody>
          <a:bodyPr/>
          <a:lstStyle/>
          <a:p>
            <a:fld id="{220C0F37-2064-1644-956F-38420264F42F}" type="slidenum">
              <a:rPr kumimoji="1" lang="ja-JP" altLang="en-US" smtClean="0"/>
              <a:t>18</a:t>
            </a:fld>
            <a:endParaRPr kumimoji="1" lang="ja-JP" altLang="en-US"/>
          </a:p>
        </p:txBody>
      </p:sp>
    </p:spTree>
    <p:extLst>
      <p:ext uri="{BB962C8B-B14F-4D97-AF65-F5344CB8AC3E}">
        <p14:creationId xmlns:p14="http://schemas.microsoft.com/office/powerpoint/2010/main" val="1955851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DD59E3-560D-B880-1787-18DDC129D948}"/>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C10F28F8-E743-D485-4746-0B7EAD60248B}"/>
              </a:ext>
            </a:extLst>
          </p:cNvPr>
          <p:cNvSpPr>
            <a:spLocks noGrp="1"/>
          </p:cNvSpPr>
          <p:nvPr>
            <p:ph idx="1"/>
          </p:nvPr>
        </p:nvSpPr>
        <p:spPr/>
        <p:txBody>
          <a:bodyPr/>
          <a:lstStyle/>
          <a:p>
            <a:pPr marL="0" indent="0">
              <a:buNone/>
            </a:pPr>
            <a:r>
              <a:rPr kumimoji="1" lang="ja-JP" altLang="en-US"/>
              <a:t>期待なしの文を期待ありと判定してしまった例</a:t>
            </a:r>
            <a:endParaRPr kumimoji="1" lang="en-US" altLang="ja-JP" sz="2800" i="0" u="none" strike="noStrike" kern="1200" cap="none" spc="0" normalizeH="0" baseline="0" noProof="0" dirty="0">
              <a:ln>
                <a:noFill/>
              </a:ln>
              <a:solidFill>
                <a:prstClr val="black"/>
              </a:solidFill>
              <a:effectLst/>
              <a:uLnTx/>
              <a:uFillTx/>
              <a:latin typeface="游ゴシック Light" panose="020B0400000000000000" pitchFamily="34" charset="-128"/>
              <a:ea typeface="游ゴシック Light" panose="020B0400000000000000" pitchFamily="34" charset="-128"/>
              <a:cs typeface="+mj-cs"/>
            </a:endParaRPr>
          </a:p>
          <a:p>
            <a:pPr marL="0" indent="0">
              <a:buNone/>
            </a:pPr>
            <a:r>
              <a:rPr kumimoji="1" lang="ja-JP" altLang="en-US" sz="2800"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文分類</a:t>
            </a:r>
            <a:r>
              <a:rPr lang="ja-JP" altLang="en-US"/>
              <a:t>モデルでのみ</a:t>
            </a:r>
            <a:endParaRPr lang="en-US" altLang="ja-JP" dirty="0"/>
          </a:p>
          <a:p>
            <a:pPr marL="0" indent="0">
              <a:buNone/>
            </a:pPr>
            <a:r>
              <a:rPr kumimoji="1" lang="ja-JP" altLang="en-US"/>
              <a:t>オペレーター ：</a:t>
            </a:r>
            <a:r>
              <a:rPr lang="ja-JP" altLang="en-US"/>
              <a:t>そうですね今ただいまですねあのーあの朝日が見れるところでといったところで、ちょっとあのーお調べしたんですけれどもちょっとあの、えっと出てこなくてですね、ええ、あの申し訳ないんですけれども、はい。すいません。</a:t>
            </a:r>
            <a:br>
              <a:rPr kumimoji="1" lang="en" altLang="ja-JP" dirty="0"/>
            </a:br>
            <a:r>
              <a:rPr kumimoji="1" lang="ja-JP" altLang="en-US"/>
              <a:t>カスタマー</a:t>
            </a:r>
            <a:r>
              <a:rPr lang="ja-JP" altLang="en-US"/>
              <a:t>：</a:t>
            </a:r>
            <a:r>
              <a:rPr kumimoji="1" lang="ja-JP" altLang="en-US"/>
              <a:t>朝はゆっくり寝ます。</a:t>
            </a:r>
            <a:endParaRPr lang="en-US" altLang="ja-JP" dirty="0"/>
          </a:p>
          <a:p>
            <a:endParaRPr kumimoji="1" lang="ja-JP" altLang="en-US"/>
          </a:p>
        </p:txBody>
      </p:sp>
      <p:sp>
        <p:nvSpPr>
          <p:cNvPr id="4" name="フッター プレースホルダー 3">
            <a:extLst>
              <a:ext uri="{FF2B5EF4-FFF2-40B4-BE49-F238E27FC236}">
                <a16:creationId xmlns:a16="http://schemas.microsoft.com/office/drawing/2014/main" id="{FEF11890-A9B3-BDE2-1002-035F2AABEF42}"/>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A0940763-5B80-39C1-D124-66AEC1304970}"/>
              </a:ext>
            </a:extLst>
          </p:cNvPr>
          <p:cNvSpPr>
            <a:spLocks noGrp="1"/>
          </p:cNvSpPr>
          <p:nvPr>
            <p:ph type="sldNum" sz="quarter" idx="12"/>
          </p:nvPr>
        </p:nvSpPr>
        <p:spPr/>
        <p:txBody>
          <a:bodyPr/>
          <a:lstStyle/>
          <a:p>
            <a:fld id="{220C0F37-2064-1644-956F-38420264F42F}" type="slidenum">
              <a:rPr kumimoji="1" lang="ja-JP" altLang="en-US" smtClean="0"/>
              <a:t>19</a:t>
            </a:fld>
            <a:endParaRPr kumimoji="1" lang="ja-JP" altLang="en-US"/>
          </a:p>
        </p:txBody>
      </p:sp>
    </p:spTree>
    <p:extLst>
      <p:ext uri="{BB962C8B-B14F-4D97-AF65-F5344CB8AC3E}">
        <p14:creationId xmlns:p14="http://schemas.microsoft.com/office/powerpoint/2010/main" val="1622867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BAAE3B-D600-C701-1280-BD464E0DDA8B}"/>
              </a:ext>
            </a:extLst>
          </p:cNvPr>
          <p:cNvSpPr>
            <a:spLocks noGrp="1"/>
          </p:cNvSpPr>
          <p:nvPr>
            <p:ph type="title"/>
          </p:nvPr>
        </p:nvSpPr>
        <p:spPr/>
        <p:txBody>
          <a:bodyPr/>
          <a:lstStyle/>
          <a:p>
            <a:r>
              <a:rPr kumimoji="1" lang="ja-JP" altLang="en-US" sz="3400" b="1" i="0" u="none" strike="noStrike" kern="1200" cap="none" spc="0" normalizeH="0" baseline="0" noProof="0">
                <a:ln>
                  <a:noFill/>
                </a:ln>
                <a:solidFill>
                  <a:prstClr val="black"/>
                </a:solidFill>
                <a:effectLst/>
                <a:uLnTx/>
                <a:uFillTx/>
                <a:latin typeface="游ゴシック Light" panose="020B0400000000000000" pitchFamily="34" charset="-128"/>
                <a:ea typeface="游ゴシック Light" panose="020B0400000000000000" pitchFamily="34" charset="-128"/>
                <a:cs typeface="+mj-cs"/>
              </a:rPr>
              <a:t>期待文の文分類と対話対分類実験</a:t>
            </a:r>
            <a:endParaRPr kumimoji="1" lang="ja-JP" altLang="en-US"/>
          </a:p>
        </p:txBody>
      </p:sp>
      <p:sp>
        <p:nvSpPr>
          <p:cNvPr id="3" name="コンテンツ プレースホルダー 2">
            <a:extLst>
              <a:ext uri="{FF2B5EF4-FFF2-40B4-BE49-F238E27FC236}">
                <a16:creationId xmlns:a16="http://schemas.microsoft.com/office/drawing/2014/main" id="{206A204A-0C4A-152A-F7F0-C277FA1A252D}"/>
              </a:ext>
            </a:extLst>
          </p:cNvPr>
          <p:cNvSpPr>
            <a:spLocks noGrp="1"/>
          </p:cNvSpPr>
          <p:nvPr>
            <p:ph idx="1"/>
          </p:nvPr>
        </p:nvSpPr>
        <p:spPr/>
        <p:txBody>
          <a:bodyPr>
            <a:normAutofit/>
          </a:bodyPr>
          <a:lstStyle/>
          <a:p>
            <a:pPr marL="0" indent="0">
              <a:buNone/>
            </a:pPr>
            <a:r>
              <a:rPr kumimoji="1" lang="ja-JP" altLang="en-US"/>
              <a:t>期待なしの文を期待ありと判定してしまった例</a:t>
            </a:r>
            <a:endParaRPr lang="en-US" altLang="ja-JP" dirty="0"/>
          </a:p>
          <a:p>
            <a:pPr marL="0" indent="0">
              <a:buNone/>
            </a:pPr>
            <a:r>
              <a:rPr lang="ja-JP" altLang="en-US"/>
              <a:t>対話対分類モデルでのみ</a:t>
            </a:r>
            <a:endParaRPr lang="en-US" altLang="ja-JP" dirty="0"/>
          </a:p>
          <a:p>
            <a:pPr marL="0" indent="0">
              <a:buNone/>
            </a:pPr>
            <a:endParaRPr kumimoji="1" lang="en" altLang="ja-JP" dirty="0"/>
          </a:p>
          <a:p>
            <a:pPr marL="0" indent="0">
              <a:buNone/>
            </a:pPr>
            <a:r>
              <a:rPr kumimoji="1" lang="ja-JP" altLang="en-US"/>
              <a:t>オペレーター</a:t>
            </a:r>
            <a:r>
              <a:rPr kumimoji="1" lang="en-US" altLang="ja-JP" dirty="0"/>
              <a:t>: </a:t>
            </a:r>
            <a:r>
              <a:rPr kumimoji="1" lang="ja-JP" altLang="en-US"/>
              <a:t>「もしご興味がございましたらこういったところもございますけれども。」</a:t>
            </a:r>
          </a:p>
          <a:p>
            <a:pPr marL="0" indent="0">
              <a:buNone/>
            </a:pPr>
            <a:r>
              <a:rPr kumimoji="1" lang="ja-JP" altLang="en-US"/>
              <a:t>カスタマー</a:t>
            </a:r>
            <a:r>
              <a:rPr kumimoji="1" lang="en-US" altLang="ja-JP" dirty="0"/>
              <a:t>: </a:t>
            </a:r>
            <a:r>
              <a:rPr kumimoji="1" lang="ja-JP" altLang="en-US"/>
              <a:t>「いいですね。リンゴがすごい好きだし、青森も。」</a:t>
            </a:r>
            <a:endParaRPr kumimoji="1" lang="en-US" altLang="ja-JP" dirty="0"/>
          </a:p>
          <a:p>
            <a:pPr marL="0" indent="0">
              <a:buNone/>
            </a:pPr>
            <a:endParaRPr lang="en-US" altLang="ja-JP" dirty="0"/>
          </a:p>
          <a:p>
            <a:pPr marL="0" indent="0">
              <a:buNone/>
            </a:pPr>
            <a:endParaRPr kumimoji="1" lang="ja-JP" altLang="en-US"/>
          </a:p>
          <a:p>
            <a:endParaRPr kumimoji="1" lang="ja-JP" altLang="en-US"/>
          </a:p>
        </p:txBody>
      </p:sp>
      <p:sp>
        <p:nvSpPr>
          <p:cNvPr id="4" name="フッター プレースホルダー 3">
            <a:extLst>
              <a:ext uri="{FF2B5EF4-FFF2-40B4-BE49-F238E27FC236}">
                <a16:creationId xmlns:a16="http://schemas.microsoft.com/office/drawing/2014/main" id="{F4A270EC-CDC8-0960-AB9C-8598F6EE3E34}"/>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005C8D34-2FD3-B447-1C31-A9A502239BCF}"/>
              </a:ext>
            </a:extLst>
          </p:cNvPr>
          <p:cNvSpPr>
            <a:spLocks noGrp="1"/>
          </p:cNvSpPr>
          <p:nvPr>
            <p:ph type="sldNum" sz="quarter" idx="12"/>
          </p:nvPr>
        </p:nvSpPr>
        <p:spPr/>
        <p:txBody>
          <a:bodyPr/>
          <a:lstStyle/>
          <a:p>
            <a:fld id="{220C0F37-2064-1644-956F-38420264F42F}" type="slidenum">
              <a:rPr kumimoji="1" lang="ja-JP" altLang="en-US" smtClean="0"/>
              <a:t>20</a:t>
            </a:fld>
            <a:endParaRPr kumimoji="1" lang="ja-JP" altLang="en-US"/>
          </a:p>
        </p:txBody>
      </p:sp>
    </p:spTree>
    <p:extLst>
      <p:ext uri="{BB962C8B-B14F-4D97-AF65-F5344CB8AC3E}">
        <p14:creationId xmlns:p14="http://schemas.microsoft.com/office/powerpoint/2010/main" val="1738444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7221E7-3B77-DCF1-27E8-DC9B4EB7FB76}"/>
              </a:ext>
            </a:extLst>
          </p:cNvPr>
          <p:cNvSpPr>
            <a:spLocks noGrp="1"/>
          </p:cNvSpPr>
          <p:nvPr>
            <p:ph type="title"/>
          </p:nvPr>
        </p:nvSpPr>
        <p:spPr/>
        <p:txBody>
          <a:bodyPr/>
          <a:lstStyle/>
          <a:p>
            <a:r>
              <a:rPr kumimoji="1" lang="ja-JP" altLang="en-US"/>
              <a:t>まとめ</a:t>
            </a:r>
          </a:p>
        </p:txBody>
      </p:sp>
      <p:sp>
        <p:nvSpPr>
          <p:cNvPr id="3" name="コンテンツ プレースホルダー 2">
            <a:extLst>
              <a:ext uri="{FF2B5EF4-FFF2-40B4-BE49-F238E27FC236}">
                <a16:creationId xmlns:a16="http://schemas.microsoft.com/office/drawing/2014/main" id="{8349C09E-CFAC-2068-E519-0341A298C3F2}"/>
              </a:ext>
            </a:extLst>
          </p:cNvPr>
          <p:cNvSpPr>
            <a:spLocks noGrp="1"/>
          </p:cNvSpPr>
          <p:nvPr>
            <p:ph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a:t>
            </a:r>
            <a:r>
              <a:rPr kumimoji="1" lang="ja-JP" altLang="en-US"/>
              <a:t>対話文での期待抽出では文分類を用いると</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F</a:t>
            </a:r>
            <a:r>
              <a:rPr kumimoji="1" lang="ja-JP" altLang="en-US"/>
              <a:t>値が</a:t>
            </a:r>
            <a:r>
              <a:rPr kumimoji="1" lang="en-US" altLang="ja-JP" sz="2800" b="0" i="0" u="none" strike="noStrike" kern="1200" dirty="0">
                <a:solidFill>
                  <a:srgbClr val="000000"/>
                </a:solidFill>
                <a:effectLst/>
                <a:latin typeface="游ゴシック" panose="020B0400000000000000" pitchFamily="34" charset="-128"/>
                <a:ea typeface="游ゴシック" panose="020B0400000000000000" pitchFamily="34" charset="-128"/>
              </a:rPr>
              <a:t>0.7984</a:t>
            </a:r>
            <a:r>
              <a:rPr kumimoji="1" lang="ja-JP" altLang="en-US" sz="2800" b="0" i="0" u="none" strike="noStrike" kern="1200">
                <a:solidFill>
                  <a:srgbClr val="000000"/>
                </a:solidFill>
                <a:effectLst/>
                <a:latin typeface="游ゴシック" panose="020B0400000000000000" pitchFamily="34" charset="-128"/>
                <a:ea typeface="游ゴシック" panose="020B0400000000000000" pitchFamily="34" charset="-128"/>
              </a:rPr>
              <a:t>の精度で、対話対ごとの分類では</a:t>
            </a:r>
            <a:r>
              <a:rPr kumimoji="1" lang="en-US" altLang="ja-JP" sz="2800" b="0" i="0" u="none" strike="noStrike" kern="1200" dirty="0">
                <a:solidFill>
                  <a:srgbClr val="000000"/>
                </a:solidFill>
                <a:effectLst/>
                <a:latin typeface="游ゴシック" panose="020B0400000000000000" pitchFamily="34" charset="-128"/>
                <a:ea typeface="游ゴシック" panose="020B0400000000000000" pitchFamily="34" charset="-128"/>
              </a:rPr>
              <a:t>F</a:t>
            </a:r>
            <a:r>
              <a:rPr kumimoji="1" lang="ja-JP" altLang="en-US" sz="2800" b="0" i="0" u="none" strike="noStrike" kern="1200">
                <a:solidFill>
                  <a:srgbClr val="000000"/>
                </a:solidFill>
                <a:effectLst/>
                <a:latin typeface="游ゴシック" panose="020B0400000000000000" pitchFamily="34" charset="-128"/>
                <a:ea typeface="游ゴシック" panose="020B0400000000000000" pitchFamily="34" charset="-128"/>
              </a:rPr>
              <a:t>値が</a:t>
            </a:r>
            <a:r>
              <a:rPr kumimoji="1" lang="en-US" altLang="ja-JP" sz="2800" b="0" i="0" u="none" strike="noStrike" kern="1200" dirty="0">
                <a:solidFill>
                  <a:srgbClr val="000000"/>
                </a:solidFill>
                <a:effectLst/>
                <a:latin typeface="游ゴシック" panose="020B0400000000000000" pitchFamily="34" charset="-128"/>
                <a:ea typeface="游ゴシック" panose="020B0400000000000000" pitchFamily="34" charset="-128"/>
              </a:rPr>
              <a:t>0.7958</a:t>
            </a:r>
            <a:r>
              <a:rPr kumimoji="1" lang="ja-JP" altLang="en-US" sz="2800" b="0" i="0" u="none" strike="noStrike" kern="1200">
                <a:solidFill>
                  <a:srgbClr val="000000"/>
                </a:solidFill>
                <a:effectLst/>
                <a:latin typeface="游ゴシック" panose="020B0400000000000000" pitchFamily="34" charset="-128"/>
                <a:ea typeface="游ゴシック" panose="020B0400000000000000" pitchFamily="34" charset="-128"/>
              </a:rPr>
              <a:t>の精度で分類可能。</a:t>
            </a:r>
            <a:endParaRPr kumimoji="1" lang="en-US" altLang="ja-JP" sz="2800" b="0" i="0" u="none" strike="noStrike" kern="1200" dirty="0">
              <a:solidFill>
                <a:srgbClr val="000000"/>
              </a:solidFill>
              <a:effectLst/>
              <a:latin typeface="游ゴシック" panose="020B0400000000000000" pitchFamily="34" charset="-128"/>
              <a:ea typeface="游ゴシック"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800" b="0" i="0" u="none" strike="noStrike" kern="1200" dirty="0">
              <a:solidFill>
                <a:srgbClr val="000000"/>
              </a:solidFill>
              <a:effectLst/>
              <a:latin typeface="游ゴシック" panose="020B0400000000000000" pitchFamily="34" charset="-128"/>
              <a:ea typeface="游ゴシック"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2800" b="0" i="0" u="none" strike="noStrike">
                <a:effectLst/>
                <a:latin typeface="Arial" panose="020B0604020202020204" pitchFamily="34" charset="0"/>
              </a:rPr>
              <a:t>・それぞれのモデルでしか判別できない期待も存在しており、これらの組み合わせや対話文章の性質や目的ごとの使い分けも考えられる。</a:t>
            </a:r>
            <a:endParaRPr lang="en-US" altLang="ja-JP" sz="2800" b="0" i="0" u="none" strike="noStrike" dirty="0">
              <a:effectLst/>
              <a:latin typeface="Arial" panose="020B0604020202020204" pitchFamily="34" charset="0"/>
            </a:endParaRPr>
          </a:p>
          <a:p>
            <a:pPr marL="0" indent="0">
              <a:buNone/>
            </a:pPr>
            <a:endParaRPr kumimoji="1" lang="en-US" altLang="ja-JP" dirty="0"/>
          </a:p>
        </p:txBody>
      </p:sp>
      <p:sp>
        <p:nvSpPr>
          <p:cNvPr id="4" name="フッター プレースホルダー 3">
            <a:extLst>
              <a:ext uri="{FF2B5EF4-FFF2-40B4-BE49-F238E27FC236}">
                <a16:creationId xmlns:a16="http://schemas.microsoft.com/office/drawing/2014/main" id="{85B225BF-6893-86A9-A14F-7358ABAEB350}"/>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a:solidFill>
                  <a:srgbClr val="000000"/>
                </a:solidFill>
                <a:effectLst/>
                <a:latin typeface="Helvetica" pitchFamily="2" charset="0"/>
              </a:rPr>
              <a:t>February</a:t>
            </a:r>
            <a:r>
              <a:rPr lang="en" altLang="ja-JP">
                <a:solidFill>
                  <a:srgbClr val="000000"/>
                </a:solidFill>
                <a:latin typeface="Helvetica" pitchFamily="2" charset="0"/>
              </a:rPr>
              <a:t> </a:t>
            </a:r>
            <a:r>
              <a:rPr lang="ja-JP" altLang="en-US">
                <a:solidFill>
                  <a:srgbClr val="000000"/>
                </a:solidFill>
                <a:latin typeface="Helvetica" pitchFamily="2" charset="0"/>
              </a:rPr>
              <a:t>○</a:t>
            </a:r>
            <a:r>
              <a:rPr lang="en" altLang="ja-JP">
                <a:solidFill>
                  <a:srgbClr val="000000"/>
                </a:solidFill>
                <a:latin typeface="Helvetica" pitchFamily="2" charset="0"/>
              </a:rPr>
              <a:t> 2025</a:t>
            </a:r>
          </a:p>
          <a:p>
            <a:r>
              <a:rPr lang="en" altLang="ja-JP">
                <a:solidFill>
                  <a:srgbClr val="000000"/>
                </a:solidFill>
                <a:latin typeface="Helvetica" pitchFamily="2" charset="0"/>
              </a:rPr>
              <a:t>Mori Lab., Yokohama National University</a:t>
            </a:r>
            <a:endParaRPr lang="en" altLang="ja-JP" dirty="0">
              <a:solidFill>
                <a:srgbClr val="000000"/>
              </a:solidFill>
              <a:latin typeface="Helvetica" pitchFamily="2" charset="0"/>
            </a:endParaRPr>
          </a:p>
        </p:txBody>
      </p:sp>
      <p:sp>
        <p:nvSpPr>
          <p:cNvPr id="5" name="スライド番号プレースホルダー 4">
            <a:extLst>
              <a:ext uri="{FF2B5EF4-FFF2-40B4-BE49-F238E27FC236}">
                <a16:creationId xmlns:a16="http://schemas.microsoft.com/office/drawing/2014/main" id="{C26F02AB-8AB7-B82E-D0C1-B8C23BDE4D5E}"/>
              </a:ext>
            </a:extLst>
          </p:cNvPr>
          <p:cNvSpPr>
            <a:spLocks noGrp="1"/>
          </p:cNvSpPr>
          <p:nvPr>
            <p:ph type="sldNum" sz="quarter" idx="12"/>
          </p:nvPr>
        </p:nvSpPr>
        <p:spPr/>
        <p:txBody>
          <a:bodyPr/>
          <a:lstStyle/>
          <a:p>
            <a:fld id="{220C0F37-2064-1644-956F-38420264F42F}" type="slidenum">
              <a:rPr kumimoji="1" lang="ja-JP" altLang="en-US" smtClean="0"/>
              <a:t>21</a:t>
            </a:fld>
            <a:endParaRPr kumimoji="1" lang="ja-JP" altLang="en-US"/>
          </a:p>
        </p:txBody>
      </p:sp>
    </p:spTree>
    <p:extLst>
      <p:ext uri="{BB962C8B-B14F-4D97-AF65-F5344CB8AC3E}">
        <p14:creationId xmlns:p14="http://schemas.microsoft.com/office/powerpoint/2010/main" val="3404440693"/>
      </p:ext>
    </p:extLst>
  </p:cSld>
  <p:clrMapOvr>
    <a:masterClrMapping/>
  </p:clrMapOvr>
  <mc:AlternateContent xmlns:mc="http://schemas.openxmlformats.org/markup-compatibility/2006" xmlns:p14="http://schemas.microsoft.com/office/powerpoint/2010/main">
    <mc:Choice Requires="p14">
      <p:transition spd="slow" p14:dur="2000" advTm="6297"/>
    </mc:Choice>
    <mc:Fallback xmlns="">
      <p:transition spd="slow" advTm="629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8D4F3F-9ADC-8520-9BE5-013DFA52FB83}"/>
              </a:ext>
            </a:extLst>
          </p:cNvPr>
          <p:cNvSpPr>
            <a:spLocks noGrp="1"/>
          </p:cNvSpPr>
          <p:nvPr>
            <p:ph type="title"/>
          </p:nvPr>
        </p:nvSpPr>
        <p:spPr/>
        <p:txBody>
          <a:bodyPr/>
          <a:lstStyle/>
          <a:p>
            <a:r>
              <a:rPr kumimoji="1" lang="ja-JP" altLang="en-US"/>
              <a:t>今後の課題</a:t>
            </a:r>
          </a:p>
        </p:txBody>
      </p:sp>
      <p:sp>
        <p:nvSpPr>
          <p:cNvPr id="3" name="コンテンツ プレースホルダー 2">
            <a:extLst>
              <a:ext uri="{FF2B5EF4-FFF2-40B4-BE49-F238E27FC236}">
                <a16:creationId xmlns:a16="http://schemas.microsoft.com/office/drawing/2014/main" id="{2349B4F2-F177-47BA-56EC-FBD3A9626BC3}"/>
              </a:ext>
            </a:extLst>
          </p:cNvPr>
          <p:cNvSpPr>
            <a:spLocks noGrp="1"/>
          </p:cNvSpPr>
          <p:nvPr>
            <p:ph idx="1"/>
          </p:nvPr>
        </p:nvSpPr>
        <p:spPr>
          <a:xfrm>
            <a:off x="628650" y="1399063"/>
            <a:ext cx="7886700" cy="4758056"/>
          </a:xfrm>
        </p:spPr>
        <p:txBody>
          <a:bodyPr>
            <a:normAutofit fontScale="92500" lnSpcReduction="10000"/>
          </a:bodyPr>
          <a:lstStyle/>
          <a:p>
            <a:r>
              <a:rPr lang="ja-JP" altLang="en-US"/>
              <a:t>対話は話し言葉であるため、相槌や「えーと、」のような</a:t>
            </a:r>
            <a:r>
              <a:rPr lang="ja-JP" altLang="en-US" b="0" i="0">
                <a:effectLst/>
                <a:latin typeface="Arial" panose="020B0604020202020204" pitchFamily="34" charset="0"/>
              </a:rPr>
              <a:t>つなぎ言葉</a:t>
            </a:r>
            <a:r>
              <a:rPr lang="ja-JP" altLang="en-US"/>
              <a:t>が多く残る。そのため、これらを削除する処理を事前に処理することで精度が上がる可能性がある。</a:t>
            </a:r>
            <a:endParaRPr lang="en-US" altLang="ja-JP" dirty="0"/>
          </a:p>
          <a:p>
            <a:endParaRPr lang="en-US" altLang="ja-JP" dirty="0"/>
          </a:p>
          <a:p>
            <a:r>
              <a:rPr lang="ja-JP" altLang="en-US"/>
              <a:t>長距離依存の期待に対しては別のアプローチが必要。対話文では文章の省略が多く、文章を補完する前処理やマルチモーダルな情報の追加など。</a:t>
            </a:r>
            <a:endParaRPr lang="en-US" altLang="ja-JP" dirty="0"/>
          </a:p>
          <a:p>
            <a:endParaRPr lang="en-US" altLang="ja-JP" dirty="0"/>
          </a:p>
          <a:p>
            <a:r>
              <a:rPr lang="ja-JP" altLang="en-US"/>
              <a:t>抽出した期待を利用するには、抽出できたものを見やすい形にまとめる必要がある。どのように情報として見やすい形にまとめるべきなのか。</a:t>
            </a:r>
            <a:endParaRPr lang="en-US" altLang="ja-JP" dirty="0"/>
          </a:p>
          <a:p>
            <a:endParaRPr lang="en-US" altLang="ja-JP" dirty="0"/>
          </a:p>
        </p:txBody>
      </p:sp>
      <p:sp>
        <p:nvSpPr>
          <p:cNvPr id="4" name="フッター プレースホルダー 3">
            <a:extLst>
              <a:ext uri="{FF2B5EF4-FFF2-40B4-BE49-F238E27FC236}">
                <a16:creationId xmlns:a16="http://schemas.microsoft.com/office/drawing/2014/main" id="{B45A124A-9CB6-3895-B28B-859ACE339DC0}"/>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dirty="0">
                <a:solidFill>
                  <a:srgbClr val="000000"/>
                </a:solidFill>
                <a:effectLst/>
                <a:latin typeface="Helvetica" pitchFamily="2" charset="0"/>
              </a:rPr>
              <a:t>February</a:t>
            </a:r>
            <a:r>
              <a:rPr lang="en" altLang="ja-JP" dirty="0">
                <a:solidFill>
                  <a:srgbClr val="000000"/>
                </a:solidFill>
                <a:latin typeface="Helvetica" pitchFamily="2" charset="0"/>
              </a:rPr>
              <a:t> </a:t>
            </a:r>
            <a:r>
              <a:rPr lang="ja-JP" altLang="en-US">
                <a:solidFill>
                  <a:srgbClr val="000000"/>
                </a:solidFill>
                <a:latin typeface="Helvetica" pitchFamily="2" charset="0"/>
              </a:rPr>
              <a:t>○</a:t>
            </a:r>
            <a:r>
              <a:rPr lang="en" altLang="ja-JP" dirty="0">
                <a:solidFill>
                  <a:srgbClr val="000000"/>
                </a:solidFill>
                <a:latin typeface="Helvetica" pitchFamily="2" charset="0"/>
              </a:rPr>
              <a:t> 2025</a:t>
            </a:r>
          </a:p>
          <a:p>
            <a:r>
              <a:rPr lang="en" altLang="ja-JP" dirty="0">
                <a:solidFill>
                  <a:srgbClr val="000000"/>
                </a:solidFill>
                <a:latin typeface="Helvetica" pitchFamily="2" charset="0"/>
              </a:rPr>
              <a:t>Mori Lab., Yokohama National University</a:t>
            </a:r>
          </a:p>
        </p:txBody>
      </p:sp>
      <p:sp>
        <p:nvSpPr>
          <p:cNvPr id="5" name="スライド番号プレースホルダー 4">
            <a:extLst>
              <a:ext uri="{FF2B5EF4-FFF2-40B4-BE49-F238E27FC236}">
                <a16:creationId xmlns:a16="http://schemas.microsoft.com/office/drawing/2014/main" id="{5E8823B8-D47B-1D47-6B6D-CC5EC6889CF8}"/>
              </a:ext>
            </a:extLst>
          </p:cNvPr>
          <p:cNvSpPr>
            <a:spLocks noGrp="1"/>
          </p:cNvSpPr>
          <p:nvPr>
            <p:ph type="sldNum" sz="quarter" idx="12"/>
          </p:nvPr>
        </p:nvSpPr>
        <p:spPr/>
        <p:txBody>
          <a:bodyPr/>
          <a:lstStyle/>
          <a:p>
            <a:fld id="{220C0F37-2064-1644-956F-38420264F42F}" type="slidenum">
              <a:rPr kumimoji="1" lang="ja-JP" altLang="en-US" smtClean="0"/>
              <a:t>22</a:t>
            </a:fld>
            <a:endParaRPr kumimoji="1" lang="ja-JP" altLang="en-US"/>
          </a:p>
        </p:txBody>
      </p:sp>
    </p:spTree>
    <p:extLst>
      <p:ext uri="{BB962C8B-B14F-4D97-AF65-F5344CB8AC3E}">
        <p14:creationId xmlns:p14="http://schemas.microsoft.com/office/powerpoint/2010/main" val="4102107721"/>
      </p:ext>
    </p:extLst>
  </p:cSld>
  <p:clrMapOvr>
    <a:masterClrMapping/>
  </p:clrMapOvr>
  <mc:AlternateContent xmlns:mc="http://schemas.openxmlformats.org/markup-compatibility/2006" xmlns:p14="http://schemas.microsoft.com/office/powerpoint/2010/main">
    <mc:Choice Requires="p14">
      <p:transition spd="slow" p14:dur="2000" advTm="103567"/>
    </mc:Choice>
    <mc:Fallback xmlns="">
      <p:transition spd="slow" advTm="10356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CE4FB26-A7BD-3E2F-4555-1841E146FA08}"/>
              </a:ext>
            </a:extLst>
          </p:cNvPr>
          <p:cNvSpPr>
            <a:spLocks noGrp="1"/>
          </p:cNvSpPr>
          <p:nvPr>
            <p:ph type="title"/>
          </p:nvPr>
        </p:nvSpPr>
        <p:spPr/>
        <p:txBody>
          <a:bodyPr/>
          <a:lstStyle/>
          <a:p>
            <a:r>
              <a:rPr kumimoji="1" lang="ja-JP" altLang="en-US"/>
              <a:t>参考文献</a:t>
            </a:r>
          </a:p>
        </p:txBody>
      </p:sp>
      <p:sp>
        <p:nvSpPr>
          <p:cNvPr id="3" name="コンテンツ プレースホルダー 2">
            <a:extLst>
              <a:ext uri="{FF2B5EF4-FFF2-40B4-BE49-F238E27FC236}">
                <a16:creationId xmlns:a16="http://schemas.microsoft.com/office/drawing/2014/main" id="{92BEE666-5E90-687B-F5FE-646342D58F46}"/>
              </a:ext>
            </a:extLst>
          </p:cNvPr>
          <p:cNvSpPr>
            <a:spLocks noGrp="1"/>
          </p:cNvSpPr>
          <p:nvPr>
            <p:ph idx="1"/>
          </p:nvPr>
        </p:nvSpPr>
        <p:spPr>
          <a:xfrm>
            <a:off x="628650" y="1566069"/>
            <a:ext cx="7886700" cy="4490486"/>
          </a:xfrm>
        </p:spPr>
        <p:txBody>
          <a:bodyPr>
            <a:normAutofit lnSpcReduction="10000"/>
          </a:bodyPr>
          <a:lstStyle/>
          <a:p>
            <a:pPr marL="0" indent="0">
              <a:buNone/>
            </a:pPr>
            <a:r>
              <a:rPr kumimoji="1" lang="en-US" altLang="ja-JP" dirty="0">
                <a:latin typeface="+mn-ea"/>
              </a:rPr>
              <a:t>[1] </a:t>
            </a:r>
            <a:r>
              <a:rPr lang="ja-JP" altLang="en-US" sz="2800">
                <a:latin typeface="+mn-ea"/>
              </a:rPr>
              <a:t>伊藤俊介</a:t>
            </a:r>
            <a:r>
              <a:rPr lang="en-US" altLang="ja-JP" sz="2800" dirty="0">
                <a:latin typeface="+mn-ea"/>
              </a:rPr>
              <a:t>, </a:t>
            </a:r>
            <a:r>
              <a:rPr lang="ja-JP" altLang="en-US" sz="2800">
                <a:latin typeface="+mn-ea"/>
              </a:rPr>
              <a:t>レビュアーの評価基準表現情報に基づくレビューテキストからの不満情報抽出手法の検討</a:t>
            </a:r>
            <a:r>
              <a:rPr lang="en-US" altLang="ja-JP" sz="2800" dirty="0">
                <a:latin typeface="+mn-ea"/>
              </a:rPr>
              <a:t>. </a:t>
            </a:r>
            <a:r>
              <a:rPr lang="ja-JP" altLang="en-US" sz="2800">
                <a:latin typeface="+mn-ea"/>
              </a:rPr>
              <a:t>横浜国立大学大学院環境情報学府</a:t>
            </a:r>
            <a:r>
              <a:rPr lang="en-US" altLang="ja-JP" sz="2800" dirty="0">
                <a:latin typeface="+mn-ea"/>
              </a:rPr>
              <a:t>, </a:t>
            </a:r>
            <a:r>
              <a:rPr lang="ja-JP" altLang="en-US" sz="2800">
                <a:latin typeface="+mn-ea"/>
              </a:rPr>
              <a:t>修士論文</a:t>
            </a:r>
            <a:r>
              <a:rPr lang="en-US" altLang="ja-JP" sz="2800" dirty="0">
                <a:latin typeface="+mn-ea"/>
              </a:rPr>
              <a:t>, 2020</a:t>
            </a:r>
          </a:p>
          <a:p>
            <a:pPr marL="0" indent="0">
              <a:buNone/>
            </a:pPr>
            <a:endParaRPr kumimoji="1" lang="en-US" altLang="ja-JP" dirty="0">
              <a:latin typeface="+mn-ea"/>
            </a:endParaRPr>
          </a:p>
          <a:p>
            <a:pPr marL="0" indent="0">
              <a:buNone/>
            </a:pPr>
            <a:r>
              <a:rPr kumimoji="1" lang="en-US" altLang="ja-JP" dirty="0">
                <a:latin typeface="+mn-ea"/>
              </a:rPr>
              <a:t>[2] </a:t>
            </a:r>
            <a:r>
              <a:rPr kumimoji="1" lang="ja-JP" altLang="en-US" sz="2800">
                <a:latin typeface="+mn-ea"/>
              </a:rPr>
              <a:t>塚田周平</a:t>
            </a:r>
            <a:r>
              <a:rPr kumimoji="1" lang="en-US" altLang="ja-JP" sz="2800" dirty="0">
                <a:latin typeface="+mn-ea"/>
              </a:rPr>
              <a:t>, </a:t>
            </a:r>
            <a:r>
              <a:rPr kumimoji="1" lang="ja-JP" altLang="en-US" sz="2800">
                <a:latin typeface="+mn-ea"/>
              </a:rPr>
              <a:t>期待表現に着目したレビュー文章からの評判情報抽出に関する研究</a:t>
            </a:r>
            <a:r>
              <a:rPr kumimoji="1" lang="en-US" altLang="ja-JP" sz="2800" dirty="0">
                <a:latin typeface="+mn-ea"/>
              </a:rPr>
              <a:t>. </a:t>
            </a:r>
            <a:r>
              <a:rPr lang="ja-JP" altLang="en-US" sz="2800">
                <a:latin typeface="+mn-ea"/>
              </a:rPr>
              <a:t>横浜国立大学</a:t>
            </a:r>
            <a:r>
              <a:rPr lang="en-US" altLang="ja-JP" sz="2800" dirty="0">
                <a:latin typeface="+mn-ea"/>
              </a:rPr>
              <a:t>, </a:t>
            </a:r>
            <a:r>
              <a:rPr lang="ja-JP" altLang="en-US">
                <a:latin typeface="+mn-ea"/>
              </a:rPr>
              <a:t>卒業</a:t>
            </a:r>
            <a:r>
              <a:rPr lang="ja-JP" altLang="en-US" sz="2800">
                <a:latin typeface="+mn-ea"/>
              </a:rPr>
              <a:t>論文</a:t>
            </a:r>
            <a:r>
              <a:rPr lang="en-US" altLang="ja-JP" sz="2800" dirty="0">
                <a:latin typeface="+mn-ea"/>
              </a:rPr>
              <a:t>, 2024</a:t>
            </a:r>
          </a:p>
          <a:p>
            <a:pPr marL="0" indent="0">
              <a:buNone/>
            </a:pPr>
            <a:endParaRPr kumimoji="1" lang="en-US" altLang="ja-JP" dirty="0">
              <a:latin typeface="+mn-ea"/>
            </a:endParaRPr>
          </a:p>
          <a:p>
            <a:pPr marL="0" indent="0">
              <a:buNone/>
            </a:pPr>
            <a:r>
              <a:rPr lang="en-US" altLang="ja-JP" dirty="0">
                <a:latin typeface="+mn-ea"/>
              </a:rPr>
              <a:t>[3] </a:t>
            </a:r>
            <a:r>
              <a:rPr lang="ja-JP" altLang="en-US" i="0">
                <a:solidFill>
                  <a:srgbClr val="404040"/>
                </a:solidFill>
                <a:effectLst/>
                <a:latin typeface="+mn-ea"/>
              </a:rPr>
              <a:t>稲葉 通将</a:t>
            </a:r>
            <a:r>
              <a:rPr lang="en-US" altLang="ja-JP" i="0" dirty="0">
                <a:solidFill>
                  <a:srgbClr val="000000"/>
                </a:solidFill>
                <a:effectLst/>
                <a:latin typeface="+mn-ea"/>
              </a:rPr>
              <a:t>, </a:t>
            </a:r>
            <a:r>
              <a:rPr lang="ja-JP" altLang="en-US">
                <a:latin typeface="+mn-ea"/>
              </a:rPr>
              <a:t>対話知能学 旅行代理店タスク対話コーパス（</a:t>
            </a:r>
            <a:r>
              <a:rPr lang="en-US" altLang="ja-JP" dirty="0" err="1">
                <a:latin typeface="+mn-ea"/>
              </a:rPr>
              <a:t>Tabidachi</a:t>
            </a:r>
            <a:r>
              <a:rPr lang="ja-JP" altLang="en-US">
                <a:latin typeface="+mn-ea"/>
              </a:rPr>
              <a:t>）</a:t>
            </a:r>
            <a:r>
              <a:rPr lang="en-US" altLang="ja-JP" dirty="0">
                <a:latin typeface="+mn-ea"/>
              </a:rPr>
              <a:t>. </a:t>
            </a:r>
            <a:r>
              <a:rPr lang="ja-JP" altLang="en-US" b="0" i="0">
                <a:solidFill>
                  <a:srgbClr val="000000"/>
                </a:solidFill>
                <a:effectLst/>
                <a:latin typeface="+mn-ea"/>
              </a:rPr>
              <a:t>電気通信大学</a:t>
            </a:r>
            <a:r>
              <a:rPr lang="en-US" altLang="ja-JP" dirty="0">
                <a:solidFill>
                  <a:srgbClr val="000000"/>
                </a:solidFill>
                <a:latin typeface="+mn-ea"/>
              </a:rPr>
              <a:t>, 2024</a:t>
            </a:r>
            <a:endParaRPr lang="en-US" altLang="ja-JP" dirty="0">
              <a:latin typeface="+mn-ea"/>
            </a:endParaRPr>
          </a:p>
        </p:txBody>
      </p:sp>
      <p:sp>
        <p:nvSpPr>
          <p:cNvPr id="4" name="フッター プレースホルダー 3">
            <a:extLst>
              <a:ext uri="{FF2B5EF4-FFF2-40B4-BE49-F238E27FC236}">
                <a16:creationId xmlns:a16="http://schemas.microsoft.com/office/drawing/2014/main" id="{8D88E86D-F545-91BE-F17E-7971755C4205}"/>
              </a:ext>
            </a:extLst>
          </p:cNvPr>
          <p:cNvSpPr>
            <a:spLocks noGrp="1"/>
          </p:cNvSpPr>
          <p:nvPr>
            <p:ph type="ftr" sz="quarter" idx="11"/>
          </p:nvPr>
        </p:nvSpPr>
        <p:spPr/>
        <p:txBody>
          <a:bodyPr/>
          <a:lstStyle/>
          <a:p>
            <a:r>
              <a:rPr lang="ja-JP" altLang="en-US">
                <a:solidFill>
                  <a:srgbClr val="000000"/>
                </a:solidFill>
                <a:latin typeface="Helvetica" pitchFamily="2" charset="0"/>
              </a:rPr>
              <a:t>研究発表 </a:t>
            </a:r>
            <a:r>
              <a:rPr lang="en" altLang="ja-JP" dirty="0">
                <a:solidFill>
                  <a:srgbClr val="000000"/>
                </a:solidFill>
                <a:effectLst/>
                <a:latin typeface="Helvetica" pitchFamily="2" charset="0"/>
              </a:rPr>
              <a:t>February</a:t>
            </a:r>
            <a:r>
              <a:rPr lang="en" altLang="ja-JP" dirty="0">
                <a:solidFill>
                  <a:srgbClr val="000000"/>
                </a:solidFill>
                <a:latin typeface="Helvetica" pitchFamily="2" charset="0"/>
              </a:rPr>
              <a:t> </a:t>
            </a:r>
            <a:r>
              <a:rPr lang="ja-JP" altLang="en-US">
                <a:solidFill>
                  <a:srgbClr val="000000"/>
                </a:solidFill>
                <a:latin typeface="Helvetica" pitchFamily="2" charset="0"/>
              </a:rPr>
              <a:t>○</a:t>
            </a:r>
            <a:r>
              <a:rPr lang="en" altLang="ja-JP" dirty="0">
                <a:solidFill>
                  <a:srgbClr val="000000"/>
                </a:solidFill>
                <a:latin typeface="Helvetica" pitchFamily="2" charset="0"/>
              </a:rPr>
              <a:t> 2025</a:t>
            </a:r>
          </a:p>
          <a:p>
            <a:r>
              <a:rPr lang="en" altLang="ja-JP" dirty="0">
                <a:solidFill>
                  <a:srgbClr val="000000"/>
                </a:solidFill>
                <a:latin typeface="Helvetica" pitchFamily="2" charset="0"/>
              </a:rPr>
              <a:t>Mori Lab., Yokohama National University</a:t>
            </a:r>
          </a:p>
        </p:txBody>
      </p:sp>
      <p:sp>
        <p:nvSpPr>
          <p:cNvPr id="5" name="スライド番号プレースホルダー 4">
            <a:extLst>
              <a:ext uri="{FF2B5EF4-FFF2-40B4-BE49-F238E27FC236}">
                <a16:creationId xmlns:a16="http://schemas.microsoft.com/office/drawing/2014/main" id="{112CF1A1-5FB0-9784-85A5-B6493040E014}"/>
              </a:ext>
            </a:extLst>
          </p:cNvPr>
          <p:cNvSpPr>
            <a:spLocks noGrp="1"/>
          </p:cNvSpPr>
          <p:nvPr>
            <p:ph type="sldNum" sz="quarter" idx="12"/>
          </p:nvPr>
        </p:nvSpPr>
        <p:spPr/>
        <p:txBody>
          <a:bodyPr/>
          <a:lstStyle/>
          <a:p>
            <a:fld id="{220C0F37-2064-1644-956F-38420264F42F}" type="slidenum">
              <a:rPr kumimoji="1" lang="ja-JP" altLang="en-US" smtClean="0"/>
              <a:t>23</a:t>
            </a:fld>
            <a:endParaRPr kumimoji="1" lang="ja-JP" altLang="en-US"/>
          </a:p>
        </p:txBody>
      </p:sp>
    </p:spTree>
    <p:extLst>
      <p:ext uri="{BB962C8B-B14F-4D97-AF65-F5344CB8AC3E}">
        <p14:creationId xmlns:p14="http://schemas.microsoft.com/office/powerpoint/2010/main" val="2344090125"/>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8718</TotalTime>
  <Words>3778</Words>
  <Application>Microsoft Macintosh PowerPoint</Application>
  <PresentationFormat>画面に合わせる (4:3)</PresentationFormat>
  <Paragraphs>359</Paragraphs>
  <Slides>23</Slides>
  <Notes>21</Notes>
  <HiddenSlides>3</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23</vt:i4>
      </vt:variant>
    </vt:vector>
  </HeadingPairs>
  <TitlesOfParts>
    <vt:vector size="33" baseType="lpstr">
      <vt:lpstr>NotoSansJP</vt:lpstr>
      <vt:lpstr>游ゴシック</vt:lpstr>
      <vt:lpstr>游ゴシック Light</vt:lpstr>
      <vt:lpstr>游明朝</vt:lpstr>
      <vt:lpstr>Aptos</vt:lpstr>
      <vt:lpstr>Arial</vt:lpstr>
      <vt:lpstr>Helvetica</vt:lpstr>
      <vt:lpstr>Menlo</vt:lpstr>
      <vt:lpstr>Wingdings</vt:lpstr>
      <vt:lpstr>Office テーマ</vt:lpstr>
      <vt:lpstr>旅行代理店対話データを用いた 顧客期待の抽出に関する研究</vt:lpstr>
      <vt:lpstr>研究背景</vt:lpstr>
      <vt:lpstr>研究背景</vt:lpstr>
      <vt:lpstr>関連研究</vt:lpstr>
      <vt:lpstr>関連研究</vt:lpstr>
      <vt:lpstr>関連研究</vt:lpstr>
      <vt:lpstr>関連研究</vt:lpstr>
      <vt:lpstr>本研究の位置づけ</vt:lpstr>
      <vt:lpstr>研究目的</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期待文の文分類と対話対分類実験</vt:lpstr>
      <vt:lpstr>まとめ</vt:lpstr>
      <vt:lpstr>今後の課題</vt:lpstr>
      <vt:lpstr>参考文献</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Shimmura Shuru</dc:creator>
  <cp:lastModifiedBy>Shimmura Shuru</cp:lastModifiedBy>
  <cp:revision>6</cp:revision>
  <dcterms:created xsi:type="dcterms:W3CDTF">2025-01-20T02:06:19Z</dcterms:created>
  <dcterms:modified xsi:type="dcterms:W3CDTF">2025-01-28T04:52:49Z</dcterms:modified>
</cp:coreProperties>
</file>